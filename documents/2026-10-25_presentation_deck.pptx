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iGEM Claremont-CA, a first-year team in California, and this is Phagenomics.</a:t>
            </a:r>
          </a:p>
          <a:p/>
          <a:p>
            <a:r>
              <a:t>We work on one question: what decides which bacteria a phage can kill?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Pseudomonas causes serious infections in immunocompromised patients and persistent crop disease in agriculture, and phage therapy is one of the alternatives to antibiotics people are betting on. Its bottleneck is host range. Each phage binds a specific receptor on a specific strain, and nobody can design that specificity yet, because we don't understand how a phage recognises its target in the first place.</a:t>
            </a:r>
          </a:p>
          <a:p/>
          <a:p>
            <a:r>
              <a:t>So we didn't try to build a therapeutic. We tried to understand the recognition step that any therapeutic would depend on. We went at it four times this season. Three of those four failed, and the failures are the useful part.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gets decided at the very first step, before any DNA moves: the phage has to recognise the outside of the cell and stick to it.</a:t>
            </a:r>
          </a:p>
          <a:p/>
          <a:p>
            <a:r>
              <a:t>And many bacteria don't present a bare protein surface. They wrap themselves in sugar — long chains called the O-antigen, and above those, in some species, a capsule. So the first thing a phage touches is a forest of sugar.</a:t>
            </a:r>
          </a:p>
          <a:p/>
          <a:p>
            <a:r>
              <a:t>The tail spike is a depolymerase. It digests the sugar in front of it, opens a channel, reaches the membrane and injects.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gets decided at the very first step, before any DNA moves: the phage has to recognise the outside of the cell and stick to it.</a:t>
            </a:r>
          </a:p>
          <a:p/>
          <a:p>
            <a:r>
              <a:t>And many bacteria don't present a bare protein surface. They wrap themselves in sugar — long chains called the O-antigen, and above those, in some species, a capsule. So the first thing a phage touches is a forest of sugar.</a:t>
            </a:r>
          </a:p>
          <a:p/>
          <a:p>
            <a:r>
              <a:t>The tail spike is a depolymerase. It digests the sugar in front of it, opens a channel, reaches the membrane and injects.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gets decided at the very first step, before any DNA moves: the phage has to recognise the outside of the cell and stick to it.</a:t>
            </a:r>
          </a:p>
          <a:p/>
          <a:p>
            <a:r>
              <a:t>And many bacteria don't present a bare protein surface. They wrap themselves in sugar — long chains called the O-antigen, and above those, in some species, a capsule. So the first thing a phage touches is a forest of sugar.</a:t>
            </a:r>
          </a:p>
          <a:p/>
          <a:p>
            <a:r>
              <a:t>The tail spike is a depolymerase. It digests the sugar in front of it, opens a channel, reaches the membrane and injects.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gets decided at the very first step, before any DNA moves: the phage has to recognise the outside of the cell and stick to it.</a:t>
            </a:r>
          </a:p>
          <a:p/>
          <a:p>
            <a:r>
              <a:t>And many bacteria don't present a bare protein surface. They wrap themselves in sugar — long chains called the O-antigen, and above those, in some species, a capsule. So the first thing a phage touches is a forest of sugar.</a:t>
            </a:r>
          </a:p>
          <a:p/>
          <a:p>
            <a:r>
              <a:t>The tail spike is a depolymerase. It digests the sugar in front of it, opens a channel, reaches the membrane and injects.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gets decided at the very first step, before any DNA moves: the phage has to recognise the outside of the cell and stick to it.</a:t>
            </a:r>
          </a:p>
          <a:p/>
          <a:p>
            <a:r>
              <a:t>And many bacteria don't present a bare protein surface. They wrap themselves in sugar — long chains called the O-antigen, and above those, in some species, a capsule. So the first thing a phage touches is a forest of sugar.</a:t>
            </a:r>
          </a:p>
          <a:p/>
          <a:p>
            <a:r>
              <a:t>The tail spike is a depolymerase. It digests the sugar in front of it, opens a channel, reaches the membrane and injects.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gets decided at the very first step, before any DNA moves: the phage has to recognise the outside of the cell and stick to it.</a:t>
            </a:r>
          </a:p>
          <a:p/>
          <a:p>
            <a:r>
              <a:t>And many bacteria don't present a bare protein surface. They wrap themselves in sugar — long chains called the O-antigen, and above those, in some species, a capsule. So the first thing a phage touches is a forest of sugar.</a:t>
            </a:r>
          </a:p>
          <a:p/>
          <a:p>
            <a:r>
              <a:t>The tail spike is a depolymerase. It digests the sugar in front of it, opens a channel, reaches the membrane and injects.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Change the sugar, and the same phage never gets through. That is host range, and it is decided before infection even begins.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after this point is ordinary infection. Everything before it is host range.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thing belongs at the start, because it's why half of this project exists.</a:t>
            </a:r>
          </a:p>
          <a:p/>
          <a:p>
            <a:r>
              <a:t>Early on we talked to Professor Ran Libeskind-Hadas at Claremont McKenna, one of our advisors. He suggested we reconstruct an ancestral phage — a whole organism, inferred from its relatives. We couldn't build one. But we realised that if we scaled the idea down from an organism to a single enzyme, we could order it from a synthesis company. That is what this project became.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collected soil from the California Botanic Garden on the nineteenth of May. From it we isolated five Pseudomonas strains, and we sequenced all five genomes — every one of them closed into a complete circle.</a:t>
            </a:r>
          </a:p>
          <a:p/>
          <a:p>
            <a:r>
              <a:t>Those five collapse into three distinct strains. That leaves us with two pairs of near-identical isolates, and we use those pairs as an internal control all the way through.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also isolated a phage, which we call Phi-8, and it infects exactly one of the three strains. Sixty-two thousand, three hundred and thirty-nine base pairs, circular, eighty genes. No match anywhere in the phage database, and essentially no genes in common with T7. The architecture is familiar. The sequence isn't.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we went looking at the locus that builds the sugar coat. We anchored on the gene that flanks it in Pseudomonas, pulled the cassette out of all three strains, and clustered every protein in it.</a:t>
            </a:r>
          </a:p>
          <a:p/>
          <a:p>
            <a:r>
              <a:t>We found the cassette sitting in the same slot in all three. The contents are unrelated: twenty-three genes in one strain, fifteen in another, twenty-five in the third, and of forty-five gene clusters only four are shared by every strain — all four generic sugar chemistry.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we went looking at the locus that builds the sugar coat. We anchored on the gene that flanks it in Pseudomonas, pulled the cassette out of all three strains, and clustered every protein in it.</a:t>
            </a:r>
          </a:p>
          <a:p/>
          <a:p>
            <a:r>
              <a:t>We found the cassette sitting in the same slot in all three. The contents are unrelated: twenty-three genes in one strain, fifteen in another, twenty-five in the third, and of forty-five gene clusters only four are shared by every strain — all four generic sugar chemistry.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we went looking at the locus that builds the sugar coat. We anchored on the gene that flanks it in Pseudomonas, pulled the cassette out of all three strains, and clustered every protein in it.</a:t>
            </a:r>
          </a:p>
          <a:p/>
          <a:p>
            <a:r>
              <a:t>We found the cassette sitting in the same slot in all three. The contents are unrelated: twenty-three genes in one strain, fifteen in another, twenty-five in the third, and of forty-five gene clusters only four are shared by every strain — all four generic sugar chemistry.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we went looking at the locus that builds the sugar coat. We anchored on the gene that flanks it in Pseudomonas, pulled the cassette out of all three strains, and clustered every protein in it.</a:t>
            </a:r>
          </a:p>
          <a:p/>
          <a:p>
            <a:r>
              <a:t>We found the cassette sitting in the same slot in all three. The contents are unrelated: twenty-three genes in one strain, fifteen in another, twenty-five in the third, and of forty-five gene clusters only four are shared by every strain — all four generic sugar chemistry.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we went looking at the locus that builds the sugar coat. We anchored on the gene that flanks it in Pseudomonas, pulled the cassette out of all three strains, and clustered every protein in it.</a:t>
            </a:r>
          </a:p>
          <a:p/>
          <a:p>
            <a:r>
              <a:t>We found the cassette sitting in the same slot in all three. The contents are unrelated: twenty-three genes in one strain, fifteen in another, twenty-five in the third, and of forty-five gene clusters only four are shared by every strain — all four generic sugar chemistry.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near-identical pairs inside each strain match at a hundred percent across every cassette gene. Within a strain, zero variation. Between strains, almost total.</a:t>
            </a:r>
          </a:p>
          <a:p/>
          <a:p>
            <a:r>
              <a:t>We also found that no database could have told us any of this. There is no serotype scheme for this group of species at all.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three strains, three different sugar coats, one phage that kills one of them. That gave us our first hypothesis — that the sugar coat might be one of the main things setting what Phi-8 can attack.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Cycle one — the wrong question. A full design, build, test and learn loop, retired by its own controls.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designed the first cycle around the wrong assumption, and it's worth saying why it was the reasonable one.</a:t>
            </a:r>
          </a:p>
          <a:p/>
          <a:p>
            <a:r>
              <a:t>The textbook picture of attachment is a receptor-binding protein on the phage tail meeting a protein on the bacterial surface. Lock and key. If you assume that, the obvious move is to work out which binding protein fits which receptor — so that is what we set out to predict.</a:t>
            </a:r>
          </a:p>
          <a:p/>
          <a:p>
            <a:r>
              <a:t>If we had known the receptor was a sugar, we would never have run this. We thought it was a protein, so we went looking for a protein.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built was a screen. Four hundred and forty-one candidate receptors across all five isolates, collapsed into a hundred and forty-four clusters, then a hundred and fourteen binding proteins against sixty-three receptors — seven thousand, one hundred and eighty-two pairs, each folded as a complex and ranked by the interface score.</a:t>
            </a:r>
          </a:p>
          <a:p/>
          <a:p>
            <a:r>
              <a:t>And the ranking looked perfectly reasonable. That's the trouble with this kind of output. It always looks reasonable.</a:t>
            </a:r>
          </a:p>
          <a:p/>
          <a:p>
            <a:r>
              <a:t>So before we built anything on it, we ran nine control folds. T5's pb-five with FhuA scored zero point one three seven. The same receptor, scrambled, scored zero point one three six. None of our real binders separated from the controls.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built was a screen. Four hundred and forty-one candidate receptors across all five isolates, collapsed into a hundred and forty-four clusters, then a hundred and fourteen binding proteins against sixty-three receptors — seven thousand, one hundred and eighty-two pairs, each folded as a complex and ranked by the interface score.</a:t>
            </a:r>
          </a:p>
          <a:p/>
          <a:p>
            <a:r>
              <a:t>And the ranking looked perfectly reasonable. That's the trouble with this kind of output. It always looks reasonable.</a:t>
            </a:r>
          </a:p>
          <a:p/>
          <a:p>
            <a:r>
              <a:t>So before we built anything on it, we ran nine control folds. T5's pb-five with FhuA scored zero point one three seven. The same receptor, scrambled, scored zero point one three six. None of our real binders separated from the controls.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built was a screen. Four hundred and forty-one candidate receptors across all five isolates, collapsed into a hundred and forty-four clusters, then a hundred and fourteen binding proteins against sixty-three receptors — seven thousand, one hundred and eighty-two pairs, each folded as a complex and ranked by the interface score.</a:t>
            </a:r>
          </a:p>
          <a:p/>
          <a:p>
            <a:r>
              <a:t>And the ranking looked perfectly reasonable. That's the trouble with this kind of output. It always looks reasonable.</a:t>
            </a:r>
          </a:p>
          <a:p/>
          <a:p>
            <a:r>
              <a:t>So before we built anything on it, we ran nine control folds. T5's pb-five with FhuA scored zero point one three seven. The same receptor, scrambled, scored zero point one three six. None of our real binders separated from the controls.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built was a screen. Four hundred and forty-one candidate receptors across all five isolates, collapsed into a hundred and forty-four clusters, then a hundred and fourteen binding proteins against sixty-three receptors — seven thousand, one hundred and eighty-two pairs, each folded as a complex and ranked by the interface score.</a:t>
            </a:r>
          </a:p>
          <a:p/>
          <a:p>
            <a:r>
              <a:t>And the ranking looked perfectly reasonable. That's the trouble with this kind of output. It always looks reasonable.</a:t>
            </a:r>
          </a:p>
          <a:p/>
          <a:p>
            <a:r>
              <a:t>So before we built anything on it, we ran nine control folds. T5's pb-five with FhuA scored zero point one three seven. The same receptor, scrambled, scored zero point one three six. None of our real binders separated from the controls.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built was a screen. Four hundred and forty-one candidate receptors across all five isolates, collapsed into a hundred and forty-four clusters, then a hundred and fourteen binding proteins against sixty-three receptors — seven thousand, one hundred and eighty-two pairs, each folded as a complex and ranked by the interface score.</a:t>
            </a:r>
          </a:p>
          <a:p/>
          <a:p>
            <a:r>
              <a:t>And the ranking looked perfectly reasonable. That's the trouble with this kind of output. It always looks reasonable.</a:t>
            </a:r>
          </a:p>
          <a:p/>
          <a:p>
            <a:r>
              <a:t>So before we built anything on it, we ran nine control folds. T5's pb-five with FhuA scored zero point one three seven. The same receptor, scrambled, scored zero point one three six. None of our real binders separated from the controls.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also plotted score against protein length, and found a correlation of plus nought point six. The screen was ranking proteins by size.</a:t>
            </a:r>
          </a:p>
          <a:p/>
          <a:p>
            <a:r>
              <a:t>We assumed the tool was at fault, so we rebuilt the whole thing with real evolutionary alignments. It got worse. Under that one, the mismatched pair outscored the genuine binders.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learned is that the method cannot answer this question at all — and we can say exactly why.</a:t>
            </a:r>
          </a:p>
          <a:p/>
          <a:p>
            <a:r>
              <a:t>These models don't simulate two proteins touching. They read evolution. They look across thousands of species for positions that change in step: if a residue on one side mutates, and a residue on the other mutates to match, those two are probably in contact.</a:t>
            </a:r>
          </a:p>
          <a:p/>
          <a:p>
            <a:r>
              <a:t>And that signal only exists where two proteins have a shared history of co-adaptation. A phage protein and a bacterial protein have never co-adapted as a pair, so there is no history to read, and the interface score returns noise.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learned is that the method cannot answer this question at all — and we can say exactly why.</a:t>
            </a:r>
          </a:p>
          <a:p/>
          <a:p>
            <a:r>
              <a:t>These models don't simulate two proteins touching. They read evolution. They look across thousands of species for positions that change in step: if a residue on one side mutates, and a residue on the other mutates to match, those two are probably in contact.</a:t>
            </a:r>
          </a:p>
          <a:p/>
          <a:p>
            <a:r>
              <a:t>And that signal only exists where two proteins have a shared history of co-adaptation. A phage protein and a bacterial protein have never co-adapted as a pair, so there is no history to read, and the interface score returns noise.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learned is that the method cannot answer this question at all — and we can say exactly why.</a:t>
            </a:r>
          </a:p>
          <a:p/>
          <a:p>
            <a:r>
              <a:t>These models don't simulate two proteins touching. They read evolution. They look across thousands of species for positions that change in step: if a residue on one side mutates, and a residue on the other mutates to match, those two are probably in contact.</a:t>
            </a:r>
          </a:p>
          <a:p/>
          <a:p>
            <a:r>
              <a:t>And that signal only exists where two proteins have a shared history of co-adaptation. A phage protein and a bacterial protein have never co-adapted as a pair, so there is no history to read, and the interface score returns noise.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learned is that the method cannot answer this question at all — and we can say exactly why.</a:t>
            </a:r>
          </a:p>
          <a:p/>
          <a:p>
            <a:r>
              <a:t>These models don't simulate two proteins touching. They read evolution. They look across thousands of species for positions that change in step: if a residue on one side mutates, and a residue on the other mutates to match, those two are probably in contact.</a:t>
            </a:r>
          </a:p>
          <a:p/>
          <a:p>
            <a:r>
              <a:t>And that signal only exists where two proteins have a shared history of co-adaptation. A phage protein and a bacterial protein have never co-adapted as a pair, so there is no history to read, and the interface score returns noise.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learned is that the method cannot answer this question at all — and we can say exactly why.</a:t>
            </a:r>
          </a:p>
          <a:p/>
          <a:p>
            <a:r>
              <a:t>These models don't simulate two proteins touching. They read evolution. They look across thousands of species for positions that change in step: if a residue on one side mutates, and a residue on the other mutates to match, those two are probably in contact.</a:t>
            </a:r>
          </a:p>
          <a:p/>
          <a:p>
            <a:r>
              <a:t>And that signal only exists where two proteins have a shared history of co-adaptation. A phage protein and a bacterial protein have never co-adapted as a pair, so there is no history to read, and the interface score returns noise.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learned is that the method cannot answer this question at all — and we can say exactly why.</a:t>
            </a:r>
          </a:p>
          <a:p/>
          <a:p>
            <a:r>
              <a:t>These models don't simulate two proteins touching. They read evolution. They look across thousands of species for positions that change in step: if a residue on one side mutates, and a residue on the other mutates to match, those two are probably in contact.</a:t>
            </a:r>
          </a:p>
          <a:p/>
          <a:p>
            <a:r>
              <a:t>And that signal only exists where two proteins have a shared history of co-adaptation. A phage protein and a bacterial protein have never co-adapted as a pair, so there is no history to read, and the interface score returns noise.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this was never a result about our proteins. It's a property of the method, and more compute doesn't fix it. Nine control folds decided the fate of seven thousand, and we never ran the real screen.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Cycle two — ask the protein what it is. Geometry instead of docking.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second cycle we changed the question. If we couldn't ask what the tail spike binds, we could ask what it is.</a:t>
            </a:r>
          </a:p>
          <a:p/>
          <a:p>
            <a:r>
              <a:t>A right-handed beta-helix is a chain coiled into a long prism, with its coils hydrogen-bonded in register. So if you take every backbone hydrogen bond, measure how far apart in sequence its two partners sit, and histogram those offsets, a beta-helix peaks at its coil period, somewhere between sixteen and twenty-six residues. An alpha-helix peaks at four. A beta-sandwich has no peak at all.</a:t>
            </a:r>
          </a:p>
          <a:p/>
          <a:p>
            <a:r>
              <a:t>We chose that test rather than fell back on it. On a genome with no close relatives, a database can't contain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second cycle we changed the question. If we couldn't ask what the tail spike binds, we could ask what it is.</a:t>
            </a:r>
          </a:p>
          <a:p/>
          <a:p>
            <a:r>
              <a:t>A right-handed beta-helix is a chain coiled into a long prism, with its coils hydrogen-bonded in register. So if you take every backbone hydrogen bond, measure how far apart in sequence its two partners sit, and histogram those offsets, a beta-helix peaks at its coil period, somewhere between sixteen and twenty-six residues. An alpha-helix peaks at four. A beta-sandwich has no peak at all.</a:t>
            </a:r>
          </a:p>
          <a:p/>
          <a:p>
            <a:r>
              <a:t>We chose that test rather than fell back on it. On a genome with no close relatives, a database can't contain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second cycle we changed the question. If we couldn't ask what the tail spike binds, we could ask what it is.</a:t>
            </a:r>
          </a:p>
          <a:p/>
          <a:p>
            <a:r>
              <a:t>A right-handed beta-helix is a chain coiled into a long prism, with its coils hydrogen-bonded in register. So if you take every backbone hydrogen bond, measure how far apart in sequence its two partners sit, and histogram those offsets, a beta-helix peaks at its coil period, somewhere between sixteen and twenty-six residues. An alpha-helix peaks at four. A beta-sandwich has no peak at all.</a:t>
            </a:r>
          </a:p>
          <a:p/>
          <a:p>
            <a:r>
              <a:t>We chose that test rather than fell back on it. On a genome with no close relatives, a database can't contain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second cycle we changed the question. If we couldn't ask what the tail spike binds, we could ask what it is.</a:t>
            </a:r>
          </a:p>
          <a:p/>
          <a:p>
            <a:r>
              <a:t>A right-handed beta-helix is a chain coiled into a long prism, with its coils hydrogen-bonded in register. So if you take every backbone hydrogen bond, measure how far apart in sequence its two partners sit, and histogram those offsets, a beta-helix peaks at its coil period, somewhere between sixteen and twenty-six residues. An alpha-helix peaks at four. A beta-sandwich has no peak at all.</a:t>
            </a:r>
          </a:p>
          <a:p/>
          <a:p>
            <a:r>
              <a:t>We chose that test rather than fell back on it. On a genome with no close relatives, a database can't contain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tested was eight predicted structures covering seven proteins, and we classified each from its own backbone geometry.</a:t>
            </a:r>
          </a:p>
          <a:p/>
          <a:p>
            <a:r>
              <a:t>Five of the seven came back negative, and the numbers they returned aren't noise: an alpha-helical fibre lands at six. The method says no, which is what makes it worth believing when it says yes.</a:t>
            </a:r>
          </a:p>
          <a:p/>
          <a:p>
            <a:r>
              <a:t>It said yes twice.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CDS 11 is nine hundred and forty-one residues and most of it isn't the enzyme. The first hundred and ten anchor it to the virion, and the next two hundred are a shaft that moves between every model we ran. The rigid trimeric body — from residue three hundred to the end — is the part that carries the chemistry. That's the fragment we expressed, and the one we submitted to the Registry.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shape is a signature. Enzymes that chew through long sugar chains look like this, because a sugar chain is a thread and you need something that holds it straight while you cut. You can recognise a wood plane by its shape without being told what it cuts.</a:t>
            </a:r>
          </a:p>
          <a:p/>
          <a:p>
            <a:r>
              <a:t>So the tail spike isn't a key. It's a blade — and the lock we had spent months looking for doesn't exist.</a:t>
            </a:r>
          </a:p>
          <a:p/>
          <a:p>
            <a:r>
              <a:t>We weren't the only ones reading it that way. Our classifier flagged it, and our PI reached the same conclusion from his own structural search. Between us, we turned it into a hypothesis.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bacteria that wrap themselves in sugar, the ceiling on host range is set by what the depolymerase can digest — not by which protein the tail binds. And the narrow specificity we see today is a narrowed-down version of something broader further back.</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hypothesis makes a prediction we can falsify. We tested that in July. We spotted eighteen host isolates against two pooled lysates, and the Strain 1 and Strain 3 representatives came back negative against both.</a:t>
            </a:r>
          </a:p>
          <a:p/>
          <a:p>
            <a:r>
              <a:t>We're not calling it confirmed, and the reasons come from our own notebook rather than from a reviewer. The result is consistent with the prediction, and nothing contradicts it, but we haven't done the clean experiment.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Cycle three — build the enzymes. Two lines run through it, and they are two different proteins.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enzymes sit in the tail module. CDS 11, the beta-helix, is the one that reads the host surface. And next to it CDS 12, a glycoside hydrolase from family five — a TIM barrel, not a beta-helix, whose closest structural match is an endoglucanase caught with a short cellulose chain. It is a separate protein, not a domain of the tail spike, and we have not established what it does inside the phage.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why did we reconstruct ancestors of that one, rather than of the tail spike we've just spent five minutes on? Three reasons, and none of them is that we got confused. CDS 12 has a thousand homologues in the databases, which is what you need to build a tree and reconstruct along it. CDS 12 is a third of the size, so we judged it the far better bet to express. And we were working inside a sponsored synthesis allowance, where four short constructs were affordable and four long ones were not.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our ancestral panel tests the shape of the hypothesis — whether an ancestral glycoside hydrolase has a broader substrate range than its descendant — on an enzyme we could actually build, rather than on the one that reads the receptor. That's a real limitation, and it's ours, not a reviewer's.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worked out the direction with our PI, and he ran the alignment, the tree and the reconstruction on sequences we prepared. He reconstructed every node on the path from CDS 12 back to the root, nine hundred and ninety-eight of them, and we picked three to order as DNA.</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worked out the direction with our PI, and he ran the alignment, the tree and the reconstruction on sequences we prepared. He reconstructed every node on the path from CDS 12 back to the root, nine hundred and ninety-eight of them, and we picked three to order as DNA.</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worked out the direction with our PI, and he ran the alignment, the tree and the reconstruction on sequences we prepared. He reconstructed every node on the path from CDS 12 back to the root, nine hundred and ninety-eight of them, and we picked three to order as DNA.</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worked out the direction with our PI, and he ran the alignment, the tree and the reconstruction on sequences we prepared. He reconstructed every node on the path from CDS 12 back to the root, nine hundred and ninety-eight of them, and we picked three to order as DNA.</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worked out the direction with our PI, and he ran the alignment, the tree and the reconstruction on sequences we prepared. He reconstructed every node on the path from CDS 12 back to the root, nine hundred and ninety-eight of them, and we picked three to order as DNA.</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six went into pET-28a with an N-terminal His-tag and were synthesised by Twist across two orders, and all six are now published basic parts on the iGEM Registry under a CC0 licence. Three of the six are those reconstructed ancestors — protein sequences that exist nowhere in nature. We think any team working on an enzyme family could take the same route to new parts, so we wrote the method out in full.</a:t>
            </a:r>
          </a:p>
          <a:p/>
          <a:p>
            <a:r>
              <a:t>One warning we'd pass on, because it cost us: our first order was codon-optimised and our second wasn't.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 of them reached a bench, we asked a model what it thought. The label it likes best is endo-one-four-beta-glucanase — the same chemistry the structure points at. And along the path to the root the score improves steadily, which, read on its own, is our hypothesis coming true.</a:t>
            </a:r>
          </a:p>
          <a:p/>
          <a:p>
            <a:r>
              <a:t>Except that it doesn't survive its own control. A reconstructed ancestor is consensus-like by construction, so it scores better under almost any label — and it does, in twenty-one of the twenty-four classes. Direction alone proves nothing.</a:t>
            </a:r>
          </a:p>
          <a:p/>
          <a:p>
            <a:r>
              <a:t>And perplexity isn't activity.</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tested expression four times, and the rounds didn't line up neatly.</a:t>
            </a:r>
          </a:p>
          <a:p/>
          <a:p>
            <a:r>
              <a:t>On October the first we ran nickel columns on six constructs, and one of them worked: the first ancestor eluted at its predicted mass, the only construct that did. The tail spike eluted something too, but twenty-nine kilodaltons short.</a:t>
            </a:r>
          </a:p>
          <a:p/>
          <a:p>
            <a:r>
              <a:t>On October the tenth both elutions came off blank. We read that as a purification we had botched, and we were about to spend another week on it.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nickel column is supposed to hold a His-tagged protein on the resin while everything else washes past. Ours didn't hold it: the load and the flow-through carried the same band, and both elutions came off blank.</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nickel column is supposed to hold a His-tagged protein on the resin while everything else washes past. Ours didn't hold it: the load and the flow-through carried the same band, and both elutions came off blank.</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nickel column is supposed to hold a His-tagged protein on the resin while everything else washes past. Ours didn't hold it: the load and the flow-through carried the same band, and both elutions came off blank.</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nickel column is supposed to hold a His-tagged protein on the resin while everything else washes past. Ours didn't hold it: the load and the flow-through carried the same band, and both elutions came off blank.</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 the trap. Three completely different things — no protein made, protein made but insoluble, protein made and missed by the column — all give you the same blank lane. A gel cannot separate them.</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 the trap. Three completely different things — no protein made, protein made but insoluble, protein made and missed by the column — all give you the same blank lane. A gel cannot separate them.</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 the trap. Three completely different things — no protein made, protein made but insoluble, protein made and missed by the column — all give you the same blank lane. A gel cannot separate them.</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 the trap. Three completely different things — no protein made, protein made but insoluble, protein made and missed by the column — all give you the same blank lane. A gel cannot separate them.</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stopped us wasn't an experiment. It was a conversation.</a:t>
            </a:r>
          </a:p>
          <a:p/>
          <a:p>
            <a:r>
              <a:t>On October the thirteenth we took the problem to Professor Ilya Tolstorukov at Keck Graduate Institute, who works on protein expression. He wrote back before we met to say he wasn't sure he was the right person — expression is his field, purification isn't — and he met us anyway. That turned out to be the point.</a:t>
            </a:r>
          </a:p>
          <a:p/>
          <a:p>
            <a:r>
              <a:t>He changed the question. Not why is nothing eluting, but is there anything there to elute. He told us to check whether the protein was being made at all, with a dot blot against an anti-His antibody, before we touched the column again.</a:t>
            </a:r>
          </a:p>
          <a:p/>
          <a:p>
            <a:r>
              <a:t>Six days later we ran that blot, and the flow-through from the second ancestor read two point nine times the negative control. So what we learned is that the protein had been there all along. It was made, it came off in the flow-through, and the run had failed at capture — not at expression.</a:t>
            </a:r>
          </a:p>
          <a:p/>
          <a:p>
            <a:r>
              <a:t>We had spent a week debugging the last step of a workflow without checking that the first step worked, because the last step was the one visibly failing. That's the generalisable mistake, and one meeting fixed it.</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we ran the assay the whole project points at: does an enzyme, on its own, do anything to the sugar?</a:t>
            </a:r>
          </a:p>
          <a:p/>
          <a:p>
            <a:r>
              <a:t>We read it on October the sixteenth. Under the first ancestor, across seven strains, colony counts fall to a median of twelve percent of the plate's PBS control. Phi-8's own median is zero.</a:t>
            </a:r>
          </a:p>
          <a:p/>
          <a:p>
            <a:r>
              <a:t>Our PI reads that suppression as enzyme activity. We'd want more before we call it that ourselves, and there are two specific gaps.</a:t>
            </a:r>
          </a:p>
          <a:p/>
          <a:p>
            <a:r>
              <a:t>It's the strongest activity signal we have, and it is one plate.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one gap runs through all of it. We have now run eight protein assays — seven gels and a dot blot — and not one of them carries a lane of untransformed BL21. We designed every round around a different variable instead. That control is on the bench now.</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Cycle four — let the bacteria answer. Selection instead of prediction. Three cycles in, every guess about the receptor had come from the phage's side.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July we picked colonies from inside the plaque zone — cells still growing where the phage should have killed them — and in October we sequenced one from each host against its parent. There's no structure prediction anywhere in this loop.</a:t>
            </a:r>
          </a:p>
          <a:p/>
          <a:p>
            <a:r>
              <a:t>A naive assembly comparison gave us sixteen to twenty-one differing sites, which means nothing on its own. So we took every candidate back to the raw reads: seventy sites, checked against the parent's reads and against an independent read set with completely different chemistry.</a:t>
            </a:r>
          </a:p>
          <a:p/>
          <a:p>
            <a:r>
              <a:t>Exactly one survived — carried by two hundred and sixty-three of two hundred and sixty-four mutant reads and by none of the parent's.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July we picked colonies from inside the plaque zone — cells still growing where the phage should have killed them — and in October we sequenced one from each host against its parent. There's no structure prediction anywhere in this loop.</a:t>
            </a:r>
          </a:p>
          <a:p/>
          <a:p>
            <a:r>
              <a:t>A naive assembly comparison gave us sixteen to twenty-one differing sites, which means nothing on its own. So we took every candidate back to the raw reads: seventy sites, checked against the parent's reads and against an independent read set with completely different chemistry.</a:t>
            </a:r>
          </a:p>
          <a:p/>
          <a:p>
            <a:r>
              <a:t>Exactly one survived — carried by two hundred and sixty-three of two hundred and sixty-four mutant reads and by none of the parent's.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July we picked colonies from inside the plaque zone — cells still growing where the phage should have killed them — and in October we sequenced one from each host against its parent. There's no structure prediction anywhere in this loop.</a:t>
            </a:r>
          </a:p>
          <a:p/>
          <a:p>
            <a:r>
              <a:t>A naive assembly comparison gave us sixteen to twenty-one differing sites, which means nothing on its own. So we took every candidate back to the raw reads: seventy sites, checked against the parent's reads and against an independent read set with completely different chemistry.</a:t>
            </a:r>
          </a:p>
          <a:p/>
          <a:p>
            <a:r>
              <a:t>Exactly one survived — carried by two hundred and sixty-three of two hundred and sixty-four mutant reads and by none of the parent's.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sits inside a thirty-kilobase cluster that builds and exports capsular polysaccharide. The other pick has no confirmed mutation at all.</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learned disagrees with Cycle 2 — which is the whole reason we did it this way round. Cycle 2 told us the receptor is a sugar. Cycle 4 agrees it's a sugar, and disagrees about which one: it points at the capsule, with the O-antigen cassette intact.</a:t>
            </a:r>
          </a:p>
          <a:p/>
          <a:p>
            <a:r>
              <a:t>Both can be true at once, because a capsule sits on top and can hide an intact O-antigen underneath it. We don't know which surface Phi-8 reads, so wherever the distinction matters we say surface polysaccharide and leave it there.</a:t>
            </a:r>
          </a:p>
          <a:p/>
          <a:p>
            <a:r>
              <a:t>And the honest gap: we never confirmed those colonies were resistant. They were colonies in a plaque zone, which is suggestive and isn't the same thing.</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learned disagrees with Cycle 2 — which is the whole reason we did it this way round. Cycle 2 told us the receptor is a sugar. Cycle 4 agrees it's a sugar, and disagrees about which one: it points at the capsule, with the O-antigen cassette intact.</a:t>
            </a:r>
          </a:p>
          <a:p/>
          <a:p>
            <a:r>
              <a:t>Both can be true at once, because a capsule sits on top and can hide an intact O-antigen underneath it. We don't know which surface Phi-8 reads, so wherever the distinction matters we say surface polysaccharide and leave it there.</a:t>
            </a:r>
          </a:p>
          <a:p/>
          <a:p>
            <a:r>
              <a:t>And the honest gap: we never confirmed those colonies were resistant. They were colonies in a plaque zone, which is suggestive and isn't the same thing.</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learned disagrees with Cycle 2 — which is the whole reason we did it this way round. Cycle 2 told us the receptor is a sugar. Cycle 4 agrees it's a sugar, and disagrees about which one: it points at the capsule, with the O-antigen cassette intact.</a:t>
            </a:r>
          </a:p>
          <a:p/>
          <a:p>
            <a:r>
              <a:t>Both can be true at once, because a capsule sits on top and can hide an intact O-antigen underneath it. We don't know which surface Phi-8 reads, so wherever the distinction matters we say surface polysaccharide and leave it there.</a:t>
            </a:r>
          </a:p>
          <a:p/>
          <a:p>
            <a:r>
              <a:t>And the honest gap: we never confirmed those colonies were resistant. They were colonies in a plaque zone, which is suggestive and isn't the same thing.</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leaving four things behind, and one of them is a failure.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days before our wiki froze, we went back to the garden the soil came from, and asked the people who manage it whether a treatment as strain-specific as ours would be any use to them.</a:t>
            </a:r>
          </a:p>
          <a:p/>
          <a:p>
            <a:r>
              <a:t>We found that most of what we had assumed was wrong.</a:t>
            </a:r>
          </a:p>
          <a:p/>
          <a:p>
            <a:r>
              <a:t>And here's the finding that costs us most. They have never had a sample come back positive for Pseudomonas.</a:t>
            </a:r>
          </a:p>
          <a:p/>
          <a:p>
            <a:r>
              <a:t>[PLACE THE INTERVIEW CLIPS HERE — at least 20 seconds, as promised on the recording.]</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they do need is something for bacteria inside the vascular system, where nothing they have reaches. Our strain doesn't solve that. But the question we worked on — what a tail spike reads on a cell surface, and how far you can predict that from a genome — is the one you'd have to answer first. The strain is local. The question isn't.</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safety: our institutional biosafety committee gave us conditional approval with one condition still open, and that condition is a question about host range — the subject of this entire project.</a:t>
            </a:r>
          </a:p>
          <a:p/>
          <a:p>
            <a:r>
              <a:t>But understanding what sets the ceiling on host range is the same as knowing what would have to change to raise it, so we treat this as dual-use rather than arguing our way to a clean no.</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us say plainly where we are.</a:t>
            </a:r>
          </a:p>
          <a:p/>
          <a:p>
            <a:r>
              <a:t>We have established five bacterial genomes and a novel circular phage genome; three unrelated sugar cassettes in the same locus; a tail spike that is a sugar-cutting enzyme by two independent methods; a controlled negative result; and one resistance mutation verified in the reads.</a:t>
            </a:r>
          </a:p>
          <a:p/>
          <a:p>
            <a:r>
              <a:t>We have partly tested two things.</a:t>
            </a:r>
          </a:p>
          <a:p/>
          <a:p>
            <a:r>
              <a:t>And we have left plenty open.</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cycles, three of them wrong, and each one wrong in a way that told us where to go next. If we could pass on one thing, it's this: put the cheap control in front of the expensive experiment. Nine folds told us what seven thousand couldn't, and one afternoon's dot blot told us what a week on a column hadn't.</a:t>
            </a:r>
          </a:p>
          <a:p/>
          <a:p>
            <a:r>
              <a:t>[CREDITS CARD FOLLOWS — 30 seconds, no narration.]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4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40.png"/><Relationship Id="rId4" Type="http://schemas.openxmlformats.org/officeDocument/2006/relationships/notesSlide" Target="../notesSlides/notesSlide4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5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5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5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5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5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5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5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notesSlide" Target="../notesSlides/notesSlide5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5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5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notesSlide" Target="../notesSlides/notesSlide6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6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6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notesSlide" Target="../notesSlides/notesSlide6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notesSlide" Target="../notesSlides/notesSlide6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notesSlide" Target="../notesSlides/notesSlide6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notesSlide" Target="../notesSlides/notesSlide6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notesSlide" Target="../notesSlides/notesSlide6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notesSlide" Target="../notesSlides/notesSlide6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notesSlide" Target="../notesSlides/notesSlide7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notesSlide" Target="../notesSlides/notesSlide7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 Id="rId3" Type="http://schemas.openxmlformats.org/officeDocument/2006/relationships/notesSlide" Target="../notesSlides/notesSlide7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notesSlide" Target="../notesSlides/notesSlide7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notesSlide" Target="../notesSlides/notesSlide7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notesSlide" Target="../notesSlides/notesSlide7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 Id="rId3" Type="http://schemas.openxmlformats.org/officeDocument/2006/relationships/notesSlide" Target="../notesSlides/notesSlide7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4383A"/>
        </a:solidFill>
        <a:effectLst/>
      </p:bgPr>
    </p:bg>
    <p:spTree>
      <p:nvGrpSpPr>
        <p:cNvPr id="1" name=""/>
        <p:cNvGrpSpPr/>
        <p:nvPr/>
      </p:nvGrpSpPr>
      <p:grpSpPr/>
      <p:sp>
        <p:nvSpPr>
          <p:cNvPr id="2" name="TextBox 1"/>
          <p:cNvSpPr txBox="1"/>
          <p:nvPr/>
        </p:nvSpPr>
        <p:spPr>
          <a:xfrm>
            <a:off x="658368" y="1325880"/>
            <a:ext cx="10874959" cy="274320"/>
          </a:xfrm>
          <a:prstGeom prst="rect">
            <a:avLst/>
          </a:prstGeom>
          <a:noFill/>
        </p:spPr>
        <p:txBody>
          <a:bodyPr wrap="square" anchor="t" lIns="0" rIns="0" tIns="0" bIns="0">
            <a:spAutoFit/>
          </a:bodyPr>
          <a:lstStyle/>
          <a:p>
            <a:pPr algn="l">
              <a:lnSpc>
                <a:spcPct val="130000"/>
              </a:lnSpc>
            </a:pPr>
            <a:r>
              <a:rPr sz="1300" b="1" i="0">
                <a:solidFill>
                  <a:srgbClr val="8FB3AE"/>
                </a:solidFill>
                <a:latin typeface="Avenir Next"/>
              </a:rPr>
              <a:t>iGEM CLAREMONT-CA · 2026</a:t>
            </a:r>
          </a:p>
        </p:txBody>
      </p:sp>
      <p:sp>
        <p:nvSpPr>
          <p:cNvPr id="3" name="TextBox 2"/>
          <p:cNvSpPr txBox="1"/>
          <p:nvPr/>
        </p:nvSpPr>
        <p:spPr>
          <a:xfrm>
            <a:off x="658368" y="1828800"/>
            <a:ext cx="10874959" cy="1645920"/>
          </a:xfrm>
          <a:prstGeom prst="rect">
            <a:avLst/>
          </a:prstGeom>
          <a:noFill/>
        </p:spPr>
        <p:txBody>
          <a:bodyPr wrap="square" anchor="t" lIns="0" rIns="0" tIns="0" bIns="0">
            <a:spAutoFit/>
          </a:bodyPr>
          <a:lstStyle/>
          <a:p>
            <a:pPr algn="l">
              <a:lnSpc>
                <a:spcPct val="100000"/>
              </a:lnSpc>
            </a:pPr>
            <a:r>
              <a:rPr sz="6800" b="0" i="0">
                <a:solidFill>
                  <a:srgbClr val="F7F4EE"/>
                </a:solidFill>
                <a:latin typeface="Georgia"/>
              </a:rPr>
              <a:t>Phagenomics</a:t>
            </a:r>
          </a:p>
        </p:txBody>
      </p:sp>
      <p:sp>
        <p:nvSpPr>
          <p:cNvPr id="4" name="TextBox 3"/>
          <p:cNvSpPr txBox="1"/>
          <p:nvPr/>
        </p:nvSpPr>
        <p:spPr>
          <a:xfrm>
            <a:off x="658368" y="3429000"/>
            <a:ext cx="8229600" cy="1463040"/>
          </a:xfrm>
          <a:prstGeom prst="rect">
            <a:avLst/>
          </a:prstGeom>
          <a:noFill/>
        </p:spPr>
        <p:txBody>
          <a:bodyPr wrap="square" anchor="t" lIns="0" rIns="0" tIns="0" bIns="0">
            <a:spAutoFit/>
          </a:bodyPr>
          <a:lstStyle/>
          <a:p>
            <a:pPr algn="l">
              <a:lnSpc>
                <a:spcPct val="132000"/>
              </a:lnSpc>
            </a:pPr>
            <a:r>
              <a:rPr sz="2300" b="0" i="0">
                <a:solidFill>
                  <a:srgbClr val="C8D8D4"/>
                </a:solidFill>
                <a:latin typeface="Avenir Next"/>
              </a:rPr>
              <a:t>What decides which bacteria a phage can kill —</a:t>
            </a:r>
          </a:p>
          <a:p>
            <a:pPr algn="l">
              <a:lnSpc>
                <a:spcPct val="132000"/>
              </a:lnSpc>
            </a:pPr>
            <a:r>
              <a:rPr sz="2300" b="0" i="0">
                <a:solidFill>
                  <a:srgbClr val="C8D8D4"/>
                </a:solidFill>
                <a:latin typeface="Avenir Next"/>
              </a:rPr>
              <a:t>and what happened the four times we asked.</a:t>
            </a:r>
          </a:p>
        </p:txBody>
      </p:sp>
      <p:sp>
        <p:nvSpPr>
          <p:cNvPr id="5" name="TextBox 4"/>
          <p:cNvSpPr txBox="1"/>
          <p:nvPr/>
        </p:nvSpPr>
        <p:spPr>
          <a:xfrm>
            <a:off x="658368" y="5806440"/>
            <a:ext cx="10874959" cy="365760"/>
          </a:xfrm>
          <a:prstGeom prst="rect">
            <a:avLst/>
          </a:prstGeom>
          <a:noFill/>
        </p:spPr>
        <p:txBody>
          <a:bodyPr wrap="square" anchor="t" lIns="0" rIns="0" tIns="0" bIns="0">
            <a:spAutoFit/>
          </a:bodyPr>
          <a:lstStyle/>
          <a:p>
            <a:pPr algn="l">
              <a:lnSpc>
                <a:spcPct val="130000"/>
              </a:lnSpc>
            </a:pPr>
            <a:r>
              <a:rPr sz="1300" b="0" i="0">
                <a:solidFill>
                  <a:srgbClr val="8FB3AE"/>
                </a:solidFill>
                <a:latin typeface="Avenir Next"/>
              </a:rPr>
              <a:t>Bacteriophage Φ8  ·  Pseudomonas  ·  California Botanic Garden soil</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2</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THE GAP WE WORK IN</a:t>
            </a:r>
          </a:p>
        </p:txBody>
      </p:sp>
      <p:sp>
        <p:nvSpPr>
          <p:cNvPr id="5" name="TextBox 4"/>
          <p:cNvSpPr txBox="1"/>
          <p:nvPr/>
        </p:nvSpPr>
        <p:spPr>
          <a:xfrm>
            <a:off x="658368" y="896112"/>
            <a:ext cx="10874959" cy="1143000"/>
          </a:xfrm>
          <a:prstGeom prst="rect">
            <a:avLst/>
          </a:prstGeom>
          <a:noFill/>
        </p:spPr>
        <p:txBody>
          <a:bodyPr wrap="square" anchor="t" lIns="0" rIns="0" tIns="0" bIns="0">
            <a:spAutoFit/>
          </a:bodyPr>
          <a:lstStyle/>
          <a:p>
            <a:pPr algn="l">
              <a:lnSpc>
                <a:spcPct val="112000"/>
              </a:lnSpc>
            </a:pPr>
            <a:r>
              <a:rPr sz="2900" b="0" i="0">
                <a:solidFill>
                  <a:srgbClr val="24383A"/>
                </a:solidFill>
                <a:latin typeface="Georgia"/>
              </a:rPr>
              <a:t>Phage therapy's bottleneck is host range — and nobody can design it</a:t>
            </a:r>
          </a:p>
        </p:txBody>
      </p:sp>
      <p:sp>
        <p:nvSpPr>
          <p:cNvPr id="6" name="TextBox 5"/>
          <p:cNvSpPr txBox="1"/>
          <p:nvPr/>
        </p:nvSpPr>
        <p:spPr>
          <a:xfrm>
            <a:off x="658368" y="2194560"/>
            <a:ext cx="9692640" cy="4023360"/>
          </a:xfrm>
          <a:prstGeom prst="rect">
            <a:avLst/>
          </a:prstGeom>
          <a:noFill/>
        </p:spPr>
        <p:txBody>
          <a:bodyPr wrap="square" anchor="t" lIns="0" rIns="0" tIns="0" bIns="0">
            <a:spAutoFit/>
          </a:bodyPr>
          <a:lstStyle/>
          <a:p>
            <a:pPr algn="l">
              <a:lnSpc>
                <a:spcPct val="145000"/>
              </a:lnSpc>
            </a:pPr>
            <a:r>
              <a:rPr sz="2000" b="0" i="0">
                <a:solidFill>
                  <a:srgbClr val="6B7674"/>
                </a:solidFill>
                <a:latin typeface="Avenir Next"/>
              </a:rPr>
              <a:t>Pseudomonas causes serious infections in immunocompromised patients and persistent crop disease in agriculture, and phage therapy is one of the alternatives people are betting on.</a:t>
            </a:r>
          </a:p>
          <a:p>
            <a:pPr algn="l">
              <a:lnSpc>
                <a:spcPct val="145000"/>
              </a:lnSpc>
            </a:pPr>
            <a:r>
              <a:rPr sz="2000" b="0" i="0">
                <a:solidFill>
                  <a:srgbClr val="6B7674"/>
                </a:solidFill>
                <a:latin typeface="Avenir Next"/>
              </a:rPr>
              <a:t/>
            </a:r>
          </a:p>
          <a:p>
            <a:pPr algn="l">
              <a:lnSpc>
                <a:spcPct val="145000"/>
              </a:lnSpc>
            </a:pPr>
            <a:r>
              <a:rPr sz="2000" b="0" i="0">
                <a:solidFill>
                  <a:srgbClr val="6B7674"/>
                </a:solidFill>
                <a:latin typeface="Avenir Next"/>
              </a:rPr>
              <a:t>Each phage binds a specific receptor on a specific strain, and nobody can design that specificity yet, because we don't understand how a phage recognises its target in the first place.</a:t>
            </a:r>
          </a:p>
          <a:p>
            <a:pPr algn="l">
              <a:lnSpc>
                <a:spcPct val="145000"/>
              </a:lnSpc>
            </a:pPr>
            <a:r>
              <a:rPr sz="2000" b="0" i="0">
                <a:solidFill>
                  <a:srgbClr val="6B7674"/>
                </a:solidFill>
                <a:latin typeface="Avenir Next"/>
              </a:rPr>
              <a:t/>
            </a:r>
          </a:p>
          <a:p>
            <a:pPr algn="l">
              <a:lnSpc>
                <a:spcPct val="145000"/>
              </a:lnSpc>
            </a:pPr>
            <a:r>
              <a:rPr sz="2000" b="0" i="0">
                <a:solidFill>
                  <a:srgbClr val="6B7674"/>
                </a:solidFill>
                <a:latin typeface="Avenir Next"/>
              </a:rPr>
              <a:t>So we didn't try to build a therapeutic. We tried to understand the recognition step any therapeutic would depend on.</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3</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HOW A PHAGE GETS IN</a:t>
            </a:r>
          </a:p>
        </p:txBody>
      </p:sp>
      <p:pic>
        <p:nvPicPr>
          <p:cNvPr id="5" name="!!frame" descr="01-surface.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4</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HOW A PHAGE GETS IN</a:t>
            </a:r>
          </a:p>
        </p:txBody>
      </p:sp>
      <p:pic>
        <p:nvPicPr>
          <p:cNvPr id="5" name="!!frame" descr="02-arrive.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5</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HOW A PHAGE GETS IN</a:t>
            </a:r>
          </a:p>
        </p:txBody>
      </p:sp>
      <p:pic>
        <p:nvPicPr>
          <p:cNvPr id="5" name="!!frame" descr="03-contact.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6</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HOW A PHAGE GETS IN</a:t>
            </a:r>
          </a:p>
        </p:txBody>
      </p:sp>
      <p:pic>
        <p:nvPicPr>
          <p:cNvPr id="5" name="!!frame" descr="04-cut.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7</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HOW A PHAGE GETS IN</a:t>
            </a:r>
          </a:p>
        </p:txBody>
      </p:sp>
      <p:pic>
        <p:nvPicPr>
          <p:cNvPr id="5" name="!!frame" descr="05-reach.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8</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HOW A PHAGE GETS IN</a:t>
            </a:r>
          </a:p>
        </p:txBody>
      </p:sp>
      <p:pic>
        <p:nvPicPr>
          <p:cNvPr id="5" name="!!frame" descr="06-inject.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9</a:t>
            </a:r>
          </a:p>
        </p:txBody>
      </p:sp>
      <p:sp>
        <p:nvSpPr>
          <p:cNvPr id="3" name="Rectangle 2"/>
          <p:cNvSpPr/>
          <p:nvPr/>
        </p:nvSpPr>
        <p:spPr>
          <a:xfrm>
            <a:off x="658368" y="384048"/>
            <a:ext cx="118872" cy="256032"/>
          </a:xfrm>
          <a:prstGeom prst="rect">
            <a:avLst/>
          </a:prstGeom>
          <a:solidFill>
            <a:srgbClr val="B45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B4542E"/>
                </a:solidFill>
                <a:latin typeface="Avenir Next"/>
              </a:rPr>
              <a:t>A DIFFERENT STRAIN</a:t>
            </a:r>
          </a:p>
        </p:txBody>
      </p:sp>
      <p:pic>
        <p:nvPicPr>
          <p:cNvPr id="5" name="!!frame" descr="07-other-strain.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D6A6A"/>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8FB3AE"/>
                </a:solidFill>
                <a:latin typeface="Avenir Next"/>
              </a:rPr>
              <a:t>10</a:t>
            </a:r>
          </a:p>
        </p:txBody>
      </p:sp>
      <p:sp>
        <p:nvSpPr>
          <p:cNvPr id="3" name="TextBox 2"/>
          <p:cNvSpPr txBox="1"/>
          <p:nvPr/>
        </p:nvSpPr>
        <p:spPr>
          <a:xfrm>
            <a:off x="658368" y="1325880"/>
            <a:ext cx="10874959" cy="274320"/>
          </a:xfrm>
          <a:prstGeom prst="rect">
            <a:avLst/>
          </a:prstGeom>
          <a:noFill/>
        </p:spPr>
        <p:txBody>
          <a:bodyPr wrap="square" anchor="t" lIns="0" rIns="0" tIns="0" bIns="0">
            <a:spAutoFit/>
          </a:bodyPr>
          <a:lstStyle/>
          <a:p>
            <a:pPr algn="l">
              <a:lnSpc>
                <a:spcPct val="130000"/>
              </a:lnSpc>
            </a:pPr>
            <a:r>
              <a:rPr sz="1200" b="1" i="0">
                <a:solidFill>
                  <a:srgbClr val="C8D8D4"/>
                </a:solidFill>
                <a:latin typeface="Avenir Next"/>
              </a:rPr>
              <a:t>SO</a:t>
            </a:r>
          </a:p>
        </p:txBody>
      </p:sp>
      <p:sp>
        <p:nvSpPr>
          <p:cNvPr id="4" name="TextBox 3"/>
          <p:cNvSpPr txBox="1"/>
          <p:nvPr/>
        </p:nvSpPr>
        <p:spPr>
          <a:xfrm>
            <a:off x="658368" y="1874519"/>
            <a:ext cx="10874959" cy="3017520"/>
          </a:xfrm>
          <a:prstGeom prst="rect">
            <a:avLst/>
          </a:prstGeom>
          <a:noFill/>
        </p:spPr>
        <p:txBody>
          <a:bodyPr wrap="square" anchor="t" lIns="0" rIns="0" tIns="0" bIns="0">
            <a:spAutoFit/>
          </a:bodyPr>
          <a:lstStyle/>
          <a:p>
            <a:pPr algn="l">
              <a:lnSpc>
                <a:spcPct val="120000"/>
              </a:lnSpc>
            </a:pPr>
            <a:r>
              <a:rPr sz="3400" b="0" i="0">
                <a:solidFill>
                  <a:srgbClr val="F7F4EE"/>
                </a:solidFill>
                <a:latin typeface="Georgia"/>
              </a:rPr>
              <a:t>Host range is decided at the sugar,</a:t>
            </a:r>
          </a:p>
          <a:p>
            <a:pPr algn="l">
              <a:lnSpc>
                <a:spcPct val="120000"/>
              </a:lnSpc>
            </a:pPr>
            <a:r>
              <a:rPr sz="3400" b="0" i="0">
                <a:solidFill>
                  <a:srgbClr val="F7F4EE"/>
                </a:solidFill>
                <a:latin typeface="Georgia"/>
              </a:rPr>
              <a:t>before infection begins.</a:t>
            </a:r>
          </a:p>
        </p:txBody>
      </p:sp>
      <p:sp>
        <p:nvSpPr>
          <p:cNvPr id="5" name="TextBox 4"/>
          <p:cNvSpPr txBox="1"/>
          <p:nvPr/>
        </p:nvSpPr>
        <p:spPr>
          <a:xfrm>
            <a:off x="658368" y="4983480"/>
            <a:ext cx="9692640" cy="1188720"/>
          </a:xfrm>
          <a:prstGeom prst="rect">
            <a:avLst/>
          </a:prstGeom>
          <a:noFill/>
        </p:spPr>
        <p:txBody>
          <a:bodyPr wrap="square" anchor="t" lIns="0" rIns="0" tIns="0" bIns="0">
            <a:spAutoFit/>
          </a:bodyPr>
          <a:lstStyle/>
          <a:p>
            <a:pPr algn="l">
              <a:lnSpc>
                <a:spcPct val="135000"/>
              </a:lnSpc>
            </a:pPr>
            <a:r>
              <a:rPr sz="1900" b="0" i="0">
                <a:solidFill>
                  <a:srgbClr val="C8D8D4"/>
                </a:solidFill>
                <a:latin typeface="Avenir Next"/>
              </a:rPr>
              <a:t>Everything after the channel is ordinary infection. Everything before it is the question we worked on.</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11</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WHERE THE PROJECT CAME FROM</a:t>
            </a:r>
          </a:p>
        </p:txBody>
      </p:sp>
      <p:sp>
        <p:nvSpPr>
          <p:cNvPr id="5" name="TextBox 4"/>
          <p:cNvSpPr txBox="1"/>
          <p:nvPr/>
        </p:nvSpPr>
        <p:spPr>
          <a:xfrm>
            <a:off x="658368" y="896112"/>
            <a:ext cx="10874959" cy="1143000"/>
          </a:xfrm>
          <a:prstGeom prst="rect">
            <a:avLst/>
          </a:prstGeom>
          <a:noFill/>
        </p:spPr>
        <p:txBody>
          <a:bodyPr wrap="square" anchor="t" lIns="0" rIns="0" tIns="0" bIns="0">
            <a:spAutoFit/>
          </a:bodyPr>
          <a:lstStyle/>
          <a:p>
            <a:pPr algn="l">
              <a:lnSpc>
                <a:spcPct val="112000"/>
              </a:lnSpc>
            </a:pPr>
            <a:r>
              <a:rPr sz="2900" b="0" i="0">
                <a:solidFill>
                  <a:srgbClr val="24383A"/>
                </a:solidFill>
                <a:latin typeface="Georgia"/>
              </a:rPr>
              <a:t>An idea we dropped, and the abstraction we kept</a:t>
            </a:r>
          </a:p>
        </p:txBody>
      </p:sp>
      <p:sp>
        <p:nvSpPr>
          <p:cNvPr id="6" name="TextBox 5"/>
          <p:cNvSpPr txBox="1"/>
          <p:nvPr/>
        </p:nvSpPr>
        <p:spPr>
          <a:xfrm>
            <a:off x="658368" y="2194560"/>
            <a:ext cx="9692640" cy="4023360"/>
          </a:xfrm>
          <a:prstGeom prst="rect">
            <a:avLst/>
          </a:prstGeom>
          <a:noFill/>
        </p:spPr>
        <p:txBody>
          <a:bodyPr wrap="square" anchor="t" lIns="0" rIns="0" tIns="0" bIns="0">
            <a:spAutoFit/>
          </a:bodyPr>
          <a:lstStyle/>
          <a:p>
            <a:pPr algn="l">
              <a:lnSpc>
                <a:spcPct val="145000"/>
              </a:lnSpc>
            </a:pPr>
            <a:r>
              <a:rPr sz="2000" b="0" i="0">
                <a:solidFill>
                  <a:srgbClr val="6B7674"/>
                </a:solidFill>
                <a:latin typeface="Avenir Next"/>
              </a:rPr>
              <a:t>Early on we talked to Professor Ran Libeskind-Hadas at Claremont McKenna, one of our advisors. He suggested we reconstruct an ancestral phage — a whole organism, inferred from its relatives.</a:t>
            </a:r>
          </a:p>
          <a:p>
            <a:pPr algn="l">
              <a:lnSpc>
                <a:spcPct val="145000"/>
              </a:lnSpc>
            </a:pPr>
            <a:r>
              <a:rPr sz="2000" b="0" i="0">
                <a:solidFill>
                  <a:srgbClr val="6B7674"/>
                </a:solidFill>
                <a:latin typeface="Avenir Next"/>
              </a:rPr>
              <a:t/>
            </a:r>
          </a:p>
          <a:p>
            <a:pPr algn="l">
              <a:lnSpc>
                <a:spcPct val="145000"/>
              </a:lnSpc>
            </a:pPr>
            <a:r>
              <a:rPr sz="2000" b="0" i="0">
                <a:solidFill>
                  <a:srgbClr val="6B7674"/>
                </a:solidFill>
                <a:latin typeface="Avenir Next"/>
              </a:rPr>
              <a:t>We couldn't build one. But scale that down to a single enzyme and you can order it from a synthesis company.</a:t>
            </a:r>
          </a:p>
          <a:p>
            <a:pPr algn="l">
              <a:lnSpc>
                <a:spcPct val="145000"/>
              </a:lnSpc>
            </a:pPr>
            <a:r>
              <a:rPr sz="2000" b="0" i="0">
                <a:solidFill>
                  <a:srgbClr val="6B7674"/>
                </a:solidFill>
                <a:latin typeface="Avenir Next"/>
              </a:rPr>
              <a:t/>
            </a:r>
          </a:p>
          <a:p>
            <a:pPr algn="l">
              <a:lnSpc>
                <a:spcPct val="145000"/>
              </a:lnSpc>
            </a:pPr>
            <a:r>
              <a:rPr sz="2000" b="0" i="0">
                <a:solidFill>
                  <a:srgbClr val="6B7674"/>
                </a:solidFill>
                <a:latin typeface="Avenir Next"/>
              </a:rPr>
              <a:t>That is what this project became.</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12</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CALIFORNIA BOTANIC GARDEN · 19 MAY 2026</a:t>
            </a:r>
          </a:p>
        </p:txBody>
      </p:sp>
      <p:sp>
        <p:nvSpPr>
          <p:cNvPr id="5" name="TextBox 4"/>
          <p:cNvSpPr txBox="1"/>
          <p:nvPr/>
        </p:nvSpPr>
        <p:spPr>
          <a:xfrm>
            <a:off x="658368" y="896112"/>
            <a:ext cx="10874959" cy="822960"/>
          </a:xfrm>
          <a:prstGeom prst="rect">
            <a:avLst/>
          </a:prstGeom>
          <a:noFill/>
        </p:spPr>
        <p:txBody>
          <a:bodyPr wrap="square" anchor="t" lIns="0" rIns="0" tIns="0" bIns="0">
            <a:spAutoFit/>
          </a:bodyPr>
          <a:lstStyle/>
          <a:p>
            <a:pPr algn="l">
              <a:lnSpc>
                <a:spcPct val="130000"/>
              </a:lnSpc>
            </a:pPr>
            <a:r>
              <a:rPr sz="2900" b="0" i="0">
                <a:solidFill>
                  <a:srgbClr val="24383A"/>
                </a:solidFill>
                <a:latin typeface="Georgia"/>
              </a:rPr>
              <a:t>Five isolates, three strains, two built-in controls</a:t>
            </a:r>
          </a:p>
        </p:txBody>
      </p:sp>
      <p:sp>
        <p:nvSpPr>
          <p:cNvPr id="6" name="Rounded Rectangle 5"/>
          <p:cNvSpPr/>
          <p:nvPr/>
        </p:nvSpPr>
        <p:spPr>
          <a:xfrm>
            <a:off x="658368" y="2103120"/>
            <a:ext cx="5760720" cy="658368"/>
          </a:xfrm>
          <a:prstGeom prst="roundRect">
            <a:avLst>
              <a:gd name="adj" fmla="val 20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96112" y="2304288"/>
            <a:ext cx="1371600" cy="457200"/>
          </a:xfrm>
          <a:prstGeom prst="rect">
            <a:avLst/>
          </a:prstGeom>
          <a:noFill/>
        </p:spPr>
        <p:txBody>
          <a:bodyPr wrap="square" anchor="t" lIns="0" rIns="0" tIns="0" bIns="0">
            <a:spAutoFit/>
          </a:bodyPr>
          <a:lstStyle/>
          <a:p>
            <a:pPr algn="l">
              <a:lnSpc>
                <a:spcPct val="130000"/>
              </a:lnSpc>
            </a:pPr>
            <a:r>
              <a:rPr sz="1500" b="1" i="0">
                <a:solidFill>
                  <a:srgbClr val="24383A"/>
                </a:solidFill>
                <a:latin typeface="Avenir Next"/>
              </a:rPr>
              <a:t>Strain 1</a:t>
            </a:r>
          </a:p>
        </p:txBody>
      </p:sp>
      <p:sp>
        <p:nvSpPr>
          <p:cNvPr id="8" name="TextBox 7"/>
          <p:cNvSpPr txBox="1"/>
          <p:nvPr/>
        </p:nvSpPr>
        <p:spPr>
          <a:xfrm>
            <a:off x="2395728" y="2304288"/>
            <a:ext cx="1920240" cy="457200"/>
          </a:xfrm>
          <a:prstGeom prst="rect">
            <a:avLst/>
          </a:prstGeom>
          <a:noFill/>
        </p:spPr>
        <p:txBody>
          <a:bodyPr wrap="square" anchor="t" lIns="0" rIns="0" tIns="0" bIns="0">
            <a:spAutoFit/>
          </a:bodyPr>
          <a:lstStyle/>
          <a:p>
            <a:pPr algn="l">
              <a:lnSpc>
                <a:spcPct val="130000"/>
              </a:lnSpc>
            </a:pPr>
            <a:r>
              <a:rPr sz="1500" b="0" i="0">
                <a:solidFill>
                  <a:srgbClr val="6B7674"/>
                </a:solidFill>
                <a:latin typeface="Avenir Next"/>
              </a:rPr>
              <a:t>8-5-2 · 10-10-2</a:t>
            </a:r>
          </a:p>
        </p:txBody>
      </p:sp>
      <p:sp>
        <p:nvSpPr>
          <p:cNvPr id="9" name="TextBox 8"/>
          <p:cNvSpPr txBox="1"/>
          <p:nvPr/>
        </p:nvSpPr>
        <p:spPr>
          <a:xfrm>
            <a:off x="4407407" y="2304288"/>
            <a:ext cx="1920240" cy="457200"/>
          </a:xfrm>
          <a:prstGeom prst="rect">
            <a:avLst/>
          </a:prstGeom>
          <a:noFill/>
        </p:spPr>
        <p:txBody>
          <a:bodyPr wrap="square" anchor="t" lIns="0" rIns="0" tIns="0" bIns="0">
            <a:spAutoFit/>
          </a:bodyPr>
          <a:lstStyle/>
          <a:p>
            <a:pPr algn="l">
              <a:lnSpc>
                <a:spcPct val="130000"/>
              </a:lnSpc>
            </a:pPr>
            <a:r>
              <a:rPr sz="1500" b="0" i="0">
                <a:solidFill>
                  <a:srgbClr val="6B7674"/>
                </a:solidFill>
                <a:latin typeface="Avenir Next"/>
              </a:rPr>
              <a:t>99.997 % ANI</a:t>
            </a:r>
          </a:p>
        </p:txBody>
      </p:sp>
      <p:sp>
        <p:nvSpPr>
          <p:cNvPr id="10" name="Rounded Rectangle 9"/>
          <p:cNvSpPr/>
          <p:nvPr/>
        </p:nvSpPr>
        <p:spPr>
          <a:xfrm>
            <a:off x="658368" y="2834640"/>
            <a:ext cx="5760720" cy="658368"/>
          </a:xfrm>
          <a:prstGeom prst="roundRect">
            <a:avLst>
              <a:gd name="adj" fmla="val 2000"/>
            </a:avLst>
          </a:prstGeom>
          <a:solidFill>
            <a:srgbClr val="EAF0EE"/>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96112" y="3035808"/>
            <a:ext cx="1371600" cy="457200"/>
          </a:xfrm>
          <a:prstGeom prst="rect">
            <a:avLst/>
          </a:prstGeom>
          <a:noFill/>
        </p:spPr>
        <p:txBody>
          <a:bodyPr wrap="square" anchor="t" lIns="0" rIns="0" tIns="0" bIns="0">
            <a:spAutoFit/>
          </a:bodyPr>
          <a:lstStyle/>
          <a:p>
            <a:pPr algn="l">
              <a:lnSpc>
                <a:spcPct val="130000"/>
              </a:lnSpc>
            </a:pPr>
            <a:r>
              <a:rPr sz="1500" b="1" i="0">
                <a:solidFill>
                  <a:srgbClr val="24383A"/>
                </a:solidFill>
                <a:latin typeface="Avenir Next"/>
              </a:rPr>
              <a:t>Strain 2</a:t>
            </a:r>
          </a:p>
        </p:txBody>
      </p:sp>
      <p:sp>
        <p:nvSpPr>
          <p:cNvPr id="12" name="TextBox 11"/>
          <p:cNvSpPr txBox="1"/>
          <p:nvPr/>
        </p:nvSpPr>
        <p:spPr>
          <a:xfrm>
            <a:off x="2395728" y="3035808"/>
            <a:ext cx="1920240" cy="457200"/>
          </a:xfrm>
          <a:prstGeom prst="rect">
            <a:avLst/>
          </a:prstGeom>
          <a:noFill/>
        </p:spPr>
        <p:txBody>
          <a:bodyPr wrap="square" anchor="t" lIns="0" rIns="0" tIns="0" bIns="0">
            <a:spAutoFit/>
          </a:bodyPr>
          <a:lstStyle/>
          <a:p>
            <a:pPr algn="l">
              <a:lnSpc>
                <a:spcPct val="130000"/>
              </a:lnSpc>
            </a:pPr>
            <a:r>
              <a:rPr sz="1500" b="0" i="0">
                <a:solidFill>
                  <a:srgbClr val="6B7674"/>
                </a:solidFill>
                <a:latin typeface="Avenir Next"/>
              </a:rPr>
              <a:t>9-2-1 · 9-6-2</a:t>
            </a:r>
          </a:p>
        </p:txBody>
      </p:sp>
      <p:sp>
        <p:nvSpPr>
          <p:cNvPr id="13" name="TextBox 12"/>
          <p:cNvSpPr txBox="1"/>
          <p:nvPr/>
        </p:nvSpPr>
        <p:spPr>
          <a:xfrm>
            <a:off x="4407407" y="3035808"/>
            <a:ext cx="1920240" cy="457200"/>
          </a:xfrm>
          <a:prstGeom prst="rect">
            <a:avLst/>
          </a:prstGeom>
          <a:noFill/>
        </p:spPr>
        <p:txBody>
          <a:bodyPr wrap="square" anchor="t" lIns="0" rIns="0" tIns="0" bIns="0">
            <a:spAutoFit/>
          </a:bodyPr>
          <a:lstStyle/>
          <a:p>
            <a:pPr algn="l">
              <a:lnSpc>
                <a:spcPct val="130000"/>
              </a:lnSpc>
            </a:pPr>
            <a:r>
              <a:rPr sz="1500" b="0" i="0">
                <a:solidFill>
                  <a:srgbClr val="6B7674"/>
                </a:solidFill>
                <a:latin typeface="Avenir Next"/>
              </a:rPr>
              <a:t>100.000 % ANI — the Φ8 host</a:t>
            </a:r>
          </a:p>
        </p:txBody>
      </p:sp>
      <p:sp>
        <p:nvSpPr>
          <p:cNvPr id="14" name="Rounded Rectangle 13"/>
          <p:cNvSpPr/>
          <p:nvPr/>
        </p:nvSpPr>
        <p:spPr>
          <a:xfrm>
            <a:off x="658368" y="3566160"/>
            <a:ext cx="5760720" cy="658368"/>
          </a:xfrm>
          <a:prstGeom prst="roundRect">
            <a:avLst>
              <a:gd name="adj" fmla="val 20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96112" y="3767328"/>
            <a:ext cx="1371600" cy="457200"/>
          </a:xfrm>
          <a:prstGeom prst="rect">
            <a:avLst/>
          </a:prstGeom>
          <a:noFill/>
        </p:spPr>
        <p:txBody>
          <a:bodyPr wrap="square" anchor="t" lIns="0" rIns="0" tIns="0" bIns="0">
            <a:spAutoFit/>
          </a:bodyPr>
          <a:lstStyle/>
          <a:p>
            <a:pPr algn="l">
              <a:lnSpc>
                <a:spcPct val="130000"/>
              </a:lnSpc>
            </a:pPr>
            <a:r>
              <a:rPr sz="1500" b="1" i="0">
                <a:solidFill>
                  <a:srgbClr val="24383A"/>
                </a:solidFill>
                <a:latin typeface="Avenir Next"/>
              </a:rPr>
              <a:t>Strain 3</a:t>
            </a:r>
          </a:p>
        </p:txBody>
      </p:sp>
      <p:sp>
        <p:nvSpPr>
          <p:cNvPr id="16" name="TextBox 15"/>
          <p:cNvSpPr txBox="1"/>
          <p:nvPr/>
        </p:nvSpPr>
        <p:spPr>
          <a:xfrm>
            <a:off x="2395728" y="3767328"/>
            <a:ext cx="1920240" cy="457200"/>
          </a:xfrm>
          <a:prstGeom prst="rect">
            <a:avLst/>
          </a:prstGeom>
          <a:noFill/>
        </p:spPr>
        <p:txBody>
          <a:bodyPr wrap="square" anchor="t" lIns="0" rIns="0" tIns="0" bIns="0">
            <a:spAutoFit/>
          </a:bodyPr>
          <a:lstStyle/>
          <a:p>
            <a:pPr algn="l">
              <a:lnSpc>
                <a:spcPct val="130000"/>
              </a:lnSpc>
            </a:pPr>
            <a:r>
              <a:rPr sz="1500" b="0" i="0">
                <a:solidFill>
                  <a:srgbClr val="6B7674"/>
                </a:solidFill>
                <a:latin typeface="Avenir Next"/>
              </a:rPr>
              <a:t>8-10-2</a:t>
            </a:r>
          </a:p>
        </p:txBody>
      </p:sp>
      <p:sp>
        <p:nvSpPr>
          <p:cNvPr id="17" name="TextBox 16"/>
          <p:cNvSpPr txBox="1"/>
          <p:nvPr/>
        </p:nvSpPr>
        <p:spPr>
          <a:xfrm>
            <a:off x="4407407" y="3767328"/>
            <a:ext cx="1920240" cy="457200"/>
          </a:xfrm>
          <a:prstGeom prst="rect">
            <a:avLst/>
          </a:prstGeom>
          <a:noFill/>
        </p:spPr>
        <p:txBody>
          <a:bodyPr wrap="square" anchor="t" lIns="0" rIns="0" tIns="0" bIns="0">
            <a:spAutoFit/>
          </a:bodyPr>
          <a:lstStyle/>
          <a:p>
            <a:pPr algn="l">
              <a:lnSpc>
                <a:spcPct val="130000"/>
              </a:lnSpc>
            </a:pPr>
            <a:r>
              <a:rPr sz="1500" b="0" i="0">
                <a:solidFill>
                  <a:srgbClr val="6B7674"/>
                </a:solidFill>
                <a:latin typeface="Avenir Next"/>
              </a:rPr>
              <a:t>a different species</a:t>
            </a:r>
          </a:p>
        </p:txBody>
      </p:sp>
      <p:sp>
        <p:nvSpPr>
          <p:cNvPr id="18" name="TextBox 17"/>
          <p:cNvSpPr txBox="1"/>
          <p:nvPr/>
        </p:nvSpPr>
        <p:spPr>
          <a:xfrm>
            <a:off x="658368" y="4572000"/>
            <a:ext cx="5760720" cy="1097280"/>
          </a:xfrm>
          <a:prstGeom prst="rect">
            <a:avLst/>
          </a:prstGeom>
          <a:noFill/>
        </p:spPr>
        <p:txBody>
          <a:bodyPr wrap="square" anchor="t" lIns="0" rIns="0" tIns="0" bIns="0">
            <a:spAutoFit/>
          </a:bodyPr>
          <a:lstStyle/>
          <a:p>
            <a:pPr algn="l">
              <a:lnSpc>
                <a:spcPct val="135000"/>
              </a:lnSpc>
            </a:pPr>
            <a:r>
              <a:rPr sz="1700" b="0" i="0">
                <a:solidFill>
                  <a:srgbClr val="6B7674"/>
                </a:solidFill>
                <a:latin typeface="Avenir Next"/>
              </a:rPr>
              <a:t>Any difference we report between strains has to be bigger than the difference we can measure within one.</a:t>
            </a:r>
          </a:p>
        </p:txBody>
      </p:sp>
      <p:pic>
        <p:nvPicPr>
          <p:cNvPr id="19" name="Picture 18" descr="bactgenomes.png"/>
          <p:cNvPicPr>
            <a:picLocks noChangeAspect="1"/>
          </p:cNvPicPr>
          <p:nvPr/>
        </p:nvPicPr>
        <p:blipFill>
          <a:blip r:embed="rId2"/>
          <a:stretch>
            <a:fillRect/>
          </a:stretch>
        </p:blipFill>
        <p:spPr>
          <a:xfrm>
            <a:off x="6967728" y="2584580"/>
            <a:ext cx="4480560" cy="2237479"/>
          </a:xfrm>
          <a:prstGeom prst="rect">
            <a:avLst/>
          </a:prstGeom>
        </p:spPr>
      </p:pic>
      <p:sp>
        <p:nvSpPr>
          <p:cNvPr id="20" name="TextBox 19"/>
          <p:cNvSpPr txBox="1"/>
          <p:nvPr/>
        </p:nvSpPr>
        <p:spPr>
          <a:xfrm>
            <a:off x="658368" y="6309360"/>
            <a:ext cx="10051999" cy="365760"/>
          </a:xfrm>
          <a:prstGeom prst="rect">
            <a:avLst/>
          </a:prstGeom>
          <a:noFill/>
        </p:spPr>
        <p:txBody>
          <a:bodyPr wrap="square" anchor="t" lIns="0" rIns="0" tIns="0" bIns="0">
            <a:spAutoFit/>
          </a:bodyPr>
          <a:lstStyle/>
          <a:p>
            <a:pPr algn="l">
              <a:lnSpc>
                <a:spcPct val="130000"/>
              </a:lnSpc>
            </a:pPr>
            <a:r>
              <a:rPr sz="1200" b="0" i="0">
                <a:solidFill>
                  <a:srgbClr val="6B7674"/>
                </a:solidFill>
                <a:latin typeface="Avenir Next"/>
              </a:rPr>
              <a:t>Genomes published in Microbiology Resource Announcements · doi 10.1128/mra.00793-26</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13</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THE PHAGE</a:t>
            </a:r>
          </a:p>
        </p:txBody>
      </p:sp>
      <p:sp>
        <p:nvSpPr>
          <p:cNvPr id="5" name="TextBox 4"/>
          <p:cNvSpPr txBox="1"/>
          <p:nvPr/>
        </p:nvSpPr>
        <p:spPr>
          <a:xfrm>
            <a:off x="658368" y="841248"/>
            <a:ext cx="10874959" cy="777240"/>
          </a:xfrm>
          <a:prstGeom prst="rect">
            <a:avLst/>
          </a:prstGeom>
          <a:noFill/>
        </p:spPr>
        <p:txBody>
          <a:bodyPr wrap="square" anchor="t" lIns="0" rIns="0" tIns="0" bIns="0">
            <a:spAutoFit/>
          </a:bodyPr>
          <a:lstStyle/>
          <a:p>
            <a:pPr algn="l">
              <a:lnSpc>
                <a:spcPct val="112000"/>
              </a:lnSpc>
            </a:pPr>
            <a:r>
              <a:rPr sz="2500" b="0" i="0">
                <a:solidFill>
                  <a:srgbClr val="24383A"/>
                </a:solidFill>
                <a:latin typeface="Georgia"/>
              </a:rPr>
              <a:t>One phage, Φ8, that infects exactly one of the three</a:t>
            </a:r>
          </a:p>
        </p:txBody>
      </p:sp>
      <p:pic>
        <p:nvPicPr>
          <p:cNvPr id="6" name="Picture 5" descr="phagemap.png"/>
          <p:cNvPicPr>
            <a:picLocks noChangeAspect="1"/>
          </p:cNvPicPr>
          <p:nvPr/>
        </p:nvPicPr>
        <p:blipFill>
          <a:blip r:embed="rId2"/>
          <a:stretch>
            <a:fillRect/>
          </a:stretch>
        </p:blipFill>
        <p:spPr>
          <a:xfrm>
            <a:off x="658368" y="2252169"/>
            <a:ext cx="10874959" cy="3405221"/>
          </a:xfrm>
          <a:prstGeom prst="rect">
            <a:avLst/>
          </a:prstGeom>
        </p:spPr>
      </p:pic>
      <p:sp>
        <p:nvSpPr>
          <p:cNvPr id="7" name="TextBox 6"/>
          <p:cNvSpPr txBox="1"/>
          <p:nvPr/>
        </p:nvSpPr>
        <p:spPr>
          <a:xfrm>
            <a:off x="658368" y="6309360"/>
            <a:ext cx="10051999" cy="365760"/>
          </a:xfrm>
          <a:prstGeom prst="rect">
            <a:avLst/>
          </a:prstGeom>
          <a:noFill/>
        </p:spPr>
        <p:txBody>
          <a:bodyPr wrap="square" anchor="t" lIns="0" rIns="0" tIns="0" bIns="0">
            <a:spAutoFit/>
          </a:bodyPr>
          <a:lstStyle/>
          <a:p>
            <a:pPr algn="l">
              <a:lnSpc>
                <a:spcPct val="120000"/>
              </a:lnSpc>
            </a:pPr>
            <a:r>
              <a:rPr sz="1200" b="0" i="0">
                <a:solidFill>
                  <a:srgbClr val="6B7674"/>
                </a:solidFill>
                <a:latin typeface="Avenir Next"/>
              </a:rPr>
              <a:t>62,339 bp · circular · 80 coding sequences · no match in the phage database · effectively no genes in common with T7</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14</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THE FIRST CLUE</a:t>
            </a:r>
          </a:p>
        </p:txBody>
      </p:sp>
      <p:pic>
        <p:nvPicPr>
          <p:cNvPr id="5" name="!!frame" descr="01-slot.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15</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THE FIRST CLUE</a:t>
            </a:r>
          </a:p>
        </p:txBody>
      </p:sp>
      <p:pic>
        <p:nvPicPr>
          <p:cNvPr id="5" name="!!frame" descr="02-strain.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16</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THE FIRST CLUE</a:t>
            </a:r>
          </a:p>
        </p:txBody>
      </p:sp>
      <p:pic>
        <p:nvPicPr>
          <p:cNvPr id="5" name="!!frame" descr="03-strain.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17</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THE FIRST CLUE</a:t>
            </a:r>
          </a:p>
        </p:txBody>
      </p:sp>
      <p:pic>
        <p:nvPicPr>
          <p:cNvPr id="5" name="!!frame" descr="04-strain.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18</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THE FIRST CLUE</a:t>
            </a:r>
          </a:p>
        </p:txBody>
      </p:sp>
      <p:pic>
        <p:nvPicPr>
          <p:cNvPr id="5" name="!!frame" descr="05-verdict.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19</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THE FIRST CLUE</a:t>
            </a:r>
          </a:p>
        </p:txBody>
      </p:sp>
      <p:sp>
        <p:nvSpPr>
          <p:cNvPr id="5" name="TextBox 4"/>
          <p:cNvSpPr txBox="1"/>
          <p:nvPr/>
        </p:nvSpPr>
        <p:spPr>
          <a:xfrm>
            <a:off x="658368" y="841248"/>
            <a:ext cx="10874959" cy="777240"/>
          </a:xfrm>
          <a:prstGeom prst="rect">
            <a:avLst/>
          </a:prstGeom>
          <a:noFill/>
        </p:spPr>
        <p:txBody>
          <a:bodyPr wrap="square" anchor="t" lIns="0" rIns="0" tIns="0" bIns="0">
            <a:spAutoFit/>
          </a:bodyPr>
          <a:lstStyle/>
          <a:p>
            <a:pPr algn="l">
              <a:lnSpc>
                <a:spcPct val="112000"/>
              </a:lnSpc>
            </a:pPr>
            <a:r>
              <a:rPr sz="2500" b="0" i="0">
                <a:solidFill>
                  <a:srgbClr val="24383A"/>
                </a:solidFill>
                <a:latin typeface="Georgia"/>
              </a:rPr>
              <a:t>The real cassettes, side by side</a:t>
            </a:r>
          </a:p>
        </p:txBody>
      </p:sp>
      <p:pic>
        <p:nvPicPr>
          <p:cNvPr id="6" name="Picture 5" descr="oantigen.png"/>
          <p:cNvPicPr>
            <a:picLocks noChangeAspect="1"/>
          </p:cNvPicPr>
          <p:nvPr/>
        </p:nvPicPr>
        <p:blipFill>
          <a:blip r:embed="rId2"/>
          <a:stretch>
            <a:fillRect/>
          </a:stretch>
        </p:blipFill>
        <p:spPr>
          <a:xfrm>
            <a:off x="2487623" y="1783080"/>
            <a:ext cx="7216448" cy="4343400"/>
          </a:xfrm>
          <a:prstGeom prst="rect">
            <a:avLst/>
          </a:prstGeom>
        </p:spPr>
      </p:pic>
      <p:sp>
        <p:nvSpPr>
          <p:cNvPr id="7" name="TextBox 6"/>
          <p:cNvSpPr txBox="1"/>
          <p:nvPr/>
        </p:nvSpPr>
        <p:spPr>
          <a:xfrm>
            <a:off x="658368" y="6309360"/>
            <a:ext cx="10051999" cy="365760"/>
          </a:xfrm>
          <a:prstGeom prst="rect">
            <a:avLst/>
          </a:prstGeom>
          <a:noFill/>
        </p:spPr>
        <p:txBody>
          <a:bodyPr wrap="square" anchor="t" lIns="0" rIns="0" tIns="0" bIns="0">
            <a:spAutoFit/>
          </a:bodyPr>
          <a:lstStyle/>
          <a:p>
            <a:pPr algn="l">
              <a:lnSpc>
                <a:spcPct val="120000"/>
              </a:lnSpc>
            </a:pPr>
            <a:r>
              <a:rPr sz="1200" b="0" i="0">
                <a:solidFill>
                  <a:srgbClr val="6B7674"/>
                </a:solidFill>
                <a:latin typeface="Avenir Next"/>
              </a:rPr>
              <a:t>Located with ihfB as the upstream anchor; cassette proteins clustered with MMseqs2 at ≥ 30 % identity, ≥ 50 % coverage</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D6A6A"/>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8FB3AE"/>
                </a:solidFill>
                <a:latin typeface="Avenir Next"/>
              </a:rPr>
              <a:t>20</a:t>
            </a:r>
          </a:p>
        </p:txBody>
      </p:sp>
      <p:sp>
        <p:nvSpPr>
          <p:cNvPr id="3" name="TextBox 2"/>
          <p:cNvSpPr txBox="1"/>
          <p:nvPr/>
        </p:nvSpPr>
        <p:spPr>
          <a:xfrm>
            <a:off x="658368" y="1325880"/>
            <a:ext cx="10874959" cy="274320"/>
          </a:xfrm>
          <a:prstGeom prst="rect">
            <a:avLst/>
          </a:prstGeom>
          <a:noFill/>
        </p:spPr>
        <p:txBody>
          <a:bodyPr wrap="square" anchor="t" lIns="0" rIns="0" tIns="0" bIns="0">
            <a:spAutoFit/>
          </a:bodyPr>
          <a:lstStyle/>
          <a:p>
            <a:pPr algn="l">
              <a:lnSpc>
                <a:spcPct val="130000"/>
              </a:lnSpc>
            </a:pPr>
            <a:r>
              <a:rPr sz="1200" b="1" i="0">
                <a:solidFill>
                  <a:srgbClr val="C8D8D4"/>
                </a:solidFill>
                <a:latin typeface="Avenir Next"/>
              </a:rPr>
              <a:t>FIRST HYPOTHESIS</a:t>
            </a:r>
          </a:p>
        </p:txBody>
      </p:sp>
      <p:sp>
        <p:nvSpPr>
          <p:cNvPr id="4" name="TextBox 3"/>
          <p:cNvSpPr txBox="1"/>
          <p:nvPr/>
        </p:nvSpPr>
        <p:spPr>
          <a:xfrm>
            <a:off x="658368" y="1874519"/>
            <a:ext cx="10874959" cy="3017520"/>
          </a:xfrm>
          <a:prstGeom prst="rect">
            <a:avLst/>
          </a:prstGeom>
          <a:noFill/>
        </p:spPr>
        <p:txBody>
          <a:bodyPr wrap="square" anchor="t" lIns="0" rIns="0" tIns="0" bIns="0">
            <a:spAutoFit/>
          </a:bodyPr>
          <a:lstStyle/>
          <a:p>
            <a:pPr algn="l">
              <a:lnSpc>
                <a:spcPct val="120000"/>
              </a:lnSpc>
            </a:pPr>
            <a:r>
              <a:rPr sz="3400" b="0" i="0">
                <a:solidFill>
                  <a:srgbClr val="F7F4EE"/>
                </a:solidFill>
                <a:latin typeface="Georgia"/>
              </a:rPr>
              <a:t>Three strains, three different sugar coats,</a:t>
            </a:r>
          </a:p>
          <a:p>
            <a:pPr algn="l">
              <a:lnSpc>
                <a:spcPct val="120000"/>
              </a:lnSpc>
            </a:pPr>
            <a:r>
              <a:rPr sz="3400" b="0" i="0">
                <a:solidFill>
                  <a:srgbClr val="F7F4EE"/>
                </a:solidFill>
                <a:latin typeface="Georgia"/>
              </a:rPr>
              <a:t>one phage that kills one of them.</a:t>
            </a:r>
          </a:p>
        </p:txBody>
      </p:sp>
      <p:sp>
        <p:nvSpPr>
          <p:cNvPr id="5" name="TextBox 4"/>
          <p:cNvSpPr txBox="1"/>
          <p:nvPr/>
        </p:nvSpPr>
        <p:spPr>
          <a:xfrm>
            <a:off x="658368" y="4983480"/>
            <a:ext cx="9692640" cy="1188720"/>
          </a:xfrm>
          <a:prstGeom prst="rect">
            <a:avLst/>
          </a:prstGeom>
          <a:noFill/>
        </p:spPr>
        <p:txBody>
          <a:bodyPr wrap="square" anchor="t" lIns="0" rIns="0" tIns="0" bIns="0">
            <a:spAutoFit/>
          </a:bodyPr>
          <a:lstStyle/>
          <a:p>
            <a:pPr algn="l">
              <a:lnSpc>
                <a:spcPct val="135000"/>
              </a:lnSpc>
            </a:pPr>
            <a:r>
              <a:rPr sz="1900" b="0" i="0">
                <a:solidFill>
                  <a:srgbClr val="C8D8D4"/>
                </a:solidFill>
                <a:latin typeface="Avenir Next"/>
              </a:rPr>
              <a:t>So the sugar coat might be one of the main things setting what Φ8 can attack.</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21</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CYCLE 1 OF FOUR</a:t>
            </a:r>
          </a:p>
        </p:txBody>
      </p:sp>
      <p:pic>
        <p:nvPicPr>
          <p:cNvPr id="5" name="!!frame" descr="01-cycle.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22</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CYCLE 1 · DESIGN</a:t>
            </a:r>
          </a:p>
        </p:txBody>
      </p:sp>
      <p:sp>
        <p:nvSpPr>
          <p:cNvPr id="5" name="TextBox 4"/>
          <p:cNvSpPr txBox="1"/>
          <p:nvPr/>
        </p:nvSpPr>
        <p:spPr>
          <a:xfrm>
            <a:off x="658368" y="896112"/>
            <a:ext cx="10874959" cy="1143000"/>
          </a:xfrm>
          <a:prstGeom prst="rect">
            <a:avLst/>
          </a:prstGeom>
          <a:noFill/>
        </p:spPr>
        <p:txBody>
          <a:bodyPr wrap="square" anchor="t" lIns="0" rIns="0" tIns="0" bIns="0">
            <a:spAutoFit/>
          </a:bodyPr>
          <a:lstStyle/>
          <a:p>
            <a:pPr algn="l">
              <a:lnSpc>
                <a:spcPct val="112000"/>
              </a:lnSpc>
            </a:pPr>
            <a:r>
              <a:rPr sz="2900" b="0" i="0">
                <a:solidFill>
                  <a:srgbClr val="24383A"/>
                </a:solidFill>
                <a:latin typeface="Georgia"/>
              </a:rPr>
              <a:t>We designed it around the wrong assumption</a:t>
            </a:r>
          </a:p>
        </p:txBody>
      </p:sp>
      <p:pic>
        <p:nvPicPr>
          <p:cNvPr id="6" name="Picture 5" descr="virion.png"/>
          <p:cNvPicPr>
            <a:picLocks noChangeAspect="1"/>
          </p:cNvPicPr>
          <p:nvPr/>
        </p:nvPicPr>
        <p:blipFill>
          <a:blip r:embed="rId2"/>
          <a:stretch>
            <a:fillRect/>
          </a:stretch>
        </p:blipFill>
        <p:spPr>
          <a:xfrm>
            <a:off x="1565444" y="2286000"/>
            <a:ext cx="4129448" cy="3749039"/>
          </a:xfrm>
          <a:prstGeom prst="rect">
            <a:avLst/>
          </a:prstGeom>
        </p:spPr>
      </p:pic>
      <p:sp>
        <p:nvSpPr>
          <p:cNvPr id="7" name="TextBox 6"/>
          <p:cNvSpPr txBox="1"/>
          <p:nvPr/>
        </p:nvSpPr>
        <p:spPr>
          <a:xfrm>
            <a:off x="7059168" y="2240280"/>
            <a:ext cx="4663440" cy="4023360"/>
          </a:xfrm>
          <a:prstGeom prst="rect">
            <a:avLst/>
          </a:prstGeom>
          <a:noFill/>
        </p:spPr>
        <p:txBody>
          <a:bodyPr wrap="square" anchor="t" lIns="0" rIns="0" tIns="0" bIns="0">
            <a:spAutoFit/>
          </a:bodyPr>
          <a:lstStyle/>
          <a:p>
            <a:pPr algn="l">
              <a:lnSpc>
                <a:spcPct val="138000"/>
              </a:lnSpc>
            </a:pPr>
            <a:r>
              <a:rPr sz="1600" b="0" i="0">
                <a:solidFill>
                  <a:srgbClr val="6B7674"/>
                </a:solidFill>
                <a:latin typeface="Avenir Next"/>
              </a:rPr>
              <a:t>The textbook picture of attachment is a receptor-binding protein on the phage tail meeting a protein on the bacterial surface. Lock and key.</a:t>
            </a:r>
          </a:p>
          <a:p>
            <a:pPr algn="l">
              <a:lnSpc>
                <a:spcPct val="138000"/>
              </a:lnSpc>
            </a:pPr>
            <a:r>
              <a:rPr sz="1600" b="0" i="0">
                <a:solidFill>
                  <a:srgbClr val="6B7674"/>
                </a:solidFill>
                <a:latin typeface="Avenir Next"/>
              </a:rPr>
              <a:t/>
            </a:r>
          </a:p>
          <a:p>
            <a:pPr algn="l">
              <a:lnSpc>
                <a:spcPct val="138000"/>
              </a:lnSpc>
            </a:pPr>
            <a:r>
              <a:rPr sz="1600" b="0" i="0">
                <a:solidFill>
                  <a:srgbClr val="6B7674"/>
                </a:solidFill>
                <a:latin typeface="Avenir Next"/>
              </a:rPr>
              <a:t>If you assume that, the obvious move is to work out which binding protein fits which receptor. So that is what we set out to predict.</a:t>
            </a:r>
          </a:p>
          <a:p>
            <a:pPr algn="l">
              <a:lnSpc>
                <a:spcPct val="138000"/>
              </a:lnSpc>
            </a:pPr>
            <a:r>
              <a:rPr sz="1600" b="0" i="0">
                <a:solidFill>
                  <a:srgbClr val="6B7674"/>
                </a:solidFill>
                <a:latin typeface="Avenir Next"/>
              </a:rPr>
              <a:t/>
            </a:r>
          </a:p>
          <a:p>
            <a:pPr algn="l">
              <a:lnSpc>
                <a:spcPct val="138000"/>
              </a:lnSpc>
            </a:pPr>
            <a:r>
              <a:rPr sz="1600" b="0" i="0">
                <a:solidFill>
                  <a:srgbClr val="6B7674"/>
                </a:solidFill>
                <a:latin typeface="Avenir Next"/>
              </a:rPr>
              <a:t>If we had known the receptor was a sugar, we would never have run this.</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23</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CYCLE 1 · BUILD AND TEST</a:t>
            </a:r>
          </a:p>
        </p:txBody>
      </p:sp>
      <p:pic>
        <p:nvPicPr>
          <p:cNvPr id="5" name="!!frame" descr="01-matrix.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24</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CYCLE 1 · BUILD AND TEST</a:t>
            </a:r>
          </a:p>
        </p:txBody>
      </p:sp>
      <p:pic>
        <p:nvPicPr>
          <p:cNvPr id="5" name="!!frame" descr="02-scored.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25</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CYCLE 1 · BUILD AND TEST</a:t>
            </a:r>
          </a:p>
        </p:txBody>
      </p:sp>
      <p:pic>
        <p:nvPicPr>
          <p:cNvPr id="5" name="!!frame" descr="03-controls-in.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26</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CYCLE 1 · BUILD AND TEST</a:t>
            </a:r>
          </a:p>
        </p:txBody>
      </p:sp>
      <p:pic>
        <p:nvPicPr>
          <p:cNvPr id="5" name="!!frame" descr="04-no-separation.png"/>
          <p:cNvPicPr>
            <a:picLocks noChangeAspect="1"/>
          </p:cNvPicPr>
          <p:nvPr/>
        </p:nvPicPr>
        <p:blipFill>
          <a:blip r:embed="rId2"/>
          <a:stretch>
            <a:fillRect/>
          </a:stretch>
        </p:blipFill>
        <p:spPr>
          <a:xfrm>
            <a:off x="658368" y="1139377"/>
            <a:ext cx="10874959" cy="502730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27</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CYCLE 1 · BUILD AND TEST</a:t>
            </a:r>
          </a:p>
        </p:txBody>
      </p:sp>
      <p:pic>
        <p:nvPicPr>
          <p:cNvPr id="5" name="!!frame" descr="05-retired.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28</a:t>
            </a:r>
          </a:p>
        </p:txBody>
      </p:sp>
      <p:sp>
        <p:nvSpPr>
          <p:cNvPr id="3" name="Rectangle 2"/>
          <p:cNvSpPr/>
          <p:nvPr/>
        </p:nvSpPr>
        <p:spPr>
          <a:xfrm>
            <a:off x="658368" y="384048"/>
            <a:ext cx="118872" cy="256032"/>
          </a:xfrm>
          <a:prstGeom prst="rect">
            <a:avLst/>
          </a:prstGeom>
          <a:solidFill>
            <a:srgbClr val="B45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B4542E"/>
                </a:solidFill>
                <a:latin typeface="Avenir Next"/>
              </a:rPr>
              <a:t>CYCLE 1 · TEST</a:t>
            </a:r>
          </a:p>
        </p:txBody>
      </p:sp>
      <p:sp>
        <p:nvSpPr>
          <p:cNvPr id="5" name="TextBox 4"/>
          <p:cNvSpPr txBox="1"/>
          <p:nvPr/>
        </p:nvSpPr>
        <p:spPr>
          <a:xfrm>
            <a:off x="658368" y="841248"/>
            <a:ext cx="10874959" cy="777240"/>
          </a:xfrm>
          <a:prstGeom prst="rect">
            <a:avLst/>
          </a:prstGeom>
          <a:noFill/>
        </p:spPr>
        <p:txBody>
          <a:bodyPr wrap="square" anchor="t" lIns="0" rIns="0" tIns="0" bIns="0">
            <a:spAutoFit/>
          </a:bodyPr>
          <a:lstStyle/>
          <a:p>
            <a:pPr algn="l">
              <a:lnSpc>
                <a:spcPct val="112000"/>
              </a:lnSpc>
            </a:pPr>
            <a:r>
              <a:rPr sz="2500" b="0" i="0">
                <a:solidFill>
                  <a:srgbClr val="24383A"/>
                </a:solidFill>
                <a:latin typeface="Georgia"/>
              </a:rPr>
              <a:t>The controls, in both tools</a:t>
            </a:r>
          </a:p>
        </p:txBody>
      </p:sp>
      <p:pic>
        <p:nvPicPr>
          <p:cNvPr id="6" name="Picture 5" descr="controls.png"/>
          <p:cNvPicPr>
            <a:picLocks noChangeAspect="1"/>
          </p:cNvPicPr>
          <p:nvPr/>
        </p:nvPicPr>
        <p:blipFill>
          <a:blip r:embed="rId2"/>
          <a:stretch>
            <a:fillRect/>
          </a:stretch>
        </p:blipFill>
        <p:spPr>
          <a:xfrm>
            <a:off x="1045382" y="1783080"/>
            <a:ext cx="10100930" cy="4343400"/>
          </a:xfrm>
          <a:prstGeom prst="rect">
            <a:avLst/>
          </a:prstGeom>
        </p:spPr>
      </p:pic>
      <p:sp>
        <p:nvSpPr>
          <p:cNvPr id="7" name="TextBox 6"/>
          <p:cNvSpPr txBox="1"/>
          <p:nvPr/>
        </p:nvSpPr>
        <p:spPr>
          <a:xfrm>
            <a:off x="658368" y="6309360"/>
            <a:ext cx="10051999" cy="365760"/>
          </a:xfrm>
          <a:prstGeom prst="rect">
            <a:avLst/>
          </a:prstGeom>
          <a:noFill/>
        </p:spPr>
        <p:txBody>
          <a:bodyPr wrap="square" anchor="t" lIns="0" rIns="0" tIns="0" bIns="0">
            <a:spAutoFit/>
          </a:bodyPr>
          <a:lstStyle/>
          <a:p>
            <a:pPr algn="l">
              <a:lnSpc>
                <a:spcPct val="120000"/>
              </a:lnSpc>
            </a:pPr>
            <a:r>
              <a:rPr sz="1200" b="0" i="0">
                <a:solidFill>
                  <a:srgbClr val="6B7674"/>
                </a:solidFill>
                <a:latin typeface="Avenir Next"/>
              </a:rPr>
              <a:t>Under AlphaFold2 with real alignments the mismatched pair outscores every genuine binder. Scores tracked protein length at r = +0.60.</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29</a:t>
            </a:r>
          </a:p>
        </p:txBody>
      </p:sp>
      <p:sp>
        <p:nvSpPr>
          <p:cNvPr id="3" name="Rectangle 2"/>
          <p:cNvSpPr/>
          <p:nvPr/>
        </p:nvSpPr>
        <p:spPr>
          <a:xfrm>
            <a:off x="658368" y="384048"/>
            <a:ext cx="118872" cy="256032"/>
          </a:xfrm>
          <a:prstGeom prst="rect">
            <a:avLst/>
          </a:prstGeom>
          <a:solidFill>
            <a:srgbClr val="B45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B4542E"/>
                </a:solidFill>
                <a:latin typeface="Avenir Next"/>
              </a:rPr>
              <a:t>CYCLE 1 · LEARN — WHY IT CANNOT WORK</a:t>
            </a:r>
          </a:p>
        </p:txBody>
      </p:sp>
      <p:pic>
        <p:nvPicPr>
          <p:cNvPr id="5" name="!!frame" descr="01-question.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30</a:t>
            </a:r>
          </a:p>
        </p:txBody>
      </p:sp>
      <p:sp>
        <p:nvSpPr>
          <p:cNvPr id="3" name="Rectangle 2"/>
          <p:cNvSpPr/>
          <p:nvPr/>
        </p:nvSpPr>
        <p:spPr>
          <a:xfrm>
            <a:off x="658368" y="384048"/>
            <a:ext cx="118872" cy="256032"/>
          </a:xfrm>
          <a:prstGeom prst="rect">
            <a:avLst/>
          </a:prstGeom>
          <a:solidFill>
            <a:srgbClr val="B45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B4542E"/>
                </a:solidFill>
                <a:latin typeface="Avenir Next"/>
              </a:rPr>
              <a:t>CYCLE 1 · LEARN — WHY IT CANNOT WORK</a:t>
            </a:r>
          </a:p>
        </p:txBody>
      </p:sp>
      <p:pic>
        <p:nvPicPr>
          <p:cNvPr id="5" name="!!frame" descr="02-species.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31</a:t>
            </a:r>
          </a:p>
        </p:txBody>
      </p:sp>
      <p:sp>
        <p:nvSpPr>
          <p:cNvPr id="3" name="Rectangle 2"/>
          <p:cNvSpPr/>
          <p:nvPr/>
        </p:nvSpPr>
        <p:spPr>
          <a:xfrm>
            <a:off x="658368" y="384048"/>
            <a:ext cx="118872" cy="256032"/>
          </a:xfrm>
          <a:prstGeom prst="rect">
            <a:avLst/>
          </a:prstGeom>
          <a:solidFill>
            <a:srgbClr val="B45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B4542E"/>
                </a:solidFill>
                <a:latin typeface="Avenir Next"/>
              </a:rPr>
              <a:t>CYCLE 1 · LEARN — WHY IT CANNOT WORK</a:t>
            </a:r>
          </a:p>
        </p:txBody>
      </p:sp>
      <p:pic>
        <p:nvPicPr>
          <p:cNvPr id="5" name="!!frame" descr="03-covary.png"/>
          <p:cNvPicPr>
            <a:picLocks noChangeAspect="1"/>
          </p:cNvPicPr>
          <p:nvPr/>
        </p:nvPicPr>
        <p:blipFill>
          <a:blip r:embed="rId2"/>
          <a:stretch>
            <a:fillRect/>
          </a:stretch>
        </p:blipFill>
        <p:spPr>
          <a:xfrm>
            <a:off x="658368" y="1194848"/>
            <a:ext cx="10874959" cy="491635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32</a:t>
            </a:r>
          </a:p>
        </p:txBody>
      </p:sp>
      <p:sp>
        <p:nvSpPr>
          <p:cNvPr id="3" name="Rectangle 2"/>
          <p:cNvSpPr/>
          <p:nvPr/>
        </p:nvSpPr>
        <p:spPr>
          <a:xfrm>
            <a:off x="658368" y="384048"/>
            <a:ext cx="118872" cy="256032"/>
          </a:xfrm>
          <a:prstGeom prst="rect">
            <a:avLst/>
          </a:prstGeom>
          <a:solidFill>
            <a:srgbClr val="B45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B4542E"/>
                </a:solidFill>
                <a:latin typeface="Avenir Next"/>
              </a:rPr>
              <a:t>CYCLE 1 · LEARN — WHY IT CANNOT WORK</a:t>
            </a:r>
          </a:p>
        </p:txBody>
      </p:sp>
      <p:pic>
        <p:nvPicPr>
          <p:cNvPr id="5" name="!!frame" descr="04-fingerprint.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33</a:t>
            </a:r>
          </a:p>
        </p:txBody>
      </p:sp>
      <p:sp>
        <p:nvSpPr>
          <p:cNvPr id="3" name="Rectangle 2"/>
          <p:cNvSpPr/>
          <p:nvPr/>
        </p:nvSpPr>
        <p:spPr>
          <a:xfrm>
            <a:off x="658368" y="384048"/>
            <a:ext cx="118872" cy="256032"/>
          </a:xfrm>
          <a:prstGeom prst="rect">
            <a:avLst/>
          </a:prstGeom>
          <a:solidFill>
            <a:srgbClr val="B45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B4542E"/>
                </a:solidFill>
                <a:latin typeface="Avenir Next"/>
              </a:rPr>
              <a:t>CYCLE 1 · LEARN — WHY IT CANNOT WORK</a:t>
            </a:r>
          </a:p>
        </p:txBody>
      </p:sp>
      <p:pic>
        <p:nvPicPr>
          <p:cNvPr id="5" name="!!frame" descr="05-separate.png"/>
          <p:cNvPicPr>
            <a:picLocks noChangeAspect="1"/>
          </p:cNvPicPr>
          <p:nvPr/>
        </p:nvPicPr>
        <p:blipFill>
          <a:blip r:embed="rId2"/>
          <a:stretch>
            <a:fillRect/>
          </a:stretch>
        </p:blipFill>
        <p:spPr>
          <a:xfrm>
            <a:off x="658368" y="1194848"/>
            <a:ext cx="10874959" cy="491635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34</a:t>
            </a:r>
          </a:p>
        </p:txBody>
      </p:sp>
      <p:sp>
        <p:nvSpPr>
          <p:cNvPr id="3" name="Rectangle 2"/>
          <p:cNvSpPr/>
          <p:nvPr/>
        </p:nvSpPr>
        <p:spPr>
          <a:xfrm>
            <a:off x="658368" y="384048"/>
            <a:ext cx="118872" cy="256032"/>
          </a:xfrm>
          <a:prstGeom prst="rect">
            <a:avLst/>
          </a:prstGeom>
          <a:solidFill>
            <a:srgbClr val="B45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B4542E"/>
                </a:solidFill>
                <a:latin typeface="Avenir Next"/>
              </a:rPr>
              <a:t>CYCLE 1 · LEARN — WHY IT CANNOT WORK</a:t>
            </a:r>
          </a:p>
        </p:txBody>
      </p:sp>
      <p:pic>
        <p:nvPicPr>
          <p:cNvPr id="5" name="!!frame" descr="06-never-written.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B4542E"/>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8FB3AE"/>
                </a:solidFill>
                <a:latin typeface="Avenir Next"/>
              </a:rPr>
              <a:t>35</a:t>
            </a:r>
          </a:p>
        </p:txBody>
      </p:sp>
      <p:sp>
        <p:nvSpPr>
          <p:cNvPr id="3" name="TextBox 2"/>
          <p:cNvSpPr txBox="1"/>
          <p:nvPr/>
        </p:nvSpPr>
        <p:spPr>
          <a:xfrm>
            <a:off x="658368" y="1325880"/>
            <a:ext cx="10874959" cy="274320"/>
          </a:xfrm>
          <a:prstGeom prst="rect">
            <a:avLst/>
          </a:prstGeom>
          <a:noFill/>
        </p:spPr>
        <p:txBody>
          <a:bodyPr wrap="square" anchor="t" lIns="0" rIns="0" tIns="0" bIns="0">
            <a:spAutoFit/>
          </a:bodyPr>
          <a:lstStyle/>
          <a:p>
            <a:pPr algn="l">
              <a:lnSpc>
                <a:spcPct val="130000"/>
              </a:lnSpc>
            </a:pPr>
            <a:r>
              <a:rPr sz="1200" b="1" i="0">
                <a:solidFill>
                  <a:srgbClr val="C8D8D4"/>
                </a:solidFill>
                <a:latin typeface="Avenir Next"/>
              </a:rPr>
              <a:t>CYCLE 1 · LEARN</a:t>
            </a:r>
          </a:p>
        </p:txBody>
      </p:sp>
      <p:sp>
        <p:nvSpPr>
          <p:cNvPr id="4" name="TextBox 3"/>
          <p:cNvSpPr txBox="1"/>
          <p:nvPr/>
        </p:nvSpPr>
        <p:spPr>
          <a:xfrm>
            <a:off x="658368" y="1874519"/>
            <a:ext cx="10874959" cy="3017520"/>
          </a:xfrm>
          <a:prstGeom prst="rect">
            <a:avLst/>
          </a:prstGeom>
          <a:noFill/>
        </p:spPr>
        <p:txBody>
          <a:bodyPr wrap="square" anchor="t" lIns="0" rIns="0" tIns="0" bIns="0">
            <a:spAutoFit/>
          </a:bodyPr>
          <a:lstStyle/>
          <a:p>
            <a:pPr algn="l">
              <a:lnSpc>
                <a:spcPct val="120000"/>
              </a:lnSpc>
            </a:pPr>
            <a:r>
              <a:rPr sz="3400" b="0" i="0">
                <a:solidFill>
                  <a:srgbClr val="F7F4EE"/>
                </a:solidFill>
                <a:latin typeface="Georgia"/>
              </a:rPr>
              <a:t>This was never a result about our proteins.</a:t>
            </a:r>
          </a:p>
          <a:p>
            <a:pPr algn="l">
              <a:lnSpc>
                <a:spcPct val="120000"/>
              </a:lnSpc>
            </a:pPr>
            <a:r>
              <a:rPr sz="3400" b="0" i="0">
                <a:solidFill>
                  <a:srgbClr val="F7F4EE"/>
                </a:solidFill>
                <a:latin typeface="Georgia"/>
              </a:rPr>
              <a:t>It is a property of the method.</a:t>
            </a:r>
          </a:p>
        </p:txBody>
      </p:sp>
      <p:sp>
        <p:nvSpPr>
          <p:cNvPr id="5" name="TextBox 4"/>
          <p:cNvSpPr txBox="1"/>
          <p:nvPr/>
        </p:nvSpPr>
        <p:spPr>
          <a:xfrm>
            <a:off x="658368" y="4983480"/>
            <a:ext cx="9692640" cy="1188720"/>
          </a:xfrm>
          <a:prstGeom prst="rect">
            <a:avLst/>
          </a:prstGeom>
          <a:noFill/>
        </p:spPr>
        <p:txBody>
          <a:bodyPr wrap="square" anchor="t" lIns="0" rIns="0" tIns="0" bIns="0">
            <a:spAutoFit/>
          </a:bodyPr>
          <a:lstStyle/>
          <a:p>
            <a:pPr algn="l">
              <a:lnSpc>
                <a:spcPct val="135000"/>
              </a:lnSpc>
            </a:pPr>
            <a:r>
              <a:rPr sz="1900" b="0" i="0">
                <a:solidFill>
                  <a:srgbClr val="C8D8D4"/>
                </a:solidFill>
                <a:latin typeface="Avenir Next"/>
              </a:rPr>
              <a:t>Nine control folds decided the fate of seven thousand. We never ran the real screen.</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36</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CYCLE 2 OF FOUR</a:t>
            </a:r>
          </a:p>
        </p:txBody>
      </p:sp>
      <p:pic>
        <p:nvPicPr>
          <p:cNvPr id="5" name="!!frame" descr="02-cycle.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37</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CYCLE 2 · A FOLD TEST WITH NO DATABASE</a:t>
            </a:r>
          </a:p>
        </p:txBody>
      </p:sp>
      <p:pic>
        <p:nvPicPr>
          <p:cNvPr id="5" name="!!frame" descr="01-prism.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38</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CYCLE 2 · A FOLD TEST WITH NO DATABASE</a:t>
            </a:r>
          </a:p>
        </p:txBody>
      </p:sp>
      <p:pic>
        <p:nvPicPr>
          <p:cNvPr id="5" name="!!frame" descr="02-bonds.png"/>
          <p:cNvPicPr>
            <a:picLocks noChangeAspect="1"/>
          </p:cNvPicPr>
          <p:nvPr/>
        </p:nvPicPr>
        <p:blipFill>
          <a:blip r:embed="rId2"/>
          <a:stretch>
            <a:fillRect/>
          </a:stretch>
        </p:blipFill>
        <p:spPr>
          <a:xfrm>
            <a:off x="658368" y="1176108"/>
            <a:ext cx="10874959" cy="49538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39</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CYCLE 2 · A FOLD TEST WITH NO DATABASE</a:t>
            </a:r>
          </a:p>
        </p:txBody>
      </p:sp>
      <p:pic>
        <p:nvPicPr>
          <p:cNvPr id="5" name="!!frame" descr="03-histogram.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40</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CYCLE 2 · A FOLD TEST WITH NO DATABASE</a:t>
            </a:r>
          </a:p>
        </p:txBody>
      </p:sp>
      <p:pic>
        <p:nvPicPr>
          <p:cNvPr id="5" name="!!frame" descr="04-three-folds.png"/>
          <p:cNvPicPr>
            <a:picLocks noChangeAspect="1"/>
          </p:cNvPicPr>
          <p:nvPr/>
        </p:nvPicPr>
        <p:blipFill>
          <a:blip r:embed="rId2"/>
          <a:stretch>
            <a:fillRect/>
          </a:stretch>
        </p:blipFill>
        <p:spPr>
          <a:xfrm>
            <a:off x="658368" y="1188633"/>
            <a:ext cx="10874959" cy="492878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41</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CYCLE 2 · TEST</a:t>
            </a:r>
          </a:p>
        </p:txBody>
      </p:sp>
      <p:sp>
        <p:nvSpPr>
          <p:cNvPr id="5" name="TextBox 4"/>
          <p:cNvSpPr txBox="1"/>
          <p:nvPr/>
        </p:nvSpPr>
        <p:spPr>
          <a:xfrm>
            <a:off x="658368" y="841248"/>
            <a:ext cx="10874959" cy="777240"/>
          </a:xfrm>
          <a:prstGeom prst="rect">
            <a:avLst/>
          </a:prstGeom>
          <a:noFill/>
        </p:spPr>
        <p:txBody>
          <a:bodyPr wrap="square" anchor="t" lIns="0" rIns="0" tIns="0" bIns="0">
            <a:spAutoFit/>
          </a:bodyPr>
          <a:lstStyle/>
          <a:p>
            <a:pPr algn="l">
              <a:lnSpc>
                <a:spcPct val="112000"/>
              </a:lnSpc>
            </a:pPr>
            <a:r>
              <a:rPr sz="2500" b="0" i="0">
                <a:solidFill>
                  <a:srgbClr val="24383A"/>
                </a:solidFill>
                <a:latin typeface="Georgia"/>
              </a:rPr>
              <a:t>Eight predicted structures, seven proteins — five of them turned down</a:t>
            </a:r>
          </a:p>
        </p:txBody>
      </p:sp>
      <p:pic>
        <p:nvPicPr>
          <p:cNvPr id="6" name="Picture 5" descr="folds.png"/>
          <p:cNvPicPr>
            <a:picLocks noChangeAspect="1"/>
          </p:cNvPicPr>
          <p:nvPr/>
        </p:nvPicPr>
        <p:blipFill>
          <a:blip r:embed="rId2"/>
          <a:stretch>
            <a:fillRect/>
          </a:stretch>
        </p:blipFill>
        <p:spPr>
          <a:xfrm>
            <a:off x="2919687" y="1783080"/>
            <a:ext cx="6352321" cy="4343400"/>
          </a:xfrm>
          <a:prstGeom prst="rect">
            <a:avLst/>
          </a:prstGeom>
        </p:spPr>
      </p:pic>
      <p:sp>
        <p:nvSpPr>
          <p:cNvPr id="7" name="TextBox 6"/>
          <p:cNvSpPr txBox="1"/>
          <p:nvPr/>
        </p:nvSpPr>
        <p:spPr>
          <a:xfrm>
            <a:off x="658368" y="6309360"/>
            <a:ext cx="10051999" cy="365760"/>
          </a:xfrm>
          <a:prstGeom prst="rect">
            <a:avLst/>
          </a:prstGeom>
          <a:noFill/>
        </p:spPr>
        <p:txBody>
          <a:bodyPr wrap="square" anchor="t" lIns="0" rIns="0" tIns="0" bIns="0">
            <a:spAutoFit/>
          </a:bodyPr>
          <a:lstStyle/>
          <a:p>
            <a:pPr algn="l">
              <a:lnSpc>
                <a:spcPct val="120000"/>
              </a:lnSpc>
            </a:pPr>
            <a:r>
              <a:rPr sz="1200" b="0" i="0">
                <a:solidFill>
                  <a:srgbClr val="6B7674"/>
                </a:solidFill>
                <a:latin typeface="Avenir Next"/>
              </a:rPr>
              <a:t>CDS 11, the tail spike: classifier confidence 0.997, coil period 16–17. CDS 24, filed as “hypothetical”: 0.998 on a different period — a second depolymerase homology annotation had missed.</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42</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CYCLE 2 · THE SAME PROTEIN, THREE WAYS</a:t>
            </a:r>
          </a:p>
        </p:txBody>
      </p:sp>
      <p:pic>
        <p:nvPicPr>
          <p:cNvPr id="5" name="!!spine" descr="trimer.png"/>
          <p:cNvPicPr>
            <a:picLocks noChangeAspect="1"/>
          </p:cNvPicPr>
          <p:nvPr/>
        </p:nvPicPr>
        <p:blipFill>
          <a:blip r:embed="rId2"/>
          <a:stretch>
            <a:fillRect/>
          </a:stretch>
        </p:blipFill>
        <p:spPr>
          <a:xfrm>
            <a:off x="2009286" y="914400"/>
            <a:ext cx="2967443" cy="5394959"/>
          </a:xfrm>
          <a:prstGeom prst="rect">
            <a:avLst/>
          </a:prstGeom>
        </p:spPr>
      </p:pic>
      <p:sp>
        <p:nvSpPr>
          <p:cNvPr id="6" name="TextBox 5"/>
          <p:cNvSpPr txBox="1"/>
          <p:nvPr/>
        </p:nvSpPr>
        <p:spPr>
          <a:xfrm>
            <a:off x="7059168" y="2286000"/>
            <a:ext cx="4754880" cy="1005840"/>
          </a:xfrm>
          <a:prstGeom prst="rect">
            <a:avLst/>
          </a:prstGeom>
          <a:noFill/>
        </p:spPr>
        <p:txBody>
          <a:bodyPr wrap="square" anchor="t" lIns="0" rIns="0" tIns="0" bIns="0">
            <a:spAutoFit/>
          </a:bodyPr>
          <a:lstStyle/>
          <a:p>
            <a:pPr algn="l">
              <a:lnSpc>
                <a:spcPct val="115000"/>
              </a:lnSpc>
            </a:pPr>
            <a:r>
              <a:rPr sz="2800" b="0" i="0">
                <a:solidFill>
                  <a:srgbClr val="24383A"/>
                </a:solidFill>
                <a:latin typeface="Georgia"/>
              </a:rPr>
              <a:t>The tail spike, whole</a:t>
            </a:r>
          </a:p>
        </p:txBody>
      </p:sp>
      <p:sp>
        <p:nvSpPr>
          <p:cNvPr id="7" name="TextBox 6"/>
          <p:cNvSpPr txBox="1"/>
          <p:nvPr/>
        </p:nvSpPr>
        <p:spPr>
          <a:xfrm>
            <a:off x="7059168" y="3383280"/>
            <a:ext cx="4572000" cy="1828800"/>
          </a:xfrm>
          <a:prstGeom prst="rect">
            <a:avLst/>
          </a:prstGeom>
          <a:noFill/>
        </p:spPr>
        <p:txBody>
          <a:bodyPr wrap="square" anchor="t" lIns="0" rIns="0" tIns="0" bIns="0">
            <a:spAutoFit/>
          </a:bodyPr>
          <a:lstStyle/>
          <a:p>
            <a:pPr algn="l">
              <a:lnSpc>
                <a:spcPct val="140000"/>
              </a:lnSpc>
            </a:pPr>
            <a:r>
              <a:rPr sz="1800" b="0" i="0">
                <a:solidFill>
                  <a:srgbClr val="6B7674"/>
                </a:solidFill>
                <a:latin typeface="Avenir Next"/>
              </a:rPr>
              <a:t>CDS 11 is 941 residues, and it hangs off the virion base.</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43</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CYCLE 2 · THE SAME PROTEIN, THREE WAYS</a:t>
            </a:r>
          </a:p>
        </p:txBody>
      </p:sp>
      <p:pic>
        <p:nvPicPr>
          <p:cNvPr id="5" name="!!spine" descr="body-side.png"/>
          <p:cNvPicPr>
            <a:picLocks noChangeAspect="1"/>
          </p:cNvPicPr>
          <p:nvPr/>
        </p:nvPicPr>
        <p:blipFill>
          <a:blip r:embed="rId2"/>
          <a:stretch>
            <a:fillRect/>
          </a:stretch>
        </p:blipFill>
        <p:spPr>
          <a:xfrm>
            <a:off x="2062265" y="914400"/>
            <a:ext cx="2861486" cy="5394960"/>
          </a:xfrm>
          <a:prstGeom prst="rect">
            <a:avLst/>
          </a:prstGeom>
        </p:spPr>
      </p:pic>
      <p:sp>
        <p:nvSpPr>
          <p:cNvPr id="6" name="TextBox 5"/>
          <p:cNvSpPr txBox="1"/>
          <p:nvPr/>
        </p:nvSpPr>
        <p:spPr>
          <a:xfrm>
            <a:off x="7059168" y="2286000"/>
            <a:ext cx="4754880" cy="1005840"/>
          </a:xfrm>
          <a:prstGeom prst="rect">
            <a:avLst/>
          </a:prstGeom>
          <a:noFill/>
        </p:spPr>
        <p:txBody>
          <a:bodyPr wrap="square" anchor="t" lIns="0" rIns="0" tIns="0" bIns="0">
            <a:spAutoFit/>
          </a:bodyPr>
          <a:lstStyle/>
          <a:p>
            <a:pPr algn="l">
              <a:lnSpc>
                <a:spcPct val="115000"/>
              </a:lnSpc>
            </a:pPr>
            <a:r>
              <a:rPr sz="2800" b="0" i="0">
                <a:solidFill>
                  <a:srgbClr val="24383A"/>
                </a:solidFill>
                <a:latin typeface="Georgia"/>
              </a:rPr>
              <a:t>Most of it isn't the enzyme</a:t>
            </a:r>
          </a:p>
        </p:txBody>
      </p:sp>
      <p:sp>
        <p:nvSpPr>
          <p:cNvPr id="7" name="TextBox 6"/>
          <p:cNvSpPr txBox="1"/>
          <p:nvPr/>
        </p:nvSpPr>
        <p:spPr>
          <a:xfrm>
            <a:off x="7059168" y="3383280"/>
            <a:ext cx="4572000" cy="1828800"/>
          </a:xfrm>
          <a:prstGeom prst="rect">
            <a:avLst/>
          </a:prstGeom>
          <a:noFill/>
        </p:spPr>
        <p:txBody>
          <a:bodyPr wrap="square" anchor="t" lIns="0" rIns="0" tIns="0" bIns="0">
            <a:spAutoFit/>
          </a:bodyPr>
          <a:lstStyle/>
          <a:p>
            <a:pPr algn="l">
              <a:lnSpc>
                <a:spcPct val="140000"/>
              </a:lnSpc>
            </a:pPr>
            <a:r>
              <a:rPr sz="1800" b="0" i="0">
                <a:solidFill>
                  <a:srgbClr val="6B7674"/>
                </a:solidFill>
                <a:latin typeface="Avenir Next"/>
              </a:rPr>
              <a:t>The first 110 residues anchor it. The next 200 are a shaft that moves between every model we ran.</a:t>
            </a:r>
          </a:p>
        </p:txBody>
      </p:sp>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44</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CYCLE 2 · THE SAME PROTEIN, THREE WAYS</a:t>
            </a:r>
          </a:p>
        </p:txBody>
      </p:sp>
      <p:pic>
        <p:nvPicPr>
          <p:cNvPr id="5" name="!!spine" descr="body-axial.png"/>
          <p:cNvPicPr>
            <a:picLocks noChangeAspect="1"/>
          </p:cNvPicPr>
          <p:nvPr/>
        </p:nvPicPr>
        <p:blipFill>
          <a:blip r:embed="rId2"/>
          <a:stretch>
            <a:fillRect/>
          </a:stretch>
        </p:blipFill>
        <p:spPr>
          <a:xfrm>
            <a:off x="888109" y="914400"/>
            <a:ext cx="5209797" cy="5394960"/>
          </a:xfrm>
          <a:prstGeom prst="rect">
            <a:avLst/>
          </a:prstGeom>
        </p:spPr>
      </p:pic>
      <p:sp>
        <p:nvSpPr>
          <p:cNvPr id="6" name="TextBox 5"/>
          <p:cNvSpPr txBox="1"/>
          <p:nvPr/>
        </p:nvSpPr>
        <p:spPr>
          <a:xfrm>
            <a:off x="7059168" y="2286000"/>
            <a:ext cx="4754880" cy="1005840"/>
          </a:xfrm>
          <a:prstGeom prst="rect">
            <a:avLst/>
          </a:prstGeom>
          <a:noFill/>
        </p:spPr>
        <p:txBody>
          <a:bodyPr wrap="square" anchor="t" lIns="0" rIns="0" tIns="0" bIns="0">
            <a:spAutoFit/>
          </a:bodyPr>
          <a:lstStyle/>
          <a:p>
            <a:pPr algn="l">
              <a:lnSpc>
                <a:spcPct val="115000"/>
              </a:lnSpc>
            </a:pPr>
            <a:r>
              <a:rPr sz="2800" b="0" i="0">
                <a:solidFill>
                  <a:srgbClr val="24383A"/>
                </a:solidFill>
                <a:latin typeface="Georgia"/>
              </a:rPr>
              <a:t>The rigid trimeric body</a:t>
            </a:r>
          </a:p>
        </p:txBody>
      </p:sp>
      <p:sp>
        <p:nvSpPr>
          <p:cNvPr id="7" name="TextBox 6"/>
          <p:cNvSpPr txBox="1"/>
          <p:nvPr/>
        </p:nvSpPr>
        <p:spPr>
          <a:xfrm>
            <a:off x="7059168" y="3383280"/>
            <a:ext cx="4572000" cy="1828800"/>
          </a:xfrm>
          <a:prstGeom prst="rect">
            <a:avLst/>
          </a:prstGeom>
          <a:noFill/>
        </p:spPr>
        <p:txBody>
          <a:bodyPr wrap="square" anchor="t" lIns="0" rIns="0" tIns="0" bIns="0">
            <a:spAutoFit/>
          </a:bodyPr>
          <a:lstStyle/>
          <a:p>
            <a:pPr algn="l">
              <a:lnSpc>
                <a:spcPct val="140000"/>
              </a:lnSpc>
            </a:pPr>
            <a:r>
              <a:rPr sz="1800" b="0" i="0">
                <a:solidFill>
                  <a:srgbClr val="6B7674"/>
                </a:solidFill>
                <a:latin typeface="Avenir Next"/>
              </a:rPr>
              <a:t>From residue 300 to the end, agreeing between models to within one ångström. Submitted as BBa_26DKNAEC, residues 305–941.</a:t>
            </a:r>
          </a:p>
        </p:txBody>
      </p:sp>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2D6A6A"/>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8FB3AE"/>
                </a:solidFill>
                <a:latin typeface="Avenir Next"/>
              </a:rPr>
              <a:t>45</a:t>
            </a:r>
          </a:p>
        </p:txBody>
      </p:sp>
      <p:sp>
        <p:nvSpPr>
          <p:cNvPr id="3" name="TextBox 2"/>
          <p:cNvSpPr txBox="1"/>
          <p:nvPr/>
        </p:nvSpPr>
        <p:spPr>
          <a:xfrm>
            <a:off x="658368" y="1325880"/>
            <a:ext cx="10874959" cy="274320"/>
          </a:xfrm>
          <a:prstGeom prst="rect">
            <a:avLst/>
          </a:prstGeom>
          <a:noFill/>
        </p:spPr>
        <p:txBody>
          <a:bodyPr wrap="square" anchor="t" lIns="0" rIns="0" tIns="0" bIns="0">
            <a:spAutoFit/>
          </a:bodyPr>
          <a:lstStyle/>
          <a:p>
            <a:pPr algn="l">
              <a:lnSpc>
                <a:spcPct val="130000"/>
              </a:lnSpc>
            </a:pPr>
            <a:r>
              <a:rPr sz="1200" b="1" i="0">
                <a:solidFill>
                  <a:srgbClr val="C8D8D4"/>
                </a:solidFill>
                <a:latin typeface="Avenir Next"/>
              </a:rPr>
              <a:t>CYCLE 2 · LEARN</a:t>
            </a:r>
          </a:p>
        </p:txBody>
      </p:sp>
      <p:sp>
        <p:nvSpPr>
          <p:cNvPr id="4" name="TextBox 3"/>
          <p:cNvSpPr txBox="1"/>
          <p:nvPr/>
        </p:nvSpPr>
        <p:spPr>
          <a:xfrm>
            <a:off x="658368" y="1874519"/>
            <a:ext cx="10874959" cy="3017520"/>
          </a:xfrm>
          <a:prstGeom prst="rect">
            <a:avLst/>
          </a:prstGeom>
          <a:noFill/>
        </p:spPr>
        <p:txBody>
          <a:bodyPr wrap="square" anchor="t" lIns="0" rIns="0" tIns="0" bIns="0">
            <a:spAutoFit/>
          </a:bodyPr>
          <a:lstStyle/>
          <a:p>
            <a:pPr algn="l">
              <a:lnSpc>
                <a:spcPct val="120000"/>
              </a:lnSpc>
            </a:pPr>
            <a:r>
              <a:rPr sz="3400" b="0" i="0">
                <a:solidFill>
                  <a:srgbClr val="F7F4EE"/>
                </a:solidFill>
                <a:latin typeface="Georgia"/>
              </a:rPr>
              <a:t>The tail spike isn't a key.</a:t>
            </a:r>
          </a:p>
          <a:p>
            <a:pPr algn="l">
              <a:lnSpc>
                <a:spcPct val="120000"/>
              </a:lnSpc>
            </a:pPr>
            <a:r>
              <a:rPr sz="3400" b="0" i="0">
                <a:solidFill>
                  <a:srgbClr val="F7F4EE"/>
                </a:solidFill>
                <a:latin typeface="Georgia"/>
              </a:rPr>
              <a:t>It's a blade.</a:t>
            </a:r>
          </a:p>
        </p:txBody>
      </p:sp>
      <p:sp>
        <p:nvSpPr>
          <p:cNvPr id="5" name="TextBox 4"/>
          <p:cNvSpPr txBox="1"/>
          <p:nvPr/>
        </p:nvSpPr>
        <p:spPr>
          <a:xfrm>
            <a:off x="658368" y="4983480"/>
            <a:ext cx="9692640" cy="1188720"/>
          </a:xfrm>
          <a:prstGeom prst="rect">
            <a:avLst/>
          </a:prstGeom>
          <a:noFill/>
        </p:spPr>
        <p:txBody>
          <a:bodyPr wrap="square" anchor="t" lIns="0" rIns="0" tIns="0" bIns="0">
            <a:spAutoFit/>
          </a:bodyPr>
          <a:lstStyle/>
          <a:p>
            <a:pPr algn="l">
              <a:lnSpc>
                <a:spcPct val="135000"/>
              </a:lnSpc>
            </a:pPr>
            <a:r>
              <a:rPr sz="1900" b="0" i="0">
                <a:solidFill>
                  <a:srgbClr val="C8D8D4"/>
                </a:solidFill>
                <a:latin typeface="Avenir Next"/>
              </a:rPr>
              <a:t>Enzymes that chew through long sugar chains look like this. You can recognise a wood plane by its shape without being told what it cuts — and the lock we had spent months looking for doesn't exist.</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2D6A6A"/>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8FB3AE"/>
                </a:solidFill>
                <a:latin typeface="Avenir Next"/>
              </a:rPr>
              <a:t>46</a:t>
            </a:r>
          </a:p>
        </p:txBody>
      </p:sp>
      <p:sp>
        <p:nvSpPr>
          <p:cNvPr id="3" name="TextBox 2"/>
          <p:cNvSpPr txBox="1"/>
          <p:nvPr/>
        </p:nvSpPr>
        <p:spPr>
          <a:xfrm>
            <a:off x="658368" y="1325880"/>
            <a:ext cx="10874959" cy="274320"/>
          </a:xfrm>
          <a:prstGeom prst="rect">
            <a:avLst/>
          </a:prstGeom>
          <a:noFill/>
        </p:spPr>
        <p:txBody>
          <a:bodyPr wrap="square" anchor="t" lIns="0" rIns="0" tIns="0" bIns="0">
            <a:spAutoFit/>
          </a:bodyPr>
          <a:lstStyle/>
          <a:p>
            <a:pPr algn="l">
              <a:lnSpc>
                <a:spcPct val="130000"/>
              </a:lnSpc>
            </a:pPr>
            <a:r>
              <a:rPr sz="1200" b="1" i="0">
                <a:solidFill>
                  <a:srgbClr val="C8D8D4"/>
                </a:solidFill>
                <a:latin typeface="Avenir Next"/>
              </a:rPr>
              <a:t>THE CENTRAL HYPOTHESIS</a:t>
            </a:r>
          </a:p>
        </p:txBody>
      </p:sp>
      <p:sp>
        <p:nvSpPr>
          <p:cNvPr id="4" name="TextBox 3"/>
          <p:cNvSpPr txBox="1"/>
          <p:nvPr/>
        </p:nvSpPr>
        <p:spPr>
          <a:xfrm>
            <a:off x="658368" y="1874519"/>
            <a:ext cx="10874959" cy="3017520"/>
          </a:xfrm>
          <a:prstGeom prst="rect">
            <a:avLst/>
          </a:prstGeom>
          <a:noFill/>
        </p:spPr>
        <p:txBody>
          <a:bodyPr wrap="square" anchor="t" lIns="0" rIns="0" tIns="0" bIns="0">
            <a:spAutoFit/>
          </a:bodyPr>
          <a:lstStyle/>
          <a:p>
            <a:pPr algn="l">
              <a:lnSpc>
                <a:spcPct val="120000"/>
              </a:lnSpc>
            </a:pPr>
            <a:r>
              <a:rPr sz="3000" b="0" i="0">
                <a:solidFill>
                  <a:srgbClr val="F7F4EE"/>
                </a:solidFill>
                <a:latin typeface="Georgia"/>
              </a:rPr>
              <a:t>In bacteria that wrap themselves in sugar, the ceiling</a:t>
            </a:r>
          </a:p>
          <a:p>
            <a:pPr algn="l">
              <a:lnSpc>
                <a:spcPct val="120000"/>
              </a:lnSpc>
            </a:pPr>
            <a:r>
              <a:rPr sz="3000" b="0" i="0">
                <a:solidFill>
                  <a:srgbClr val="F7F4EE"/>
                </a:solidFill>
                <a:latin typeface="Georgia"/>
              </a:rPr>
              <a:t>on host range is set by what the depolymerase can digest —</a:t>
            </a:r>
          </a:p>
          <a:p>
            <a:pPr algn="l">
              <a:lnSpc>
                <a:spcPct val="120000"/>
              </a:lnSpc>
            </a:pPr>
            <a:r>
              <a:rPr sz="3000" b="0" i="0">
                <a:solidFill>
                  <a:srgbClr val="F7F4EE"/>
                </a:solidFill>
                <a:latin typeface="Georgia"/>
              </a:rPr>
              <a:t>not by which protein the tail binds.</a:t>
            </a:r>
          </a:p>
        </p:txBody>
      </p:sp>
      <p:sp>
        <p:nvSpPr>
          <p:cNvPr id="5" name="TextBox 4"/>
          <p:cNvSpPr txBox="1"/>
          <p:nvPr/>
        </p:nvSpPr>
        <p:spPr>
          <a:xfrm>
            <a:off x="658368" y="4983480"/>
            <a:ext cx="9692640" cy="1188720"/>
          </a:xfrm>
          <a:prstGeom prst="rect">
            <a:avLst/>
          </a:prstGeom>
          <a:noFill/>
        </p:spPr>
        <p:txBody>
          <a:bodyPr wrap="square" anchor="t" lIns="0" rIns="0" tIns="0" bIns="0">
            <a:spAutoFit/>
          </a:bodyPr>
          <a:lstStyle/>
          <a:p>
            <a:pPr algn="l">
              <a:lnSpc>
                <a:spcPct val="135000"/>
              </a:lnSpc>
            </a:pPr>
            <a:r>
              <a:rPr sz="1900" b="0" i="0">
                <a:solidFill>
                  <a:srgbClr val="C8D8D4"/>
                </a:solidFill>
                <a:latin typeface="Avenir Next"/>
              </a:rPr>
              <a:t>And the narrow specificity we see today is a narrowed-down version of something broader further back.    ·    Developed jointly with Prof. J. Cesar Ignacio Espinoza</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47</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A PREDICTION WE CAN FALSIFY</a:t>
            </a:r>
          </a:p>
        </p:txBody>
      </p:sp>
      <p:sp>
        <p:nvSpPr>
          <p:cNvPr id="5" name="TextBox 4"/>
          <p:cNvSpPr txBox="1"/>
          <p:nvPr/>
        </p:nvSpPr>
        <p:spPr>
          <a:xfrm>
            <a:off x="658368" y="896112"/>
            <a:ext cx="10874959" cy="822960"/>
          </a:xfrm>
          <a:prstGeom prst="rect">
            <a:avLst/>
          </a:prstGeom>
          <a:noFill/>
        </p:spPr>
        <p:txBody>
          <a:bodyPr wrap="square" anchor="t" lIns="0" rIns="0" tIns="0" bIns="0">
            <a:spAutoFit/>
          </a:bodyPr>
          <a:lstStyle/>
          <a:p>
            <a:pPr algn="l">
              <a:lnSpc>
                <a:spcPct val="130000"/>
              </a:lnSpc>
            </a:pPr>
            <a:r>
              <a:rPr sz="2700" b="0" i="0">
                <a:solidFill>
                  <a:srgbClr val="24383A"/>
                </a:solidFill>
                <a:latin typeface="Georgia"/>
              </a:rPr>
              <a:t>If the tail spike reads Strain 2's sugar, Φ8 should fail on the other two</a:t>
            </a:r>
          </a:p>
        </p:txBody>
      </p:sp>
      <p:sp>
        <p:nvSpPr>
          <p:cNvPr id="6" name="Rounded Rectangle 5"/>
          <p:cNvSpPr/>
          <p:nvPr/>
        </p:nvSpPr>
        <p:spPr>
          <a:xfrm>
            <a:off x="658368" y="2103120"/>
            <a:ext cx="6035040" cy="640080"/>
          </a:xfrm>
          <a:prstGeom prst="roundRect">
            <a:avLst>
              <a:gd name="adj" fmla="val 2000"/>
            </a:avLst>
          </a:prstGeom>
          <a:solidFill>
            <a:srgbClr val="EAF0EE"/>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96112" y="2295144"/>
            <a:ext cx="1828800" cy="457200"/>
          </a:xfrm>
          <a:prstGeom prst="rect">
            <a:avLst/>
          </a:prstGeom>
          <a:noFill/>
        </p:spPr>
        <p:txBody>
          <a:bodyPr wrap="square" anchor="t" lIns="0" rIns="0" tIns="0" bIns="0">
            <a:spAutoFit/>
          </a:bodyPr>
          <a:lstStyle/>
          <a:p>
            <a:pPr algn="l">
              <a:lnSpc>
                <a:spcPct val="130000"/>
              </a:lnSpc>
            </a:pPr>
            <a:r>
              <a:rPr sz="1500" b="1" i="0">
                <a:solidFill>
                  <a:srgbClr val="24383A"/>
                </a:solidFill>
                <a:latin typeface="Avenir Next"/>
              </a:rPr>
              <a:t>9-2-1 · 9-6-2</a:t>
            </a:r>
          </a:p>
        </p:txBody>
      </p:sp>
      <p:sp>
        <p:nvSpPr>
          <p:cNvPr id="8" name="TextBox 7"/>
          <p:cNvSpPr txBox="1"/>
          <p:nvPr/>
        </p:nvSpPr>
        <p:spPr>
          <a:xfrm>
            <a:off x="2852928" y="2295144"/>
            <a:ext cx="1463040" cy="457200"/>
          </a:xfrm>
          <a:prstGeom prst="rect">
            <a:avLst/>
          </a:prstGeom>
          <a:noFill/>
        </p:spPr>
        <p:txBody>
          <a:bodyPr wrap="square" anchor="t" lIns="0" rIns="0" tIns="0" bIns="0">
            <a:spAutoFit/>
          </a:bodyPr>
          <a:lstStyle/>
          <a:p>
            <a:pPr algn="l">
              <a:lnSpc>
                <a:spcPct val="130000"/>
              </a:lnSpc>
            </a:pPr>
            <a:r>
              <a:rPr sz="1500" b="0" i="0">
                <a:solidFill>
                  <a:srgbClr val="6B7674"/>
                </a:solidFill>
                <a:latin typeface="Avenir Next"/>
              </a:rPr>
              <a:t>Strain 2</a:t>
            </a:r>
          </a:p>
        </p:txBody>
      </p:sp>
      <p:sp>
        <p:nvSpPr>
          <p:cNvPr id="9" name="TextBox 8"/>
          <p:cNvSpPr txBox="1"/>
          <p:nvPr/>
        </p:nvSpPr>
        <p:spPr>
          <a:xfrm>
            <a:off x="4590288" y="2295144"/>
            <a:ext cx="1920240" cy="457200"/>
          </a:xfrm>
          <a:prstGeom prst="rect">
            <a:avLst/>
          </a:prstGeom>
          <a:noFill/>
        </p:spPr>
        <p:txBody>
          <a:bodyPr wrap="square" anchor="t" lIns="0" rIns="0" tIns="0" bIns="0">
            <a:spAutoFit/>
          </a:bodyPr>
          <a:lstStyle/>
          <a:p>
            <a:pPr algn="l">
              <a:lnSpc>
                <a:spcPct val="130000"/>
              </a:lnSpc>
            </a:pPr>
            <a:r>
              <a:rPr sz="1500" b="0" i="0">
                <a:solidFill>
                  <a:srgbClr val="6B7674"/>
                </a:solidFill>
                <a:latin typeface="Avenir Next"/>
              </a:rPr>
              <a:t>hosts of record</a:t>
            </a:r>
          </a:p>
        </p:txBody>
      </p:sp>
      <p:sp>
        <p:nvSpPr>
          <p:cNvPr id="10" name="Rounded Rectangle 9"/>
          <p:cNvSpPr/>
          <p:nvPr/>
        </p:nvSpPr>
        <p:spPr>
          <a:xfrm>
            <a:off x="658368" y="2816352"/>
            <a:ext cx="6035040" cy="640080"/>
          </a:xfrm>
          <a:prstGeom prst="roundRect">
            <a:avLst>
              <a:gd name="adj" fmla="val 20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96112" y="3008376"/>
            <a:ext cx="1828800" cy="457200"/>
          </a:xfrm>
          <a:prstGeom prst="rect">
            <a:avLst/>
          </a:prstGeom>
          <a:noFill/>
        </p:spPr>
        <p:txBody>
          <a:bodyPr wrap="square" anchor="t" lIns="0" rIns="0" tIns="0" bIns="0">
            <a:spAutoFit/>
          </a:bodyPr>
          <a:lstStyle/>
          <a:p>
            <a:pPr algn="l">
              <a:lnSpc>
                <a:spcPct val="130000"/>
              </a:lnSpc>
            </a:pPr>
            <a:r>
              <a:rPr sz="1500" b="1" i="0">
                <a:solidFill>
                  <a:srgbClr val="24383A"/>
                </a:solidFill>
                <a:latin typeface="Avenir Next"/>
              </a:rPr>
              <a:t>10-10-2</a:t>
            </a:r>
          </a:p>
        </p:txBody>
      </p:sp>
      <p:sp>
        <p:nvSpPr>
          <p:cNvPr id="12" name="TextBox 11"/>
          <p:cNvSpPr txBox="1"/>
          <p:nvPr/>
        </p:nvSpPr>
        <p:spPr>
          <a:xfrm>
            <a:off x="2852928" y="3008376"/>
            <a:ext cx="1463040" cy="457200"/>
          </a:xfrm>
          <a:prstGeom prst="rect">
            <a:avLst/>
          </a:prstGeom>
          <a:noFill/>
        </p:spPr>
        <p:txBody>
          <a:bodyPr wrap="square" anchor="t" lIns="0" rIns="0" tIns="0" bIns="0">
            <a:spAutoFit/>
          </a:bodyPr>
          <a:lstStyle/>
          <a:p>
            <a:pPr algn="l">
              <a:lnSpc>
                <a:spcPct val="130000"/>
              </a:lnSpc>
            </a:pPr>
            <a:r>
              <a:rPr sz="1500" b="0" i="0">
                <a:solidFill>
                  <a:srgbClr val="6B7674"/>
                </a:solidFill>
                <a:latin typeface="Avenir Next"/>
              </a:rPr>
              <a:t>Strain 1</a:t>
            </a:r>
          </a:p>
        </p:txBody>
      </p:sp>
      <p:sp>
        <p:nvSpPr>
          <p:cNvPr id="13" name="TextBox 12"/>
          <p:cNvSpPr txBox="1"/>
          <p:nvPr/>
        </p:nvSpPr>
        <p:spPr>
          <a:xfrm>
            <a:off x="4590288" y="3008376"/>
            <a:ext cx="1920240" cy="457200"/>
          </a:xfrm>
          <a:prstGeom prst="rect">
            <a:avLst/>
          </a:prstGeom>
          <a:noFill/>
        </p:spPr>
        <p:txBody>
          <a:bodyPr wrap="square" anchor="t" lIns="0" rIns="0" tIns="0" bIns="0">
            <a:spAutoFit/>
          </a:bodyPr>
          <a:lstStyle/>
          <a:p>
            <a:pPr algn="l">
              <a:lnSpc>
                <a:spcPct val="130000"/>
              </a:lnSpc>
            </a:pPr>
            <a:r>
              <a:rPr sz="1500" b="0" i="0">
                <a:solidFill>
                  <a:srgbClr val="6B7674"/>
                </a:solidFill>
                <a:latin typeface="Avenir Next"/>
              </a:rPr>
              <a:t>no plaques</a:t>
            </a:r>
          </a:p>
        </p:txBody>
      </p:sp>
      <p:sp>
        <p:nvSpPr>
          <p:cNvPr id="14" name="Rounded Rectangle 13"/>
          <p:cNvSpPr/>
          <p:nvPr/>
        </p:nvSpPr>
        <p:spPr>
          <a:xfrm>
            <a:off x="658368" y="3529584"/>
            <a:ext cx="6035040" cy="640080"/>
          </a:xfrm>
          <a:prstGeom prst="roundRect">
            <a:avLst>
              <a:gd name="adj" fmla="val 20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96112" y="3721608"/>
            <a:ext cx="1828800" cy="457200"/>
          </a:xfrm>
          <a:prstGeom prst="rect">
            <a:avLst/>
          </a:prstGeom>
          <a:noFill/>
        </p:spPr>
        <p:txBody>
          <a:bodyPr wrap="square" anchor="t" lIns="0" rIns="0" tIns="0" bIns="0">
            <a:spAutoFit/>
          </a:bodyPr>
          <a:lstStyle/>
          <a:p>
            <a:pPr algn="l">
              <a:lnSpc>
                <a:spcPct val="130000"/>
              </a:lnSpc>
            </a:pPr>
            <a:r>
              <a:rPr sz="1500" b="1" i="0">
                <a:solidFill>
                  <a:srgbClr val="24383A"/>
                </a:solidFill>
                <a:latin typeface="Avenir Next"/>
              </a:rPr>
              <a:t>8-10-2</a:t>
            </a:r>
          </a:p>
        </p:txBody>
      </p:sp>
      <p:sp>
        <p:nvSpPr>
          <p:cNvPr id="16" name="TextBox 15"/>
          <p:cNvSpPr txBox="1"/>
          <p:nvPr/>
        </p:nvSpPr>
        <p:spPr>
          <a:xfrm>
            <a:off x="2852928" y="3721608"/>
            <a:ext cx="1463040" cy="457200"/>
          </a:xfrm>
          <a:prstGeom prst="rect">
            <a:avLst/>
          </a:prstGeom>
          <a:noFill/>
        </p:spPr>
        <p:txBody>
          <a:bodyPr wrap="square" anchor="t" lIns="0" rIns="0" tIns="0" bIns="0">
            <a:spAutoFit/>
          </a:bodyPr>
          <a:lstStyle/>
          <a:p>
            <a:pPr algn="l">
              <a:lnSpc>
                <a:spcPct val="130000"/>
              </a:lnSpc>
            </a:pPr>
            <a:r>
              <a:rPr sz="1500" b="0" i="0">
                <a:solidFill>
                  <a:srgbClr val="6B7674"/>
                </a:solidFill>
                <a:latin typeface="Avenir Next"/>
              </a:rPr>
              <a:t>Strain 3</a:t>
            </a:r>
          </a:p>
        </p:txBody>
      </p:sp>
      <p:sp>
        <p:nvSpPr>
          <p:cNvPr id="17" name="TextBox 16"/>
          <p:cNvSpPr txBox="1"/>
          <p:nvPr/>
        </p:nvSpPr>
        <p:spPr>
          <a:xfrm>
            <a:off x="4590288" y="3721608"/>
            <a:ext cx="1920240" cy="457200"/>
          </a:xfrm>
          <a:prstGeom prst="rect">
            <a:avLst/>
          </a:prstGeom>
          <a:noFill/>
        </p:spPr>
        <p:txBody>
          <a:bodyPr wrap="square" anchor="t" lIns="0" rIns="0" tIns="0" bIns="0">
            <a:spAutoFit/>
          </a:bodyPr>
          <a:lstStyle/>
          <a:p>
            <a:pPr algn="l">
              <a:lnSpc>
                <a:spcPct val="130000"/>
              </a:lnSpc>
            </a:pPr>
            <a:r>
              <a:rPr sz="1500" b="0" i="0">
                <a:solidFill>
                  <a:srgbClr val="6B7674"/>
                </a:solidFill>
                <a:latin typeface="Avenir Next"/>
              </a:rPr>
              <a:t>no plaques</a:t>
            </a:r>
          </a:p>
        </p:txBody>
      </p:sp>
      <p:sp>
        <p:nvSpPr>
          <p:cNvPr id="18" name="TextBox 17"/>
          <p:cNvSpPr txBox="1"/>
          <p:nvPr/>
        </p:nvSpPr>
        <p:spPr>
          <a:xfrm>
            <a:off x="658368" y="4517136"/>
            <a:ext cx="6035040" cy="914400"/>
          </a:xfrm>
          <a:prstGeom prst="rect">
            <a:avLst/>
          </a:prstGeom>
          <a:noFill/>
        </p:spPr>
        <p:txBody>
          <a:bodyPr wrap="square" anchor="t" lIns="0" rIns="0" tIns="0" bIns="0">
            <a:spAutoFit/>
          </a:bodyPr>
          <a:lstStyle/>
          <a:p>
            <a:pPr algn="l">
              <a:lnSpc>
                <a:spcPct val="135000"/>
              </a:lnSpc>
            </a:pPr>
            <a:r>
              <a:rPr sz="1700" b="0" i="0">
                <a:solidFill>
                  <a:srgbClr val="6B7674"/>
                </a:solidFill>
                <a:latin typeface="Avenir Next"/>
              </a:rPr>
              <a:t>Eighteen host isolates spotted against two pooled lysates, July 2026.</a:t>
            </a:r>
          </a:p>
          <a:p>
            <a:pPr algn="l">
              <a:lnSpc>
                <a:spcPct val="135000"/>
              </a:lnSpc>
            </a:pPr>
            <a:r>
              <a:rPr sz="1700" b="0" i="0">
                <a:solidFill>
                  <a:srgbClr val="6B7674"/>
                </a:solidFill>
                <a:latin typeface="Avenir Next"/>
              </a:rPr>
              <a:t>That is the direction the prediction makes.</a:t>
            </a:r>
          </a:p>
        </p:txBody>
      </p:sp>
      <p:sp>
        <p:nvSpPr>
          <p:cNvPr id="19" name="Rounded Rectangle 18"/>
          <p:cNvSpPr/>
          <p:nvPr/>
        </p:nvSpPr>
        <p:spPr>
          <a:xfrm>
            <a:off x="7242048" y="2103120"/>
            <a:ext cx="4206240" cy="2834640"/>
          </a:xfrm>
          <a:prstGeom prst="roundRect">
            <a:avLst>
              <a:gd name="adj" fmla="val 6000"/>
            </a:avLst>
          </a:prstGeom>
          <a:solidFill>
            <a:srgbClr val="F6E7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516368" y="2340864"/>
            <a:ext cx="3657600" cy="566928"/>
          </a:xfrm>
          <a:prstGeom prst="rect">
            <a:avLst/>
          </a:prstGeom>
          <a:noFill/>
        </p:spPr>
        <p:txBody>
          <a:bodyPr wrap="square" anchor="t" lIns="0" rIns="0" tIns="0" bIns="0">
            <a:spAutoFit/>
          </a:bodyPr>
          <a:lstStyle/>
          <a:p>
            <a:pPr algn="l">
              <a:lnSpc>
                <a:spcPct val="130000"/>
              </a:lnSpc>
            </a:pPr>
            <a:r>
              <a:rPr sz="1600" b="1" i="0">
                <a:solidFill>
                  <a:srgbClr val="B4542E"/>
                </a:solidFill>
                <a:latin typeface="Avenir Next"/>
              </a:rPr>
              <a:t>Why we aren't calling it confirmed</a:t>
            </a:r>
          </a:p>
        </p:txBody>
      </p:sp>
      <p:sp>
        <p:nvSpPr>
          <p:cNvPr id="21" name="TextBox 20"/>
          <p:cNvSpPr txBox="1"/>
          <p:nvPr/>
        </p:nvSpPr>
        <p:spPr>
          <a:xfrm>
            <a:off x="7516368" y="2834640"/>
            <a:ext cx="3657600" cy="1920240"/>
          </a:xfrm>
          <a:prstGeom prst="rect">
            <a:avLst/>
          </a:prstGeom>
          <a:noFill/>
        </p:spPr>
        <p:txBody>
          <a:bodyPr wrap="square" anchor="t" lIns="0" rIns="0" tIns="0" bIns="0">
            <a:spAutoFit/>
          </a:bodyPr>
          <a:lstStyle/>
          <a:p>
            <a:pPr algn="l">
              <a:lnSpc>
                <a:spcPct val="135000"/>
              </a:lnSpc>
            </a:pPr>
            <a:r>
              <a:rPr sz="1500" b="0" i="0">
                <a:solidFill>
                  <a:srgbClr val="24383A"/>
                </a:solidFill>
                <a:latin typeface="Avenir Next"/>
              </a:rPr>
              <a:t>No no-phage control — a margin note on the page says only “need control”.</a:t>
            </a:r>
          </a:p>
          <a:p>
            <a:pPr algn="l">
              <a:lnSpc>
                <a:spcPct val="135000"/>
              </a:lnSpc>
            </a:pPr>
            <a:r>
              <a:rPr sz="1500" b="0" i="0">
                <a:solidFill>
                  <a:srgbClr val="24383A"/>
                </a:solidFill>
                <a:latin typeface="Avenir Next"/>
              </a:rPr>
              <a:t/>
            </a:r>
          </a:p>
          <a:p>
            <a:pPr algn="l">
              <a:lnSpc>
                <a:spcPct val="135000"/>
              </a:lnSpc>
            </a:pPr>
            <a:r>
              <a:rPr sz="1500" b="0" i="0">
                <a:solidFill>
                  <a:srgbClr val="24383A"/>
                </a:solidFill>
                <a:latin typeface="Avenir Next"/>
              </a:rPr>
              <a:t>One isolate was never scored.</a:t>
            </a:r>
          </a:p>
          <a:p>
            <a:pPr algn="l">
              <a:lnSpc>
                <a:spcPct val="135000"/>
              </a:lnSpc>
            </a:pPr>
            <a:r>
              <a:rPr sz="1500" b="0" i="0">
                <a:solidFill>
                  <a:srgbClr val="24383A"/>
                </a:solidFill>
                <a:latin typeface="Avenir Next"/>
              </a:rPr>
              <a:t/>
            </a:r>
          </a:p>
          <a:p>
            <a:pPr algn="l">
              <a:lnSpc>
                <a:spcPct val="135000"/>
              </a:lnSpc>
            </a:pPr>
            <a:r>
              <a:rPr sz="1500" b="0" i="0">
                <a:solidFill>
                  <a:srgbClr val="24383A"/>
                </a:solidFill>
                <a:latin typeface="Avenir Next"/>
              </a:rPr>
              <a:t>Two follow-up readouts were never written down.</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48</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CYCLE 3 OF FOUR</a:t>
            </a:r>
          </a:p>
        </p:txBody>
      </p:sp>
      <p:pic>
        <p:nvPicPr>
          <p:cNvPr id="5" name="!!frame" descr="03-cycle.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49</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CYCLE 3 · TWO LINES, TWO PROTEINS</a:t>
            </a:r>
          </a:p>
        </p:txBody>
      </p:sp>
      <p:pic>
        <p:nvPicPr>
          <p:cNvPr id="5" name="!!left" descr="body-side.png"/>
          <p:cNvPicPr>
            <a:picLocks noChangeAspect="1"/>
          </p:cNvPicPr>
          <p:nvPr/>
        </p:nvPicPr>
        <p:blipFill>
          <a:blip r:embed="rId2"/>
          <a:stretch>
            <a:fillRect/>
          </a:stretch>
        </p:blipFill>
        <p:spPr>
          <a:xfrm>
            <a:off x="4840834" y="1005840"/>
            <a:ext cx="2424988" cy="4572000"/>
          </a:xfrm>
          <a:prstGeom prst="rect">
            <a:avLst/>
          </a:prstGeom>
        </p:spPr>
      </p:pic>
      <p:sp>
        <p:nvSpPr>
          <p:cNvPr id="6" name="TextBox 5"/>
          <p:cNvSpPr txBox="1"/>
          <p:nvPr/>
        </p:nvSpPr>
        <p:spPr>
          <a:xfrm>
            <a:off x="3767328" y="5715000"/>
            <a:ext cx="4572000" cy="365760"/>
          </a:xfrm>
          <a:prstGeom prst="rect">
            <a:avLst/>
          </a:prstGeom>
          <a:noFill/>
        </p:spPr>
        <p:txBody>
          <a:bodyPr wrap="square" anchor="t" lIns="0" rIns="0" tIns="0" bIns="0">
            <a:spAutoFit/>
          </a:bodyPr>
          <a:lstStyle/>
          <a:p>
            <a:pPr algn="ctr">
              <a:lnSpc>
                <a:spcPct val="130000"/>
              </a:lnSpc>
            </a:pPr>
            <a:r>
              <a:rPr sz="2000" b="1" i="0">
                <a:solidFill>
                  <a:srgbClr val="2D6A6A"/>
                </a:solidFill>
                <a:latin typeface="Avenir Next"/>
              </a:rPr>
              <a:t>CDS 11 — the tail spike</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50</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CYCLE 3 · TWO LINES, TWO PROTEINS</a:t>
            </a:r>
          </a:p>
        </p:txBody>
      </p:sp>
      <p:pic>
        <p:nvPicPr>
          <p:cNvPr id="5" name="!!left" descr="body-side.png"/>
          <p:cNvPicPr>
            <a:picLocks noChangeAspect="1"/>
          </p:cNvPicPr>
          <p:nvPr/>
        </p:nvPicPr>
        <p:blipFill>
          <a:blip r:embed="rId2"/>
          <a:stretch>
            <a:fillRect/>
          </a:stretch>
        </p:blipFill>
        <p:spPr>
          <a:xfrm>
            <a:off x="1810183" y="1005840"/>
            <a:ext cx="2085490" cy="3931920"/>
          </a:xfrm>
          <a:prstGeom prst="rect">
            <a:avLst/>
          </a:prstGeom>
        </p:spPr>
      </p:pic>
      <p:sp>
        <p:nvSpPr>
          <p:cNvPr id="6" name="TextBox 5"/>
          <p:cNvSpPr txBox="1"/>
          <p:nvPr/>
        </p:nvSpPr>
        <p:spPr>
          <a:xfrm>
            <a:off x="841248" y="5029200"/>
            <a:ext cx="4023360" cy="365760"/>
          </a:xfrm>
          <a:prstGeom prst="rect">
            <a:avLst/>
          </a:prstGeom>
          <a:noFill/>
        </p:spPr>
        <p:txBody>
          <a:bodyPr wrap="square" anchor="t" lIns="0" rIns="0" tIns="0" bIns="0">
            <a:spAutoFit/>
          </a:bodyPr>
          <a:lstStyle/>
          <a:p>
            <a:pPr algn="ctr">
              <a:lnSpc>
                <a:spcPct val="130000"/>
              </a:lnSpc>
            </a:pPr>
            <a:r>
              <a:rPr sz="1800" b="1" i="0">
                <a:solidFill>
                  <a:srgbClr val="2D6A6A"/>
                </a:solidFill>
                <a:latin typeface="Avenir Next"/>
              </a:rPr>
              <a:t>CDS 11 — the tail spike</a:t>
            </a:r>
          </a:p>
        </p:txBody>
      </p:sp>
      <p:sp>
        <p:nvSpPr>
          <p:cNvPr id="7" name="TextBox 6"/>
          <p:cNvSpPr txBox="1"/>
          <p:nvPr/>
        </p:nvSpPr>
        <p:spPr>
          <a:xfrm>
            <a:off x="841248" y="5440680"/>
            <a:ext cx="4023360" cy="914400"/>
          </a:xfrm>
          <a:prstGeom prst="rect">
            <a:avLst/>
          </a:prstGeom>
          <a:noFill/>
        </p:spPr>
        <p:txBody>
          <a:bodyPr wrap="square" anchor="t" lIns="0" rIns="0" tIns="0" bIns="0">
            <a:spAutoFit/>
          </a:bodyPr>
          <a:lstStyle/>
          <a:p>
            <a:pPr algn="ctr">
              <a:lnSpc>
                <a:spcPct val="135000"/>
              </a:lnSpc>
            </a:pPr>
            <a:r>
              <a:rPr sz="1400" b="0" i="0">
                <a:solidFill>
                  <a:srgbClr val="6B7674"/>
                </a:solidFill>
                <a:latin typeface="Avenir Next"/>
              </a:rPr>
              <a:t>A right-handed β-helix, 941 residues.</a:t>
            </a:r>
          </a:p>
          <a:p>
            <a:pPr algn="ctr">
              <a:lnSpc>
                <a:spcPct val="135000"/>
              </a:lnSpc>
            </a:pPr>
            <a:r>
              <a:rPr sz="1400" b="0" i="0">
                <a:solidFill>
                  <a:srgbClr val="6B7674"/>
                </a:solidFill>
                <a:latin typeface="Avenir Next"/>
              </a:rPr>
              <a:t>This is the one that reads the host surface.</a:t>
            </a:r>
          </a:p>
        </p:txBody>
      </p:sp>
      <p:pic>
        <p:nvPicPr>
          <p:cNvPr id="8" name="!!right" descr="gh5.png"/>
          <p:cNvPicPr>
            <a:picLocks noChangeAspect="1"/>
          </p:cNvPicPr>
          <p:nvPr/>
        </p:nvPicPr>
        <p:blipFill>
          <a:blip r:embed="rId3"/>
          <a:stretch>
            <a:fillRect/>
          </a:stretch>
        </p:blipFill>
        <p:spPr>
          <a:xfrm>
            <a:off x="6419088" y="1549220"/>
            <a:ext cx="4846320" cy="2845160"/>
          </a:xfrm>
          <a:prstGeom prst="rect">
            <a:avLst/>
          </a:prstGeom>
        </p:spPr>
      </p:pic>
      <p:sp>
        <p:nvSpPr>
          <p:cNvPr id="9" name="TextBox 8"/>
          <p:cNvSpPr txBox="1"/>
          <p:nvPr/>
        </p:nvSpPr>
        <p:spPr>
          <a:xfrm>
            <a:off x="6419088" y="4663440"/>
            <a:ext cx="4846320" cy="365760"/>
          </a:xfrm>
          <a:prstGeom prst="rect">
            <a:avLst/>
          </a:prstGeom>
          <a:noFill/>
        </p:spPr>
        <p:txBody>
          <a:bodyPr wrap="square" anchor="t" lIns="0" rIns="0" tIns="0" bIns="0">
            <a:spAutoFit/>
          </a:bodyPr>
          <a:lstStyle/>
          <a:p>
            <a:pPr algn="ctr">
              <a:lnSpc>
                <a:spcPct val="130000"/>
              </a:lnSpc>
            </a:pPr>
            <a:r>
              <a:rPr sz="1800" b="1" i="0">
                <a:solidFill>
                  <a:srgbClr val="B4542E"/>
                </a:solidFill>
                <a:latin typeface="Avenir Next"/>
              </a:rPr>
              <a:t>CDS 12 — a GH5 hydrolase</a:t>
            </a:r>
          </a:p>
        </p:txBody>
      </p:sp>
      <p:sp>
        <p:nvSpPr>
          <p:cNvPr id="10" name="TextBox 9"/>
          <p:cNvSpPr txBox="1"/>
          <p:nvPr/>
        </p:nvSpPr>
        <p:spPr>
          <a:xfrm>
            <a:off x="6419088" y="5074920"/>
            <a:ext cx="4846320" cy="1280160"/>
          </a:xfrm>
          <a:prstGeom prst="rect">
            <a:avLst/>
          </a:prstGeom>
          <a:noFill/>
        </p:spPr>
        <p:txBody>
          <a:bodyPr wrap="square" anchor="t" lIns="0" rIns="0" tIns="0" bIns="0">
            <a:spAutoFit/>
          </a:bodyPr>
          <a:lstStyle/>
          <a:p>
            <a:pPr algn="ctr">
              <a:lnSpc>
                <a:spcPct val="135000"/>
              </a:lnSpc>
            </a:pPr>
            <a:r>
              <a:rPr sz="1400" b="0" i="0">
                <a:solidFill>
                  <a:srgbClr val="6B7674"/>
                </a:solidFill>
                <a:latin typeface="Avenir Next"/>
              </a:rPr>
              <a:t>A TIM barrel, not a β-helix. Its closest structural match is an endoglucanase caught with a short cellulose chain.</a:t>
            </a:r>
          </a:p>
          <a:p>
            <a:pPr algn="ctr">
              <a:lnSpc>
                <a:spcPct val="135000"/>
              </a:lnSpc>
            </a:pPr>
            <a:r>
              <a:rPr sz="1400" b="0" i="0">
                <a:solidFill>
                  <a:srgbClr val="6B7674"/>
                </a:solidFill>
                <a:latin typeface="Avenir Next"/>
              </a:rPr>
              <a:t>A separate protein — not a domain of the tail spike.</a:t>
            </a:r>
          </a:p>
        </p:txBody>
      </p:sp>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51</a:t>
            </a:r>
          </a:p>
        </p:txBody>
      </p:sp>
      <p:sp>
        <p:nvSpPr>
          <p:cNvPr id="3" name="Rectangle 2"/>
          <p:cNvSpPr/>
          <p:nvPr/>
        </p:nvSpPr>
        <p:spPr>
          <a:xfrm>
            <a:off x="658368" y="384048"/>
            <a:ext cx="118872" cy="256032"/>
          </a:xfrm>
          <a:prstGeom prst="rect">
            <a:avLst/>
          </a:prstGeom>
          <a:solidFill>
            <a:srgbClr val="B45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B4542E"/>
                </a:solidFill>
                <a:latin typeface="Avenir Next"/>
              </a:rPr>
              <a:t>THE QUESTION A JUDGE WILL ASK</a:t>
            </a:r>
          </a:p>
        </p:txBody>
      </p:sp>
      <p:sp>
        <p:nvSpPr>
          <p:cNvPr id="5" name="TextBox 4"/>
          <p:cNvSpPr txBox="1"/>
          <p:nvPr/>
        </p:nvSpPr>
        <p:spPr>
          <a:xfrm>
            <a:off x="658368" y="896112"/>
            <a:ext cx="10874959" cy="1097280"/>
          </a:xfrm>
          <a:prstGeom prst="rect">
            <a:avLst/>
          </a:prstGeom>
          <a:noFill/>
        </p:spPr>
        <p:txBody>
          <a:bodyPr wrap="square" anchor="t" lIns="0" rIns="0" tIns="0" bIns="0">
            <a:spAutoFit/>
          </a:bodyPr>
          <a:lstStyle/>
          <a:p>
            <a:pPr algn="l">
              <a:lnSpc>
                <a:spcPct val="112000"/>
              </a:lnSpc>
            </a:pPr>
            <a:r>
              <a:rPr sz="2900" b="0" i="0">
                <a:solidFill>
                  <a:srgbClr val="24383A"/>
                </a:solidFill>
                <a:latin typeface="Georgia"/>
              </a:rPr>
              <a:t>So why reconstruct ancestors of that one, and not of the tail spike?</a:t>
            </a:r>
          </a:p>
        </p:txBody>
      </p:sp>
      <p:sp>
        <p:nvSpPr>
          <p:cNvPr id="6" name="Rounded Rectangle 5"/>
          <p:cNvSpPr/>
          <p:nvPr/>
        </p:nvSpPr>
        <p:spPr>
          <a:xfrm>
            <a:off x="658368" y="2194560"/>
            <a:ext cx="3429914" cy="2103120"/>
          </a:xfrm>
          <a:prstGeom prst="roundRect">
            <a:avLst>
              <a:gd name="adj" fmla="val 60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32688" y="2414016"/>
            <a:ext cx="2881274" cy="603504"/>
          </a:xfrm>
          <a:prstGeom prst="rect">
            <a:avLst/>
          </a:prstGeom>
          <a:noFill/>
        </p:spPr>
        <p:txBody>
          <a:bodyPr wrap="square" anchor="t" lIns="0" rIns="0" tIns="0" bIns="0">
            <a:spAutoFit/>
          </a:bodyPr>
          <a:lstStyle/>
          <a:p>
            <a:pPr algn="l">
              <a:lnSpc>
                <a:spcPct val="120000"/>
              </a:lnSpc>
            </a:pPr>
            <a:r>
              <a:rPr sz="1500" b="1" i="0">
                <a:solidFill>
                  <a:srgbClr val="2D6A6A"/>
                </a:solidFill>
                <a:latin typeface="Avenir Next"/>
              </a:rPr>
              <a:t>A tree to reconstruct along</a:t>
            </a:r>
          </a:p>
        </p:txBody>
      </p:sp>
      <p:sp>
        <p:nvSpPr>
          <p:cNvPr id="8" name="TextBox 7"/>
          <p:cNvSpPr txBox="1"/>
          <p:nvPr/>
        </p:nvSpPr>
        <p:spPr>
          <a:xfrm>
            <a:off x="932688" y="3017520"/>
            <a:ext cx="2881274" cy="1051560"/>
          </a:xfrm>
          <a:prstGeom prst="rect">
            <a:avLst/>
          </a:prstGeom>
          <a:noFill/>
        </p:spPr>
        <p:txBody>
          <a:bodyPr wrap="square" anchor="t" lIns="0" rIns="0" tIns="0" bIns="0">
            <a:spAutoFit/>
          </a:bodyPr>
          <a:lstStyle/>
          <a:p>
            <a:pPr algn="l">
              <a:lnSpc>
                <a:spcPct val="135000"/>
              </a:lnSpc>
            </a:pPr>
            <a:r>
              <a:rPr sz="1300" b="0" i="0">
                <a:solidFill>
                  <a:srgbClr val="6B7674"/>
                </a:solidFill>
                <a:latin typeface="Avenir Next"/>
              </a:rPr>
              <a:t>CDS 12 has a thousand homologues. The tail spike is novel enough that we had no such tree.</a:t>
            </a:r>
          </a:p>
        </p:txBody>
      </p:sp>
      <p:sp>
        <p:nvSpPr>
          <p:cNvPr id="9" name="Rounded Rectangle 8"/>
          <p:cNvSpPr/>
          <p:nvPr/>
        </p:nvSpPr>
        <p:spPr>
          <a:xfrm>
            <a:off x="4380890" y="2194560"/>
            <a:ext cx="3429914" cy="2103120"/>
          </a:xfrm>
          <a:prstGeom prst="roundRect">
            <a:avLst>
              <a:gd name="adj" fmla="val 60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655210" y="2414016"/>
            <a:ext cx="2881274" cy="603504"/>
          </a:xfrm>
          <a:prstGeom prst="rect">
            <a:avLst/>
          </a:prstGeom>
          <a:noFill/>
        </p:spPr>
        <p:txBody>
          <a:bodyPr wrap="square" anchor="t" lIns="0" rIns="0" tIns="0" bIns="0">
            <a:spAutoFit/>
          </a:bodyPr>
          <a:lstStyle/>
          <a:p>
            <a:pPr algn="l">
              <a:lnSpc>
                <a:spcPct val="120000"/>
              </a:lnSpc>
            </a:pPr>
            <a:r>
              <a:rPr sz="1500" b="1" i="0">
                <a:solidFill>
                  <a:srgbClr val="2D6A6A"/>
                </a:solidFill>
                <a:latin typeface="Avenir Next"/>
              </a:rPr>
              <a:t>A third of the size</a:t>
            </a:r>
          </a:p>
        </p:txBody>
      </p:sp>
      <p:sp>
        <p:nvSpPr>
          <p:cNvPr id="11" name="TextBox 10"/>
          <p:cNvSpPr txBox="1"/>
          <p:nvPr/>
        </p:nvSpPr>
        <p:spPr>
          <a:xfrm>
            <a:off x="4655210" y="3017520"/>
            <a:ext cx="2881274" cy="1051560"/>
          </a:xfrm>
          <a:prstGeom prst="rect">
            <a:avLst/>
          </a:prstGeom>
          <a:noFill/>
        </p:spPr>
        <p:txBody>
          <a:bodyPr wrap="square" anchor="t" lIns="0" rIns="0" tIns="0" bIns="0">
            <a:spAutoFit/>
          </a:bodyPr>
          <a:lstStyle/>
          <a:p>
            <a:pPr algn="l">
              <a:lnSpc>
                <a:spcPct val="135000"/>
              </a:lnSpc>
            </a:pPr>
            <a:r>
              <a:rPr sz="1300" b="0" i="0">
                <a:solidFill>
                  <a:srgbClr val="6B7674"/>
                </a:solidFill>
                <a:latin typeface="Avenir Next"/>
              </a:rPr>
              <a:t>362 residues against 941. We judged it the far better bet to express.</a:t>
            </a:r>
          </a:p>
        </p:txBody>
      </p:sp>
      <p:sp>
        <p:nvSpPr>
          <p:cNvPr id="12" name="Rounded Rectangle 11"/>
          <p:cNvSpPr/>
          <p:nvPr/>
        </p:nvSpPr>
        <p:spPr>
          <a:xfrm>
            <a:off x="8103412" y="2194560"/>
            <a:ext cx="3429914" cy="2103120"/>
          </a:xfrm>
          <a:prstGeom prst="roundRect">
            <a:avLst>
              <a:gd name="adj" fmla="val 60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377732" y="2414016"/>
            <a:ext cx="2881274" cy="603504"/>
          </a:xfrm>
          <a:prstGeom prst="rect">
            <a:avLst/>
          </a:prstGeom>
          <a:noFill/>
        </p:spPr>
        <p:txBody>
          <a:bodyPr wrap="square" anchor="t" lIns="0" rIns="0" tIns="0" bIns="0">
            <a:spAutoFit/>
          </a:bodyPr>
          <a:lstStyle/>
          <a:p>
            <a:pPr algn="l">
              <a:lnSpc>
                <a:spcPct val="120000"/>
              </a:lnSpc>
            </a:pPr>
            <a:r>
              <a:rPr sz="1500" b="1" i="0">
                <a:solidFill>
                  <a:srgbClr val="2D6A6A"/>
                </a:solidFill>
                <a:latin typeface="Avenir Next"/>
              </a:rPr>
              <a:t>A synthesis allowance</a:t>
            </a:r>
          </a:p>
        </p:txBody>
      </p:sp>
      <p:sp>
        <p:nvSpPr>
          <p:cNvPr id="14" name="TextBox 13"/>
          <p:cNvSpPr txBox="1"/>
          <p:nvPr/>
        </p:nvSpPr>
        <p:spPr>
          <a:xfrm>
            <a:off x="8377732" y="3017520"/>
            <a:ext cx="2881274" cy="1051560"/>
          </a:xfrm>
          <a:prstGeom prst="rect">
            <a:avLst/>
          </a:prstGeom>
          <a:noFill/>
        </p:spPr>
        <p:txBody>
          <a:bodyPr wrap="square" anchor="t" lIns="0" rIns="0" tIns="0" bIns="0">
            <a:spAutoFit/>
          </a:bodyPr>
          <a:lstStyle/>
          <a:p>
            <a:pPr algn="l">
              <a:lnSpc>
                <a:spcPct val="135000"/>
              </a:lnSpc>
            </a:pPr>
            <a:r>
              <a:rPr sz="1300" b="0" i="0">
                <a:solidFill>
                  <a:srgbClr val="6B7674"/>
                </a:solidFill>
                <a:latin typeface="Avenir Next"/>
              </a:rPr>
              <a:t>Four short constructs were affordable inside our sponsored allowance. Four long ones were not.</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B4542E"/>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8FB3AE"/>
                </a:solidFill>
                <a:latin typeface="Avenir Next"/>
              </a:rPr>
              <a:t>52</a:t>
            </a:r>
          </a:p>
        </p:txBody>
      </p:sp>
      <p:sp>
        <p:nvSpPr>
          <p:cNvPr id="3" name="TextBox 2"/>
          <p:cNvSpPr txBox="1"/>
          <p:nvPr/>
        </p:nvSpPr>
        <p:spPr>
          <a:xfrm>
            <a:off x="658368" y="1325880"/>
            <a:ext cx="10874959" cy="274320"/>
          </a:xfrm>
          <a:prstGeom prst="rect">
            <a:avLst/>
          </a:prstGeom>
          <a:noFill/>
        </p:spPr>
        <p:txBody>
          <a:bodyPr wrap="square" anchor="t" lIns="0" rIns="0" tIns="0" bIns="0">
            <a:spAutoFit/>
          </a:bodyPr>
          <a:lstStyle/>
          <a:p>
            <a:pPr algn="l">
              <a:lnSpc>
                <a:spcPct val="130000"/>
              </a:lnSpc>
            </a:pPr>
            <a:r>
              <a:rPr sz="1200" b="1" i="0">
                <a:solidFill>
                  <a:srgbClr val="C8D8D4"/>
                </a:solidFill>
                <a:latin typeface="Avenir Next"/>
              </a:rPr>
              <a:t>AND WHAT THAT COSTS US</a:t>
            </a:r>
          </a:p>
        </p:txBody>
      </p:sp>
      <p:sp>
        <p:nvSpPr>
          <p:cNvPr id="4" name="TextBox 3"/>
          <p:cNvSpPr txBox="1"/>
          <p:nvPr/>
        </p:nvSpPr>
        <p:spPr>
          <a:xfrm>
            <a:off x="658368" y="1874519"/>
            <a:ext cx="10874959" cy="3017520"/>
          </a:xfrm>
          <a:prstGeom prst="rect">
            <a:avLst/>
          </a:prstGeom>
          <a:noFill/>
        </p:spPr>
        <p:txBody>
          <a:bodyPr wrap="square" anchor="t" lIns="0" rIns="0" tIns="0" bIns="0">
            <a:spAutoFit/>
          </a:bodyPr>
          <a:lstStyle/>
          <a:p>
            <a:pPr algn="l">
              <a:lnSpc>
                <a:spcPct val="120000"/>
              </a:lnSpc>
            </a:pPr>
            <a:r>
              <a:rPr sz="2900" b="0" i="0">
                <a:solidFill>
                  <a:srgbClr val="F7F4EE"/>
                </a:solidFill>
                <a:latin typeface="Georgia"/>
              </a:rPr>
              <a:t>The ancestral panel tests the shape of the hypothesis</a:t>
            </a:r>
          </a:p>
          <a:p>
            <a:pPr algn="l">
              <a:lnSpc>
                <a:spcPct val="120000"/>
              </a:lnSpc>
            </a:pPr>
            <a:r>
              <a:rPr sz="2900" b="0" i="0">
                <a:solidFill>
                  <a:srgbClr val="F7F4EE"/>
                </a:solidFill>
                <a:latin typeface="Georgia"/>
              </a:rPr>
              <a:t>on an enzyme we could actually build — not on the one</a:t>
            </a:r>
          </a:p>
          <a:p>
            <a:pPr algn="l">
              <a:lnSpc>
                <a:spcPct val="120000"/>
              </a:lnSpc>
            </a:pPr>
            <a:r>
              <a:rPr sz="2900" b="0" i="0">
                <a:solidFill>
                  <a:srgbClr val="F7F4EE"/>
                </a:solidFill>
                <a:latin typeface="Georgia"/>
              </a:rPr>
              <a:t>that reads the receptor.</a:t>
            </a:r>
          </a:p>
        </p:txBody>
      </p:sp>
      <p:sp>
        <p:nvSpPr>
          <p:cNvPr id="5" name="TextBox 4"/>
          <p:cNvSpPr txBox="1"/>
          <p:nvPr/>
        </p:nvSpPr>
        <p:spPr>
          <a:xfrm>
            <a:off x="658368" y="4983480"/>
            <a:ext cx="9692640" cy="1188720"/>
          </a:xfrm>
          <a:prstGeom prst="rect">
            <a:avLst/>
          </a:prstGeom>
          <a:noFill/>
        </p:spPr>
        <p:txBody>
          <a:bodyPr wrap="square" anchor="t" lIns="0" rIns="0" tIns="0" bIns="0">
            <a:spAutoFit/>
          </a:bodyPr>
          <a:lstStyle/>
          <a:p>
            <a:pPr algn="l">
              <a:lnSpc>
                <a:spcPct val="135000"/>
              </a:lnSpc>
            </a:pPr>
            <a:r>
              <a:rPr sz="1900" b="0" i="0">
                <a:solidFill>
                  <a:srgbClr val="C8D8D4"/>
                </a:solidFill>
                <a:latin typeface="Avenir Next"/>
              </a:rPr>
              <a:t>That's a real limitation, and it's ours, not a reviewer's.</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53</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CYCLE 3 · BUILD — WALKING BACK UP THE TREE</a:t>
            </a:r>
          </a:p>
        </p:txBody>
      </p:sp>
      <p:pic>
        <p:nvPicPr>
          <p:cNvPr id="5" name="!!frame" descr="01-node.png"/>
          <p:cNvPicPr>
            <a:picLocks noChangeAspect="1"/>
          </p:cNvPicPr>
          <p:nvPr/>
        </p:nvPicPr>
        <p:blipFill>
          <a:blip r:embed="rId2"/>
          <a:stretch>
            <a:fillRect/>
          </a:stretch>
        </p:blipFill>
        <p:spPr>
          <a:xfrm>
            <a:off x="658368" y="1241975"/>
            <a:ext cx="10874959" cy="4822106"/>
          </a:xfrm>
          <a:prstGeom prst="rect">
            <a:avLst/>
          </a:prstGeom>
        </p:spPr>
      </p:pic>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54</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CYCLE 3 · BUILD — WALKING BACK UP THE TREE</a:t>
            </a:r>
          </a:p>
        </p:txBody>
      </p:sp>
      <p:pic>
        <p:nvPicPr>
          <p:cNvPr id="5" name="!!frame" descr="02-node.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55</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CYCLE 3 · BUILD — WALKING BACK UP THE TREE</a:t>
            </a:r>
          </a:p>
        </p:txBody>
      </p:sp>
      <p:pic>
        <p:nvPicPr>
          <p:cNvPr id="5" name="!!frame" descr="03-node.png"/>
          <p:cNvPicPr>
            <a:picLocks noChangeAspect="1"/>
          </p:cNvPicPr>
          <p:nvPr/>
        </p:nvPicPr>
        <p:blipFill>
          <a:blip r:embed="rId2"/>
          <a:stretch>
            <a:fillRect/>
          </a:stretch>
        </p:blipFill>
        <p:spPr>
          <a:xfrm>
            <a:off x="658368" y="1132878"/>
            <a:ext cx="10874959" cy="50403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56</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CYCLE 3 · BUILD — WALKING BACK UP THE TREE</a:t>
            </a:r>
          </a:p>
        </p:txBody>
      </p:sp>
      <p:pic>
        <p:nvPicPr>
          <p:cNvPr id="5" name="!!frame" descr="04-node.png"/>
          <p:cNvPicPr>
            <a:picLocks noChangeAspect="1"/>
          </p:cNvPicPr>
          <p:nvPr/>
        </p:nvPicPr>
        <p:blipFill>
          <a:blip r:embed="rId2"/>
          <a:stretch>
            <a:fillRect/>
          </a:stretch>
        </p:blipFill>
        <p:spPr>
          <a:xfrm>
            <a:off x="658368" y="1169797"/>
            <a:ext cx="10874959" cy="496646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57</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CYCLE 3 · BUILD — WALKING BACK UP THE TREE</a:t>
            </a:r>
          </a:p>
        </p:txBody>
      </p:sp>
      <p:pic>
        <p:nvPicPr>
          <p:cNvPr id="5" name="!!frame" descr="05-three.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58</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CYCLE 3 · BUILD</a:t>
            </a:r>
          </a:p>
        </p:txBody>
      </p:sp>
      <p:sp>
        <p:nvSpPr>
          <p:cNvPr id="5" name="TextBox 4"/>
          <p:cNvSpPr txBox="1"/>
          <p:nvPr/>
        </p:nvSpPr>
        <p:spPr>
          <a:xfrm>
            <a:off x="658368" y="896112"/>
            <a:ext cx="10874959" cy="1143000"/>
          </a:xfrm>
          <a:prstGeom prst="rect">
            <a:avLst/>
          </a:prstGeom>
          <a:noFill/>
        </p:spPr>
        <p:txBody>
          <a:bodyPr wrap="square" anchor="t" lIns="0" rIns="0" tIns="0" bIns="0">
            <a:spAutoFit/>
          </a:bodyPr>
          <a:lstStyle/>
          <a:p>
            <a:pPr algn="l">
              <a:lnSpc>
                <a:spcPct val="112000"/>
              </a:lnSpc>
            </a:pPr>
            <a:r>
              <a:rPr sz="2900" b="0" i="0">
                <a:solidFill>
                  <a:srgbClr val="24383A"/>
                </a:solidFill>
                <a:latin typeface="Georgia"/>
              </a:rPr>
              <a:t>All four fold to the same TIM barrel</a:t>
            </a:r>
          </a:p>
        </p:txBody>
      </p:sp>
      <p:pic>
        <p:nvPicPr>
          <p:cNvPr id="6" name="Picture 5" descr="cds12-family.png"/>
          <p:cNvPicPr>
            <a:picLocks noChangeAspect="1"/>
          </p:cNvPicPr>
          <p:nvPr/>
        </p:nvPicPr>
        <p:blipFill>
          <a:blip r:embed="rId2"/>
          <a:stretch>
            <a:fillRect/>
          </a:stretch>
        </p:blipFill>
        <p:spPr>
          <a:xfrm>
            <a:off x="1273861" y="2286000"/>
            <a:ext cx="4712614" cy="3749039"/>
          </a:xfrm>
          <a:prstGeom prst="rect">
            <a:avLst/>
          </a:prstGeom>
        </p:spPr>
      </p:pic>
      <p:sp>
        <p:nvSpPr>
          <p:cNvPr id="7" name="TextBox 6"/>
          <p:cNvSpPr txBox="1"/>
          <p:nvPr/>
        </p:nvSpPr>
        <p:spPr>
          <a:xfrm>
            <a:off x="7059168" y="2240280"/>
            <a:ext cx="4663440" cy="4023360"/>
          </a:xfrm>
          <a:prstGeom prst="rect">
            <a:avLst/>
          </a:prstGeom>
          <a:noFill/>
        </p:spPr>
        <p:txBody>
          <a:bodyPr wrap="square" anchor="t" lIns="0" rIns="0" tIns="0" bIns="0">
            <a:spAutoFit/>
          </a:bodyPr>
          <a:lstStyle/>
          <a:p>
            <a:pPr algn="l">
              <a:lnSpc>
                <a:spcPct val="138000"/>
              </a:lnSpc>
            </a:pPr>
            <a:r>
              <a:rPr sz="1600" b="0" i="0">
                <a:solidFill>
                  <a:srgbClr val="6B7674"/>
                </a:solidFill>
                <a:latin typeface="Avenir Next"/>
              </a:rPr>
              <a:t>Six constructs in pET-28a with an N-terminal His-tag, from Twist — and all six are now published basic parts on the iGEM Registry, under CC0.</a:t>
            </a:r>
          </a:p>
          <a:p>
            <a:pPr algn="l">
              <a:lnSpc>
                <a:spcPct val="138000"/>
              </a:lnSpc>
            </a:pPr>
            <a:r>
              <a:rPr sz="1600" b="0" i="0">
                <a:solidFill>
                  <a:srgbClr val="6B7674"/>
                </a:solidFill>
                <a:latin typeface="Avenir Next"/>
              </a:rPr>
              <a:t/>
            </a:r>
          </a:p>
          <a:p>
            <a:pPr algn="l">
              <a:lnSpc>
                <a:spcPct val="138000"/>
              </a:lnSpc>
            </a:pPr>
            <a:r>
              <a:rPr sz="1600" b="0" i="0">
                <a:solidFill>
                  <a:srgbClr val="6B7674"/>
                </a:solidFill>
                <a:latin typeface="Avenir Next"/>
              </a:rPr>
              <a:t>Three of them are sequences that exist nowhere in nature.</a:t>
            </a:r>
          </a:p>
          <a:p>
            <a:pPr algn="l">
              <a:lnSpc>
                <a:spcPct val="138000"/>
              </a:lnSpc>
            </a:pPr>
            <a:r>
              <a:rPr sz="1600" b="0" i="0">
                <a:solidFill>
                  <a:srgbClr val="6B7674"/>
                </a:solidFill>
                <a:latin typeface="Avenir Next"/>
              </a:rPr>
              <a:t/>
            </a:r>
          </a:p>
          <a:p>
            <a:pPr algn="l">
              <a:lnSpc>
                <a:spcPct val="138000"/>
              </a:lnSpc>
            </a:pPr>
            <a:r>
              <a:rPr sz="1600" b="0" i="0">
                <a:solidFill>
                  <a:srgbClr val="6B7674"/>
                </a:solidFill>
                <a:latin typeface="Avenir Next"/>
              </a:rPr>
              <a:t>One warning: our first order was codon-optimised and our second wasn't. In an E. coli host, that bias is the first thing to suspect when a band doesn't appear.</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59</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CYCLE 3 · WHAT THE MODEL SAID, AND ITS OWN CONTROL</a:t>
            </a:r>
          </a:p>
        </p:txBody>
      </p:sp>
      <p:sp>
        <p:nvSpPr>
          <p:cNvPr id="5" name="TextBox 4"/>
          <p:cNvSpPr txBox="1"/>
          <p:nvPr/>
        </p:nvSpPr>
        <p:spPr>
          <a:xfrm>
            <a:off x="658368" y="896112"/>
            <a:ext cx="10874959" cy="1143000"/>
          </a:xfrm>
          <a:prstGeom prst="rect">
            <a:avLst/>
          </a:prstGeom>
          <a:noFill/>
        </p:spPr>
        <p:txBody>
          <a:bodyPr wrap="square" anchor="t" lIns="0" rIns="0" tIns="0" bIns="0">
            <a:spAutoFit/>
          </a:bodyPr>
          <a:lstStyle/>
          <a:p>
            <a:pPr algn="l">
              <a:lnSpc>
                <a:spcPct val="112000"/>
              </a:lnSpc>
            </a:pPr>
            <a:r>
              <a:rPr sz="2900" b="0" i="0">
                <a:solidFill>
                  <a:srgbClr val="24383A"/>
                </a:solidFill>
                <a:latin typeface="Georgia"/>
              </a:rPr>
              <a:t>Along the path to the root, the score improves steadily</a:t>
            </a:r>
          </a:p>
        </p:txBody>
      </p:sp>
      <p:pic>
        <p:nvPicPr>
          <p:cNvPr id="6" name="Picture 5" descr="zymctrl.png"/>
          <p:cNvPicPr>
            <a:picLocks noChangeAspect="1"/>
          </p:cNvPicPr>
          <p:nvPr/>
        </p:nvPicPr>
        <p:blipFill>
          <a:blip r:embed="rId2"/>
          <a:stretch>
            <a:fillRect/>
          </a:stretch>
        </p:blipFill>
        <p:spPr>
          <a:xfrm>
            <a:off x="658368" y="2377439"/>
            <a:ext cx="5943600" cy="3566160"/>
          </a:xfrm>
          <a:prstGeom prst="rect">
            <a:avLst/>
          </a:prstGeom>
        </p:spPr>
      </p:pic>
      <p:sp>
        <p:nvSpPr>
          <p:cNvPr id="7" name="TextBox 6"/>
          <p:cNvSpPr txBox="1"/>
          <p:nvPr/>
        </p:nvSpPr>
        <p:spPr>
          <a:xfrm>
            <a:off x="7059168" y="2240280"/>
            <a:ext cx="4663440" cy="4023360"/>
          </a:xfrm>
          <a:prstGeom prst="rect">
            <a:avLst/>
          </a:prstGeom>
          <a:noFill/>
        </p:spPr>
        <p:txBody>
          <a:bodyPr wrap="square" anchor="t" lIns="0" rIns="0" tIns="0" bIns="0">
            <a:spAutoFit/>
          </a:bodyPr>
          <a:lstStyle/>
          <a:p>
            <a:pPr algn="l">
              <a:lnSpc>
                <a:spcPct val="138000"/>
              </a:lnSpc>
            </a:pPr>
            <a:r>
              <a:rPr sz="1600" b="0" i="0">
                <a:solidFill>
                  <a:srgbClr val="6B7674"/>
                </a:solidFill>
                <a:latin typeface="Avenir Next"/>
              </a:rPr>
              <a:t>The label it likes best is endo-1,4-β-glucanase — the same chemistry the structure points at.</a:t>
            </a:r>
          </a:p>
          <a:p>
            <a:pPr algn="l">
              <a:lnSpc>
                <a:spcPct val="138000"/>
              </a:lnSpc>
            </a:pPr>
            <a:r>
              <a:rPr sz="1600" b="0" i="0">
                <a:solidFill>
                  <a:srgbClr val="6B7674"/>
                </a:solidFill>
                <a:latin typeface="Avenir Next"/>
              </a:rPr>
              <a:t/>
            </a:r>
          </a:p>
          <a:p>
            <a:pPr algn="l">
              <a:lnSpc>
                <a:spcPct val="138000"/>
              </a:lnSpc>
            </a:pPr>
            <a:r>
              <a:rPr sz="1600" b="0" i="0">
                <a:solidFill>
                  <a:srgbClr val="6B7674"/>
                </a:solidFill>
                <a:latin typeface="Avenir Next"/>
              </a:rPr>
              <a:t>Except it doesn't survive its own control. A reconstructed ancestor is consensus-like by construction, so it scores better under almost any label — and it does, in 21 of 24 classes.</a:t>
            </a:r>
          </a:p>
          <a:p>
            <a:pPr algn="l">
              <a:lnSpc>
                <a:spcPct val="138000"/>
              </a:lnSpc>
            </a:pPr>
            <a:r>
              <a:rPr sz="1600" b="0" i="0">
                <a:solidFill>
                  <a:srgbClr val="6B7674"/>
                </a:solidFill>
                <a:latin typeface="Avenir Next"/>
              </a:rPr>
              <a:t/>
            </a:r>
          </a:p>
          <a:p>
            <a:pPr algn="l">
              <a:lnSpc>
                <a:spcPct val="138000"/>
              </a:lnSpc>
            </a:pPr>
            <a:r>
              <a:rPr sz="1600" b="0" i="0">
                <a:solidFill>
                  <a:srgbClr val="6B7674"/>
                </a:solidFill>
                <a:latin typeface="Avenir Next"/>
              </a:rPr>
              <a:t>Direction alone proves nothing. And perplexity isn't activity.</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60</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CYCLE 3 · TEST</a:t>
            </a:r>
          </a:p>
        </p:txBody>
      </p:sp>
      <p:sp>
        <p:nvSpPr>
          <p:cNvPr id="5" name="TextBox 4"/>
          <p:cNvSpPr txBox="1"/>
          <p:nvPr/>
        </p:nvSpPr>
        <p:spPr>
          <a:xfrm>
            <a:off x="658368" y="896112"/>
            <a:ext cx="10874959" cy="731520"/>
          </a:xfrm>
          <a:prstGeom prst="rect">
            <a:avLst/>
          </a:prstGeom>
          <a:noFill/>
        </p:spPr>
        <p:txBody>
          <a:bodyPr wrap="square" anchor="t" lIns="0" rIns="0" tIns="0" bIns="0">
            <a:spAutoFit/>
          </a:bodyPr>
          <a:lstStyle/>
          <a:p>
            <a:pPr algn="l">
              <a:lnSpc>
                <a:spcPct val="130000"/>
              </a:lnSpc>
            </a:pPr>
            <a:r>
              <a:rPr sz="2800" b="0" i="0">
                <a:solidFill>
                  <a:srgbClr val="24383A"/>
                </a:solidFill>
                <a:latin typeface="Georgia"/>
              </a:rPr>
              <a:t>Four rounds at the bench, and they didn't line up neatly</a:t>
            </a:r>
          </a:p>
        </p:txBody>
      </p:sp>
      <p:sp>
        <p:nvSpPr>
          <p:cNvPr id="6" name="Rounded Rectangle 5"/>
          <p:cNvSpPr/>
          <p:nvPr/>
        </p:nvSpPr>
        <p:spPr>
          <a:xfrm>
            <a:off x="658368" y="2011680"/>
            <a:ext cx="6035040" cy="896112"/>
          </a:xfrm>
          <a:prstGeom prst="roundRect">
            <a:avLst>
              <a:gd name="adj" fmla="val 20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96112" y="2286000"/>
            <a:ext cx="1005840" cy="329184"/>
          </a:xfrm>
          <a:prstGeom prst="rect">
            <a:avLst/>
          </a:prstGeom>
          <a:noFill/>
        </p:spPr>
        <p:txBody>
          <a:bodyPr wrap="square" anchor="t" lIns="0" rIns="0" tIns="0" bIns="0">
            <a:spAutoFit/>
          </a:bodyPr>
          <a:lstStyle/>
          <a:p>
            <a:pPr algn="l">
              <a:lnSpc>
                <a:spcPct val="130000"/>
              </a:lnSpc>
            </a:pPr>
            <a:r>
              <a:rPr sz="1500" b="1" i="0">
                <a:solidFill>
                  <a:srgbClr val="24383A"/>
                </a:solidFill>
                <a:latin typeface="Avenir Next"/>
              </a:rPr>
              <a:t>15 Sep</a:t>
            </a:r>
          </a:p>
        </p:txBody>
      </p:sp>
      <p:sp>
        <p:nvSpPr>
          <p:cNvPr id="8" name="TextBox 7"/>
          <p:cNvSpPr txBox="1"/>
          <p:nvPr/>
        </p:nvSpPr>
        <p:spPr>
          <a:xfrm>
            <a:off x="2029968" y="2157984"/>
            <a:ext cx="4480560" cy="731520"/>
          </a:xfrm>
          <a:prstGeom prst="rect">
            <a:avLst/>
          </a:prstGeom>
          <a:noFill/>
        </p:spPr>
        <p:txBody>
          <a:bodyPr wrap="square" anchor="t" lIns="0" rIns="0" tIns="0" bIns="0">
            <a:spAutoFit/>
          </a:bodyPr>
          <a:lstStyle/>
          <a:p>
            <a:pPr algn="l">
              <a:lnSpc>
                <a:spcPct val="130000"/>
              </a:lnSpc>
            </a:pPr>
            <a:r>
              <a:rPr sz="1300" b="0" i="0">
                <a:solidFill>
                  <a:srgbClr val="6B7674"/>
                </a:solidFill>
                <a:latin typeface="Avenir Next"/>
              </a:rPr>
              <a:t>Two gels, four constructs, induced against uninduced — no detectable induction on either.</a:t>
            </a:r>
          </a:p>
        </p:txBody>
      </p:sp>
      <p:sp>
        <p:nvSpPr>
          <p:cNvPr id="9" name="Rounded Rectangle 8"/>
          <p:cNvSpPr/>
          <p:nvPr/>
        </p:nvSpPr>
        <p:spPr>
          <a:xfrm>
            <a:off x="658368" y="2980944"/>
            <a:ext cx="6035040" cy="896112"/>
          </a:xfrm>
          <a:prstGeom prst="roundRect">
            <a:avLst>
              <a:gd name="adj" fmla="val 2000"/>
            </a:avLst>
          </a:prstGeom>
          <a:solidFill>
            <a:srgbClr val="EAF0EE"/>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96112" y="3255264"/>
            <a:ext cx="1005840" cy="329184"/>
          </a:xfrm>
          <a:prstGeom prst="rect">
            <a:avLst/>
          </a:prstGeom>
          <a:noFill/>
        </p:spPr>
        <p:txBody>
          <a:bodyPr wrap="square" anchor="t" lIns="0" rIns="0" tIns="0" bIns="0">
            <a:spAutoFit/>
          </a:bodyPr>
          <a:lstStyle/>
          <a:p>
            <a:pPr algn="l">
              <a:lnSpc>
                <a:spcPct val="130000"/>
              </a:lnSpc>
            </a:pPr>
            <a:r>
              <a:rPr sz="1500" b="1" i="0">
                <a:solidFill>
                  <a:srgbClr val="24383A"/>
                </a:solidFill>
                <a:latin typeface="Avenir Next"/>
              </a:rPr>
              <a:t>29 Sep</a:t>
            </a:r>
          </a:p>
        </p:txBody>
      </p:sp>
      <p:sp>
        <p:nvSpPr>
          <p:cNvPr id="11" name="TextBox 10"/>
          <p:cNvSpPr txBox="1"/>
          <p:nvPr/>
        </p:nvSpPr>
        <p:spPr>
          <a:xfrm>
            <a:off x="2029968" y="3127248"/>
            <a:ext cx="4480560" cy="731520"/>
          </a:xfrm>
          <a:prstGeom prst="rect">
            <a:avLst/>
          </a:prstGeom>
          <a:noFill/>
        </p:spPr>
        <p:txBody>
          <a:bodyPr wrap="square" anchor="t" lIns="0" rIns="0" tIns="0" bIns="0">
            <a:spAutoFit/>
          </a:bodyPr>
          <a:lstStyle/>
          <a:p>
            <a:pPr algn="l">
              <a:lnSpc>
                <a:spcPct val="130000"/>
              </a:lnSpc>
            </a:pPr>
            <a:r>
              <a:rPr sz="1300" b="0" i="0">
                <a:solidFill>
                  <a:srgbClr val="6B7674"/>
                </a:solidFill>
                <a:latin typeface="Avenir Next"/>
              </a:rPr>
              <a:t>CDS 12 gives the first induction-dependent band at the right size.</a:t>
            </a:r>
          </a:p>
        </p:txBody>
      </p:sp>
      <p:sp>
        <p:nvSpPr>
          <p:cNvPr id="12" name="Rounded Rectangle 11"/>
          <p:cNvSpPr/>
          <p:nvPr/>
        </p:nvSpPr>
        <p:spPr>
          <a:xfrm>
            <a:off x="658368" y="3950208"/>
            <a:ext cx="6035040" cy="896112"/>
          </a:xfrm>
          <a:prstGeom prst="roundRect">
            <a:avLst>
              <a:gd name="adj" fmla="val 2000"/>
            </a:avLst>
          </a:prstGeom>
          <a:solidFill>
            <a:srgbClr val="EAF0EE"/>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96112" y="4224528"/>
            <a:ext cx="1005840" cy="329184"/>
          </a:xfrm>
          <a:prstGeom prst="rect">
            <a:avLst/>
          </a:prstGeom>
          <a:noFill/>
        </p:spPr>
        <p:txBody>
          <a:bodyPr wrap="square" anchor="t" lIns="0" rIns="0" tIns="0" bIns="0">
            <a:spAutoFit/>
          </a:bodyPr>
          <a:lstStyle/>
          <a:p>
            <a:pPr algn="l">
              <a:lnSpc>
                <a:spcPct val="130000"/>
              </a:lnSpc>
            </a:pPr>
            <a:r>
              <a:rPr sz="1500" b="1" i="0">
                <a:solidFill>
                  <a:srgbClr val="24383A"/>
                </a:solidFill>
                <a:latin typeface="Avenir Next"/>
              </a:rPr>
              <a:t>1 Oct</a:t>
            </a:r>
          </a:p>
        </p:txBody>
      </p:sp>
      <p:sp>
        <p:nvSpPr>
          <p:cNvPr id="14" name="TextBox 13"/>
          <p:cNvSpPr txBox="1"/>
          <p:nvPr/>
        </p:nvSpPr>
        <p:spPr>
          <a:xfrm>
            <a:off x="2029968" y="4096512"/>
            <a:ext cx="4480560" cy="731520"/>
          </a:xfrm>
          <a:prstGeom prst="rect">
            <a:avLst/>
          </a:prstGeom>
          <a:noFill/>
        </p:spPr>
        <p:txBody>
          <a:bodyPr wrap="square" anchor="t" lIns="0" rIns="0" tIns="0" bIns="0">
            <a:spAutoFit/>
          </a:bodyPr>
          <a:lstStyle/>
          <a:p>
            <a:pPr algn="l">
              <a:lnSpc>
                <a:spcPct val="130000"/>
              </a:lnSpc>
            </a:pPr>
            <a:r>
              <a:rPr sz="1300" b="0" i="0">
                <a:solidFill>
                  <a:srgbClr val="6B7674"/>
                </a:solidFill>
                <a:latin typeface="Avenir Next"/>
              </a:rPr>
              <a:t>Nickel columns on six constructs. The first ancestor eluted at its predicted mass — the only one that did. The tail spike eluted something, 29 kDa short.</a:t>
            </a:r>
          </a:p>
        </p:txBody>
      </p:sp>
      <p:sp>
        <p:nvSpPr>
          <p:cNvPr id="15" name="Rounded Rectangle 14"/>
          <p:cNvSpPr/>
          <p:nvPr/>
        </p:nvSpPr>
        <p:spPr>
          <a:xfrm>
            <a:off x="658368" y="4919472"/>
            <a:ext cx="6035040" cy="896112"/>
          </a:xfrm>
          <a:prstGeom prst="roundRect">
            <a:avLst>
              <a:gd name="adj" fmla="val 2000"/>
            </a:avLst>
          </a:prstGeom>
          <a:solidFill>
            <a:srgbClr val="F6E7E0"/>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96112" y="5193792"/>
            <a:ext cx="1005840" cy="329184"/>
          </a:xfrm>
          <a:prstGeom prst="rect">
            <a:avLst/>
          </a:prstGeom>
          <a:noFill/>
        </p:spPr>
        <p:txBody>
          <a:bodyPr wrap="square" anchor="t" lIns="0" rIns="0" tIns="0" bIns="0">
            <a:spAutoFit/>
          </a:bodyPr>
          <a:lstStyle/>
          <a:p>
            <a:pPr algn="l">
              <a:lnSpc>
                <a:spcPct val="130000"/>
              </a:lnSpc>
            </a:pPr>
            <a:r>
              <a:rPr sz="1500" b="1" i="0">
                <a:solidFill>
                  <a:srgbClr val="24383A"/>
                </a:solidFill>
                <a:latin typeface="Avenir Next"/>
              </a:rPr>
              <a:t>10 Oct</a:t>
            </a:r>
          </a:p>
        </p:txBody>
      </p:sp>
      <p:sp>
        <p:nvSpPr>
          <p:cNvPr id="17" name="TextBox 16"/>
          <p:cNvSpPr txBox="1"/>
          <p:nvPr/>
        </p:nvSpPr>
        <p:spPr>
          <a:xfrm>
            <a:off x="2029968" y="5065776"/>
            <a:ext cx="4480560" cy="731520"/>
          </a:xfrm>
          <a:prstGeom prst="rect">
            <a:avLst/>
          </a:prstGeom>
          <a:noFill/>
        </p:spPr>
        <p:txBody>
          <a:bodyPr wrap="square" anchor="t" lIns="0" rIns="0" tIns="0" bIns="0">
            <a:spAutoFit/>
          </a:bodyPr>
          <a:lstStyle/>
          <a:p>
            <a:pPr algn="l">
              <a:lnSpc>
                <a:spcPct val="130000"/>
              </a:lnSpc>
            </a:pPr>
            <a:r>
              <a:rPr sz="1300" b="0" i="0">
                <a:solidFill>
                  <a:srgbClr val="6B7674"/>
                </a:solidFill>
                <a:latin typeface="Avenir Next"/>
              </a:rPr>
              <a:t>Same column, second ancestor. Both elutions blank; the load and the flow-through carried the same band.</a:t>
            </a:r>
          </a:p>
        </p:txBody>
      </p:sp>
      <p:pic>
        <p:nvPicPr>
          <p:cNvPr id="18" name="Picture 17" descr="gel0929.png"/>
          <p:cNvPicPr>
            <a:picLocks noChangeAspect="1"/>
          </p:cNvPicPr>
          <p:nvPr/>
        </p:nvPicPr>
        <p:blipFill>
          <a:blip r:embed="rId2"/>
          <a:stretch>
            <a:fillRect/>
          </a:stretch>
        </p:blipFill>
        <p:spPr>
          <a:xfrm>
            <a:off x="8348833" y="2011680"/>
            <a:ext cx="1992670" cy="1737360"/>
          </a:xfrm>
          <a:prstGeom prst="rect">
            <a:avLst/>
          </a:prstGeom>
        </p:spPr>
      </p:pic>
      <p:pic>
        <p:nvPicPr>
          <p:cNvPr id="19" name="Picture 18" descr="gel1010.png"/>
          <p:cNvPicPr>
            <a:picLocks noChangeAspect="1"/>
          </p:cNvPicPr>
          <p:nvPr/>
        </p:nvPicPr>
        <p:blipFill>
          <a:blip r:embed="rId3"/>
          <a:stretch>
            <a:fillRect/>
          </a:stretch>
        </p:blipFill>
        <p:spPr>
          <a:xfrm>
            <a:off x="8185962" y="3931920"/>
            <a:ext cx="2318412" cy="1737360"/>
          </a:xfrm>
          <a:prstGeom prst="rect">
            <a:avLst/>
          </a:prstGeom>
        </p:spPr>
      </p:pic>
      <p:sp>
        <p:nvSpPr>
          <p:cNvPr id="20" name="TextBox 19"/>
          <p:cNvSpPr txBox="1"/>
          <p:nvPr/>
        </p:nvSpPr>
        <p:spPr>
          <a:xfrm>
            <a:off x="658368" y="6309360"/>
            <a:ext cx="10051999" cy="365760"/>
          </a:xfrm>
          <a:prstGeom prst="rect">
            <a:avLst/>
          </a:prstGeom>
          <a:noFill/>
        </p:spPr>
        <p:txBody>
          <a:bodyPr wrap="square" anchor="t" lIns="0" rIns="0" tIns="0" bIns="0">
            <a:spAutoFit/>
          </a:bodyPr>
          <a:lstStyle/>
          <a:p>
            <a:pPr algn="l">
              <a:lnSpc>
                <a:spcPct val="130000"/>
              </a:lnSpc>
            </a:pPr>
            <a:r>
              <a:rPr sz="1200" b="0" i="0">
                <a:solidFill>
                  <a:srgbClr val="B4542E"/>
                </a:solidFill>
                <a:latin typeface="Avenir Next"/>
              </a:rPr>
              <a:t>Empty-vector BL21 lane: absent in all eight protein assays</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61</a:t>
            </a:r>
          </a:p>
        </p:txBody>
      </p:sp>
      <p:sp>
        <p:nvSpPr>
          <p:cNvPr id="3" name="Rectangle 2"/>
          <p:cNvSpPr/>
          <p:nvPr/>
        </p:nvSpPr>
        <p:spPr>
          <a:xfrm>
            <a:off x="658368" y="384048"/>
            <a:ext cx="118872" cy="256032"/>
          </a:xfrm>
          <a:prstGeom prst="rect">
            <a:avLst/>
          </a:prstGeom>
          <a:solidFill>
            <a:srgbClr val="B45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B4542E"/>
                </a:solidFill>
                <a:latin typeface="Avenir Next"/>
              </a:rPr>
              <a:t>CYCLE 3 · WHERE THE COLUMN ACTUALLY FAILED</a:t>
            </a:r>
          </a:p>
        </p:txBody>
      </p:sp>
      <p:pic>
        <p:nvPicPr>
          <p:cNvPr id="5" name="!!frame" descr="01-load.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62</a:t>
            </a:r>
          </a:p>
        </p:txBody>
      </p:sp>
      <p:sp>
        <p:nvSpPr>
          <p:cNvPr id="3" name="Rectangle 2"/>
          <p:cNvSpPr/>
          <p:nvPr/>
        </p:nvSpPr>
        <p:spPr>
          <a:xfrm>
            <a:off x="658368" y="384048"/>
            <a:ext cx="118872" cy="256032"/>
          </a:xfrm>
          <a:prstGeom prst="rect">
            <a:avLst/>
          </a:prstGeom>
          <a:solidFill>
            <a:srgbClr val="B45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B4542E"/>
                </a:solidFill>
                <a:latin typeface="Avenir Next"/>
              </a:rPr>
              <a:t>CYCLE 3 · WHERE THE COLUMN ACTUALLY FAILED</a:t>
            </a:r>
          </a:p>
        </p:txBody>
      </p:sp>
      <p:pic>
        <p:nvPicPr>
          <p:cNvPr id="5" name="!!frame" descr="02-through.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63</a:t>
            </a:r>
          </a:p>
        </p:txBody>
      </p:sp>
      <p:sp>
        <p:nvSpPr>
          <p:cNvPr id="3" name="Rectangle 2"/>
          <p:cNvSpPr/>
          <p:nvPr/>
        </p:nvSpPr>
        <p:spPr>
          <a:xfrm>
            <a:off x="658368" y="384048"/>
            <a:ext cx="118872" cy="256032"/>
          </a:xfrm>
          <a:prstGeom prst="rect">
            <a:avLst/>
          </a:prstGeom>
          <a:solidFill>
            <a:srgbClr val="B45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B4542E"/>
                </a:solidFill>
                <a:latin typeface="Avenir Next"/>
              </a:rPr>
              <a:t>CYCLE 3 · WHERE THE COLUMN ACTUALLY FAILED</a:t>
            </a:r>
          </a:p>
        </p:txBody>
      </p:sp>
      <p:pic>
        <p:nvPicPr>
          <p:cNvPr id="5" name="!!frame" descr="03-flowthrough.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64</a:t>
            </a:r>
          </a:p>
        </p:txBody>
      </p:sp>
      <p:sp>
        <p:nvSpPr>
          <p:cNvPr id="3" name="Rectangle 2"/>
          <p:cNvSpPr/>
          <p:nvPr/>
        </p:nvSpPr>
        <p:spPr>
          <a:xfrm>
            <a:off x="658368" y="384048"/>
            <a:ext cx="118872" cy="256032"/>
          </a:xfrm>
          <a:prstGeom prst="rect">
            <a:avLst/>
          </a:prstGeom>
          <a:solidFill>
            <a:srgbClr val="B45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B4542E"/>
                </a:solidFill>
                <a:latin typeface="Avenir Next"/>
              </a:rPr>
              <a:t>CYCLE 3 · WHERE THE COLUMN ACTUALLY FAILED</a:t>
            </a:r>
          </a:p>
        </p:txBody>
      </p:sp>
      <p:pic>
        <p:nvPicPr>
          <p:cNvPr id="5" name="!!frame" descr="04-elution-empty.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65</a:t>
            </a:r>
          </a:p>
        </p:txBody>
      </p:sp>
      <p:sp>
        <p:nvSpPr>
          <p:cNvPr id="3" name="Rectangle 2"/>
          <p:cNvSpPr/>
          <p:nvPr/>
        </p:nvSpPr>
        <p:spPr>
          <a:xfrm>
            <a:off x="658368" y="384048"/>
            <a:ext cx="118872" cy="256032"/>
          </a:xfrm>
          <a:prstGeom prst="rect">
            <a:avLst/>
          </a:prstGeom>
          <a:solidFill>
            <a:srgbClr val="B45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B4542E"/>
                </a:solidFill>
                <a:latin typeface="Avenir Next"/>
              </a:rPr>
              <a:t>CYCLE 3 · WHY A GEL COULD NOT TELL US</a:t>
            </a:r>
          </a:p>
        </p:txBody>
      </p:sp>
      <p:pic>
        <p:nvPicPr>
          <p:cNvPr id="5" name="!!frame" descr="01-three-cases.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66</a:t>
            </a:r>
          </a:p>
        </p:txBody>
      </p:sp>
      <p:sp>
        <p:nvSpPr>
          <p:cNvPr id="3" name="Rectangle 2"/>
          <p:cNvSpPr/>
          <p:nvPr/>
        </p:nvSpPr>
        <p:spPr>
          <a:xfrm>
            <a:off x="658368" y="384048"/>
            <a:ext cx="118872" cy="256032"/>
          </a:xfrm>
          <a:prstGeom prst="rect">
            <a:avLst/>
          </a:prstGeom>
          <a:solidFill>
            <a:srgbClr val="B45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B4542E"/>
                </a:solidFill>
                <a:latin typeface="Avenir Next"/>
              </a:rPr>
              <a:t>CYCLE 3 · WHY A GEL COULD NOT TELL US</a:t>
            </a:r>
          </a:p>
        </p:txBody>
      </p:sp>
      <p:pic>
        <p:nvPicPr>
          <p:cNvPr id="5" name="!!frame" descr="02-same-lane.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67</a:t>
            </a:r>
          </a:p>
        </p:txBody>
      </p:sp>
      <p:sp>
        <p:nvSpPr>
          <p:cNvPr id="3" name="Rectangle 2"/>
          <p:cNvSpPr/>
          <p:nvPr/>
        </p:nvSpPr>
        <p:spPr>
          <a:xfrm>
            <a:off x="658368" y="384048"/>
            <a:ext cx="118872" cy="256032"/>
          </a:xfrm>
          <a:prstGeom prst="rect">
            <a:avLst/>
          </a:prstGeom>
          <a:solidFill>
            <a:srgbClr val="B45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B4542E"/>
                </a:solidFill>
                <a:latin typeface="Avenir Next"/>
              </a:rPr>
              <a:t>CYCLE 3 · WHY A GEL COULD NOT TELL US</a:t>
            </a:r>
          </a:p>
        </p:txBody>
      </p:sp>
      <p:pic>
        <p:nvPicPr>
          <p:cNvPr id="5" name="!!frame" descr="03-cannot.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68</a:t>
            </a:r>
          </a:p>
        </p:txBody>
      </p:sp>
      <p:sp>
        <p:nvSpPr>
          <p:cNvPr id="3" name="Rectangle 2"/>
          <p:cNvSpPr/>
          <p:nvPr/>
        </p:nvSpPr>
        <p:spPr>
          <a:xfrm>
            <a:off x="658368" y="384048"/>
            <a:ext cx="118872" cy="256032"/>
          </a:xfrm>
          <a:prstGeom prst="rect">
            <a:avLst/>
          </a:prstGeom>
          <a:solidFill>
            <a:srgbClr val="B45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B4542E"/>
                </a:solidFill>
                <a:latin typeface="Avenir Next"/>
              </a:rPr>
              <a:t>CYCLE 3 · WHY A GEL COULD NOT TELL US</a:t>
            </a:r>
          </a:p>
        </p:txBody>
      </p:sp>
      <p:pic>
        <p:nvPicPr>
          <p:cNvPr id="5" name="!!frame" descr="04-dotblot-splits.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69</a:t>
            </a:r>
          </a:p>
        </p:txBody>
      </p:sp>
      <p:sp>
        <p:nvSpPr>
          <p:cNvPr id="3" name="Rectangle 2"/>
          <p:cNvSpPr/>
          <p:nvPr/>
        </p:nvSpPr>
        <p:spPr>
          <a:xfrm>
            <a:off x="658368" y="384048"/>
            <a:ext cx="118872" cy="256032"/>
          </a:xfrm>
          <a:prstGeom prst="rect">
            <a:avLst/>
          </a:prstGeom>
          <a:solidFill>
            <a:srgbClr val="B45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B4542E"/>
                </a:solidFill>
                <a:latin typeface="Avenir Next"/>
              </a:rPr>
              <a:t>CYCLE 3 · LEARN — AN OUTSIDE VIEW CHANGED A RESULT</a:t>
            </a:r>
          </a:p>
        </p:txBody>
      </p:sp>
      <p:sp>
        <p:nvSpPr>
          <p:cNvPr id="5" name="TextBox 4"/>
          <p:cNvSpPr txBox="1"/>
          <p:nvPr/>
        </p:nvSpPr>
        <p:spPr>
          <a:xfrm>
            <a:off x="658368" y="896112"/>
            <a:ext cx="10874959" cy="1143000"/>
          </a:xfrm>
          <a:prstGeom prst="rect">
            <a:avLst/>
          </a:prstGeom>
          <a:noFill/>
        </p:spPr>
        <p:txBody>
          <a:bodyPr wrap="square" anchor="t" lIns="0" rIns="0" tIns="0" bIns="0">
            <a:spAutoFit/>
          </a:bodyPr>
          <a:lstStyle/>
          <a:p>
            <a:pPr algn="l">
              <a:lnSpc>
                <a:spcPct val="112000"/>
              </a:lnSpc>
            </a:pPr>
            <a:r>
              <a:rPr sz="2900" b="0" i="0">
                <a:solidFill>
                  <a:srgbClr val="24383A"/>
                </a:solidFill>
                <a:latin typeface="Georgia"/>
              </a:rPr>
              <a:t>What stopped us wasn't an experiment. It was a conversation.</a:t>
            </a:r>
          </a:p>
        </p:txBody>
      </p:sp>
      <p:pic>
        <p:nvPicPr>
          <p:cNvPr id="6" name="Picture 5" descr="05-dotblot.png"/>
          <p:cNvPicPr>
            <a:picLocks noChangeAspect="1"/>
          </p:cNvPicPr>
          <p:nvPr/>
        </p:nvPicPr>
        <p:blipFill>
          <a:blip r:embed="rId2"/>
          <a:stretch>
            <a:fillRect/>
          </a:stretch>
        </p:blipFill>
        <p:spPr>
          <a:xfrm>
            <a:off x="658368" y="2772389"/>
            <a:ext cx="5943600" cy="2776261"/>
          </a:xfrm>
          <a:prstGeom prst="rect">
            <a:avLst/>
          </a:prstGeom>
        </p:spPr>
      </p:pic>
      <p:sp>
        <p:nvSpPr>
          <p:cNvPr id="7" name="TextBox 6"/>
          <p:cNvSpPr txBox="1"/>
          <p:nvPr/>
        </p:nvSpPr>
        <p:spPr>
          <a:xfrm>
            <a:off x="7059168" y="2240280"/>
            <a:ext cx="4663440" cy="4023360"/>
          </a:xfrm>
          <a:prstGeom prst="rect">
            <a:avLst/>
          </a:prstGeom>
          <a:noFill/>
        </p:spPr>
        <p:txBody>
          <a:bodyPr wrap="square" anchor="t" lIns="0" rIns="0" tIns="0" bIns="0">
            <a:spAutoFit/>
          </a:bodyPr>
          <a:lstStyle/>
          <a:p>
            <a:pPr algn="l">
              <a:lnSpc>
                <a:spcPct val="138000"/>
              </a:lnSpc>
            </a:pPr>
            <a:r>
              <a:rPr sz="1600" b="0" i="0">
                <a:solidFill>
                  <a:srgbClr val="6B7674"/>
                </a:solidFill>
                <a:latin typeface="Avenir Next"/>
              </a:rPr>
              <a:t>On 13 October we took it to Prof. Ilya Tolstorukov at Keck Graduate Institute. He wrote back before we met to say expression was his field and purification wasn't — and met us anyway.</a:t>
            </a:r>
          </a:p>
          <a:p>
            <a:pPr algn="l">
              <a:lnSpc>
                <a:spcPct val="138000"/>
              </a:lnSpc>
            </a:pPr>
            <a:r>
              <a:rPr sz="1600" b="0" i="0">
                <a:solidFill>
                  <a:srgbClr val="6B7674"/>
                </a:solidFill>
                <a:latin typeface="Avenir Next"/>
              </a:rPr>
              <a:t/>
            </a:r>
          </a:p>
          <a:p>
            <a:pPr algn="l">
              <a:lnSpc>
                <a:spcPct val="138000"/>
              </a:lnSpc>
            </a:pPr>
            <a:r>
              <a:rPr sz="1600" b="0" i="0">
                <a:solidFill>
                  <a:srgbClr val="6B7674"/>
                </a:solidFill>
                <a:latin typeface="Avenir Next"/>
              </a:rPr>
              <a:t>He changed the question. Not why is nothing eluting, but is there anything there to elute.</a:t>
            </a:r>
          </a:p>
          <a:p>
            <a:pPr algn="l">
              <a:lnSpc>
                <a:spcPct val="138000"/>
              </a:lnSpc>
            </a:pPr>
            <a:r>
              <a:rPr sz="1600" b="0" i="0">
                <a:solidFill>
                  <a:srgbClr val="6B7674"/>
                </a:solidFill>
                <a:latin typeface="Avenir Next"/>
              </a:rPr>
              <a:t/>
            </a:r>
          </a:p>
          <a:p>
            <a:pPr algn="l">
              <a:lnSpc>
                <a:spcPct val="138000"/>
              </a:lnSpc>
            </a:pPr>
            <a:r>
              <a:rPr sz="1600" b="0" i="0">
                <a:solidFill>
                  <a:srgbClr val="6B7674"/>
                </a:solidFill>
                <a:latin typeface="Avenir Next"/>
              </a:rPr>
              <a:t>Six days later the flow-through read 2.9× the negative control. The run had failed at capture, not at expression.</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70</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CYCLE 3 · THE ASSAY THE WHOLE PROJECT POINTS AT</a:t>
            </a:r>
          </a:p>
        </p:txBody>
      </p:sp>
      <p:sp>
        <p:nvSpPr>
          <p:cNvPr id="5" name="TextBox 4"/>
          <p:cNvSpPr txBox="1"/>
          <p:nvPr/>
        </p:nvSpPr>
        <p:spPr>
          <a:xfrm>
            <a:off x="658368" y="896112"/>
            <a:ext cx="10874959" cy="1143000"/>
          </a:xfrm>
          <a:prstGeom prst="rect">
            <a:avLst/>
          </a:prstGeom>
          <a:noFill/>
        </p:spPr>
        <p:txBody>
          <a:bodyPr wrap="square" anchor="t" lIns="0" rIns="0" tIns="0" bIns="0">
            <a:spAutoFit/>
          </a:bodyPr>
          <a:lstStyle/>
          <a:p>
            <a:pPr algn="l">
              <a:lnSpc>
                <a:spcPct val="112000"/>
              </a:lnSpc>
            </a:pPr>
            <a:r>
              <a:rPr sz="2900" b="0" i="0">
                <a:solidFill>
                  <a:srgbClr val="24383A"/>
                </a:solidFill>
                <a:latin typeface="Georgia"/>
              </a:rPr>
              <a:t>Does an enzyme, on its own, do anything to the sugar?</a:t>
            </a:r>
          </a:p>
        </p:txBody>
      </p:sp>
      <p:pic>
        <p:nvPicPr>
          <p:cNvPr id="6" name="Picture 5" descr="spottest.png"/>
          <p:cNvPicPr>
            <a:picLocks noChangeAspect="1"/>
          </p:cNvPicPr>
          <p:nvPr/>
        </p:nvPicPr>
        <p:blipFill>
          <a:blip r:embed="rId2"/>
          <a:stretch>
            <a:fillRect/>
          </a:stretch>
        </p:blipFill>
        <p:spPr>
          <a:xfrm>
            <a:off x="658368" y="2355151"/>
            <a:ext cx="5943600" cy="3610737"/>
          </a:xfrm>
          <a:prstGeom prst="rect">
            <a:avLst/>
          </a:prstGeom>
        </p:spPr>
      </p:pic>
      <p:sp>
        <p:nvSpPr>
          <p:cNvPr id="7" name="TextBox 6"/>
          <p:cNvSpPr txBox="1"/>
          <p:nvPr/>
        </p:nvSpPr>
        <p:spPr>
          <a:xfrm>
            <a:off x="7059168" y="2240280"/>
            <a:ext cx="4663440" cy="4023360"/>
          </a:xfrm>
          <a:prstGeom prst="rect">
            <a:avLst/>
          </a:prstGeom>
          <a:noFill/>
        </p:spPr>
        <p:txBody>
          <a:bodyPr wrap="square" anchor="t" lIns="0" rIns="0" tIns="0" bIns="0">
            <a:spAutoFit/>
          </a:bodyPr>
          <a:lstStyle/>
          <a:p>
            <a:pPr algn="l">
              <a:lnSpc>
                <a:spcPct val="138000"/>
              </a:lnSpc>
            </a:pPr>
            <a:r>
              <a:rPr sz="1600" b="0" i="0">
                <a:solidFill>
                  <a:srgbClr val="6B7674"/>
                </a:solidFill>
                <a:latin typeface="Avenir Next"/>
              </a:rPr>
              <a:t>No visible lysis anywhere — including Φ8 on its own hosts — so the assay never read clearing. But counting colonies inside the drops gives a number: under the first ancestor, across seven strains, they fall to a median of 12 % of the plate's PBS control. Φ8's own median is 0 %.</a:t>
            </a:r>
          </a:p>
          <a:p>
            <a:pPr algn="l">
              <a:lnSpc>
                <a:spcPct val="138000"/>
              </a:lnSpc>
            </a:pPr>
            <a:r>
              <a:rPr sz="1600" b="0" i="0">
                <a:solidFill>
                  <a:srgbClr val="6B7674"/>
                </a:solidFill>
                <a:latin typeface="Avenir Next"/>
              </a:rPr>
              <a:t/>
            </a:r>
          </a:p>
          <a:p>
            <a:pPr algn="l">
              <a:lnSpc>
                <a:spcPct val="138000"/>
              </a:lnSpc>
            </a:pPr>
            <a:r>
              <a:rPr sz="1600" b="0" i="0">
                <a:solidFill>
                  <a:srgbClr val="6B7674"/>
                </a:solidFill>
                <a:latin typeface="Avenir Next"/>
              </a:rPr>
              <a:t>Our PI reads that as activity. Before we do: the carry-over control was not run, and those dilutions later read at or below our dot blot's floor.</a:t>
            </a:r>
          </a:p>
          <a:p>
            <a:pPr algn="l">
              <a:lnSpc>
                <a:spcPct val="138000"/>
              </a:lnSpc>
            </a:pPr>
            <a:r>
              <a:rPr sz="1600" b="0" i="0">
                <a:solidFill>
                  <a:srgbClr val="6B7674"/>
                </a:solidFill>
                <a:latin typeface="Avenir Next"/>
              </a:rPr>
              <a:t/>
            </a:r>
          </a:p>
          <a:p>
            <a:pPr algn="l">
              <a:lnSpc>
                <a:spcPct val="138000"/>
              </a:lnSpc>
            </a:pPr>
            <a:r>
              <a:rPr sz="1600" b="0" i="0">
                <a:solidFill>
                  <a:srgbClr val="6B7674"/>
                </a:solidFill>
                <a:latin typeface="Avenir Next"/>
              </a:rPr>
              <a:t>It is one plate.</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B4542E"/>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8FB3AE"/>
                </a:solidFill>
                <a:latin typeface="Avenir Next"/>
              </a:rPr>
              <a:t>71</a:t>
            </a:r>
          </a:p>
        </p:txBody>
      </p:sp>
      <p:sp>
        <p:nvSpPr>
          <p:cNvPr id="3" name="TextBox 2"/>
          <p:cNvSpPr txBox="1"/>
          <p:nvPr/>
        </p:nvSpPr>
        <p:spPr>
          <a:xfrm>
            <a:off x="658368" y="1325880"/>
            <a:ext cx="10874959" cy="274320"/>
          </a:xfrm>
          <a:prstGeom prst="rect">
            <a:avLst/>
          </a:prstGeom>
          <a:noFill/>
        </p:spPr>
        <p:txBody>
          <a:bodyPr wrap="square" anchor="t" lIns="0" rIns="0" tIns="0" bIns="0">
            <a:spAutoFit/>
          </a:bodyPr>
          <a:lstStyle/>
          <a:p>
            <a:pPr algn="l">
              <a:lnSpc>
                <a:spcPct val="130000"/>
              </a:lnSpc>
            </a:pPr>
            <a:r>
              <a:rPr sz="1200" b="1" i="0">
                <a:solidFill>
                  <a:srgbClr val="C8D8D4"/>
                </a:solidFill>
                <a:latin typeface="Avenir Next"/>
              </a:rPr>
              <a:t>ONE GAP RUNS THROUGH ALL OF IT</a:t>
            </a:r>
          </a:p>
        </p:txBody>
      </p:sp>
      <p:sp>
        <p:nvSpPr>
          <p:cNvPr id="4" name="TextBox 3"/>
          <p:cNvSpPr txBox="1"/>
          <p:nvPr/>
        </p:nvSpPr>
        <p:spPr>
          <a:xfrm>
            <a:off x="658368" y="1874519"/>
            <a:ext cx="10874959" cy="3017520"/>
          </a:xfrm>
          <a:prstGeom prst="rect">
            <a:avLst/>
          </a:prstGeom>
          <a:noFill/>
        </p:spPr>
        <p:txBody>
          <a:bodyPr wrap="square" anchor="t" lIns="0" rIns="0" tIns="0" bIns="0">
            <a:spAutoFit/>
          </a:bodyPr>
          <a:lstStyle/>
          <a:p>
            <a:pPr algn="l">
              <a:lnSpc>
                <a:spcPct val="120000"/>
              </a:lnSpc>
            </a:pPr>
            <a:r>
              <a:rPr sz="3000" b="0" i="0">
                <a:solidFill>
                  <a:srgbClr val="F7F4EE"/>
                </a:solidFill>
                <a:latin typeface="Georgia"/>
              </a:rPr>
              <a:t>Eight protein assays — seven gels and a dot blot —</a:t>
            </a:r>
          </a:p>
          <a:p>
            <a:pPr algn="l">
              <a:lnSpc>
                <a:spcPct val="120000"/>
              </a:lnSpc>
            </a:pPr>
            <a:r>
              <a:rPr sz="3000" b="0" i="0">
                <a:solidFill>
                  <a:srgbClr val="F7F4EE"/>
                </a:solidFill>
                <a:latin typeface="Georgia"/>
              </a:rPr>
              <a:t>and not one of them carries a lane of untransformed BL21.</a:t>
            </a:r>
          </a:p>
        </p:txBody>
      </p:sp>
      <p:sp>
        <p:nvSpPr>
          <p:cNvPr id="5" name="TextBox 4"/>
          <p:cNvSpPr txBox="1"/>
          <p:nvPr/>
        </p:nvSpPr>
        <p:spPr>
          <a:xfrm>
            <a:off x="658368" y="4983480"/>
            <a:ext cx="9692640" cy="1188720"/>
          </a:xfrm>
          <a:prstGeom prst="rect">
            <a:avLst/>
          </a:prstGeom>
          <a:noFill/>
        </p:spPr>
        <p:txBody>
          <a:bodyPr wrap="square" anchor="t" lIns="0" rIns="0" tIns="0" bIns="0">
            <a:spAutoFit/>
          </a:bodyPr>
          <a:lstStyle/>
          <a:p>
            <a:pPr algn="l">
              <a:lnSpc>
                <a:spcPct val="135000"/>
              </a:lnSpc>
            </a:pPr>
            <a:r>
              <a:rPr sz="1900" b="0" i="0">
                <a:solidFill>
                  <a:srgbClr val="C8D8D4"/>
                </a:solidFill>
                <a:latin typeface="Avenir Next"/>
              </a:rPr>
              <a:t>We designed every round around a different variable instead. That control is on the bench now.</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72</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CYCLE 4 OF FOUR</a:t>
            </a:r>
          </a:p>
        </p:txBody>
      </p:sp>
      <p:pic>
        <p:nvPicPr>
          <p:cNvPr id="5" name="!!frame" descr="04-cycle.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73</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CYCLE 4 · TEST — CHECKED AT READ LEVEL</a:t>
            </a:r>
          </a:p>
        </p:txBody>
      </p:sp>
      <p:pic>
        <p:nvPicPr>
          <p:cNvPr id="5" name="!!frame" descr="01-candidates.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74</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CYCLE 4 · TEST — CHECKED AT READ LEVEL</a:t>
            </a:r>
          </a:p>
        </p:txBody>
      </p:sp>
      <p:pic>
        <p:nvPicPr>
          <p:cNvPr id="5" name="!!frame" descr="02-filtered.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75</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CYCLE 4 · TEST — CHECKED AT READ LEVEL</a:t>
            </a:r>
          </a:p>
        </p:txBody>
      </p:sp>
      <p:pic>
        <p:nvPicPr>
          <p:cNvPr id="5" name="!!frame" descr="03-support.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76</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CYCLE 4 · TEST</a:t>
            </a:r>
          </a:p>
        </p:txBody>
      </p:sp>
      <p:sp>
        <p:nvSpPr>
          <p:cNvPr id="5" name="TextBox 4"/>
          <p:cNvSpPr txBox="1"/>
          <p:nvPr/>
        </p:nvSpPr>
        <p:spPr>
          <a:xfrm>
            <a:off x="658368" y="841248"/>
            <a:ext cx="10874959" cy="777240"/>
          </a:xfrm>
          <a:prstGeom prst="rect">
            <a:avLst/>
          </a:prstGeom>
          <a:noFill/>
        </p:spPr>
        <p:txBody>
          <a:bodyPr wrap="square" anchor="t" lIns="0" rIns="0" tIns="0" bIns="0">
            <a:spAutoFit/>
          </a:bodyPr>
          <a:lstStyle/>
          <a:p>
            <a:pPr algn="l">
              <a:lnSpc>
                <a:spcPct val="112000"/>
              </a:lnSpc>
            </a:pPr>
            <a:r>
              <a:rPr sz="2500" b="0" i="0">
                <a:solidFill>
                  <a:srgbClr val="24383A"/>
                </a:solidFill>
                <a:latin typeface="Georgia"/>
              </a:rPr>
              <a:t>The one mutation, at read level</a:t>
            </a:r>
          </a:p>
        </p:txBody>
      </p:sp>
      <p:pic>
        <p:nvPicPr>
          <p:cNvPr id="6" name="Picture 5" descr="mutation.png"/>
          <p:cNvPicPr>
            <a:picLocks noChangeAspect="1"/>
          </p:cNvPicPr>
          <p:nvPr/>
        </p:nvPicPr>
        <p:blipFill>
          <a:blip r:embed="rId2"/>
          <a:stretch>
            <a:fillRect/>
          </a:stretch>
        </p:blipFill>
        <p:spPr>
          <a:xfrm>
            <a:off x="1151765" y="1783080"/>
            <a:ext cx="9888165" cy="4343400"/>
          </a:xfrm>
          <a:prstGeom prst="rect">
            <a:avLst/>
          </a:prstGeom>
        </p:spPr>
      </p:pic>
      <p:sp>
        <p:nvSpPr>
          <p:cNvPr id="7" name="TextBox 6"/>
          <p:cNvSpPr txBox="1"/>
          <p:nvPr/>
        </p:nvSpPr>
        <p:spPr>
          <a:xfrm>
            <a:off x="658368" y="6309360"/>
            <a:ext cx="10051999" cy="365760"/>
          </a:xfrm>
          <a:prstGeom prst="rect">
            <a:avLst/>
          </a:prstGeom>
          <a:noFill/>
        </p:spPr>
        <p:txBody>
          <a:bodyPr wrap="square" anchor="t" lIns="0" rIns="0" tIns="0" bIns="0">
            <a:spAutoFit/>
          </a:bodyPr>
          <a:lstStyle/>
          <a:p>
            <a:pPr algn="l">
              <a:lnSpc>
                <a:spcPct val="120000"/>
              </a:lnSpc>
            </a:pPr>
            <a:r>
              <a:rPr sz="1200" b="0" i="0">
                <a:solidFill>
                  <a:srgbClr val="6B7674"/>
                </a:solidFill>
                <a:latin typeface="Avenir Next"/>
              </a:rPr>
              <a:t>A missense change in a Stealth-family sugar phosphotransferase, inside a 30 kb cluster that builds and exports capsular polysaccharide. The other pick has no confirmed mutation at all.</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77</a:t>
            </a:r>
          </a:p>
        </p:txBody>
      </p:sp>
      <p:sp>
        <p:nvSpPr>
          <p:cNvPr id="3" name="Rectangle 2"/>
          <p:cNvSpPr/>
          <p:nvPr/>
        </p:nvSpPr>
        <p:spPr>
          <a:xfrm>
            <a:off x="658368" y="384048"/>
            <a:ext cx="118872" cy="256032"/>
          </a:xfrm>
          <a:prstGeom prst="rect">
            <a:avLst/>
          </a:prstGeom>
          <a:solidFill>
            <a:srgbClr val="B45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B4542E"/>
                </a:solidFill>
                <a:latin typeface="Avenir Next"/>
              </a:rPr>
              <a:t>CYCLE 4 · LEARN</a:t>
            </a:r>
          </a:p>
        </p:txBody>
      </p:sp>
      <p:pic>
        <p:nvPicPr>
          <p:cNvPr id="5" name="!!frame" descr="01-oantigen.png"/>
          <p:cNvPicPr>
            <a:picLocks noChangeAspect="1"/>
          </p:cNvPicPr>
          <p:nvPr/>
        </p:nvPicPr>
        <p:blipFill>
          <a:blip r:embed="rId2"/>
          <a:stretch>
            <a:fillRect/>
          </a:stretch>
        </p:blipFill>
        <p:spPr>
          <a:xfrm>
            <a:off x="658368" y="1129615"/>
            <a:ext cx="10874959" cy="5046825"/>
          </a:xfrm>
          <a:prstGeom prst="rect">
            <a:avLst/>
          </a:prstGeom>
        </p:spPr>
      </p:pic>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78</a:t>
            </a:r>
          </a:p>
        </p:txBody>
      </p:sp>
      <p:sp>
        <p:nvSpPr>
          <p:cNvPr id="3" name="Rectangle 2"/>
          <p:cNvSpPr/>
          <p:nvPr/>
        </p:nvSpPr>
        <p:spPr>
          <a:xfrm>
            <a:off x="658368" y="384048"/>
            <a:ext cx="118872" cy="256032"/>
          </a:xfrm>
          <a:prstGeom prst="rect">
            <a:avLst/>
          </a:prstGeom>
          <a:solidFill>
            <a:srgbClr val="B45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B4542E"/>
                </a:solidFill>
                <a:latin typeface="Avenir Next"/>
              </a:rPr>
              <a:t>CYCLE 4 · LEARN</a:t>
            </a:r>
          </a:p>
        </p:txBody>
      </p:sp>
      <p:pic>
        <p:nvPicPr>
          <p:cNvPr id="5" name="!!frame" descr="02-capsule.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79</a:t>
            </a:r>
          </a:p>
        </p:txBody>
      </p:sp>
      <p:sp>
        <p:nvSpPr>
          <p:cNvPr id="3" name="Rectangle 2"/>
          <p:cNvSpPr/>
          <p:nvPr/>
        </p:nvSpPr>
        <p:spPr>
          <a:xfrm>
            <a:off x="658368" y="384048"/>
            <a:ext cx="118872" cy="256032"/>
          </a:xfrm>
          <a:prstGeom prst="rect">
            <a:avLst/>
          </a:prstGeom>
          <a:solidFill>
            <a:srgbClr val="B45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B4542E"/>
                </a:solidFill>
                <a:latin typeface="Avenir Next"/>
              </a:rPr>
              <a:t>CYCLE 4 · LEARN</a:t>
            </a:r>
          </a:p>
        </p:txBody>
      </p:sp>
      <p:pic>
        <p:nvPicPr>
          <p:cNvPr id="5" name="!!frame" descr="03-both.png"/>
          <p:cNvPicPr>
            <a:picLocks noChangeAspect="1"/>
          </p:cNvPicPr>
          <p:nvPr/>
        </p:nvPicPr>
        <p:blipFill>
          <a:blip r:embed="rId2"/>
          <a:stretch>
            <a:fillRect/>
          </a:stretch>
        </p:blipFill>
        <p:spPr>
          <a:xfrm>
            <a:off x="658368" y="1113176"/>
            <a:ext cx="10874959" cy="507970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med">
        <p:fade/>
      </p:transition>
    </mc:Fallback>
  </mc:AlternateContent>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80</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CONTRIBUTION</a:t>
            </a:r>
          </a:p>
        </p:txBody>
      </p:sp>
      <p:sp>
        <p:nvSpPr>
          <p:cNvPr id="5" name="TextBox 4"/>
          <p:cNvSpPr txBox="1"/>
          <p:nvPr/>
        </p:nvSpPr>
        <p:spPr>
          <a:xfrm>
            <a:off x="658368" y="896112"/>
            <a:ext cx="10874959" cy="1097280"/>
          </a:xfrm>
          <a:prstGeom prst="rect">
            <a:avLst/>
          </a:prstGeom>
          <a:noFill/>
        </p:spPr>
        <p:txBody>
          <a:bodyPr wrap="square" anchor="t" lIns="0" rIns="0" tIns="0" bIns="0">
            <a:spAutoFit/>
          </a:bodyPr>
          <a:lstStyle/>
          <a:p>
            <a:pPr algn="l">
              <a:lnSpc>
                <a:spcPct val="112000"/>
              </a:lnSpc>
            </a:pPr>
            <a:r>
              <a:rPr sz="2900" b="0" i="0">
                <a:solidFill>
                  <a:srgbClr val="24383A"/>
                </a:solidFill>
                <a:latin typeface="Georgia"/>
              </a:rPr>
              <a:t>Four things we're leaving behind — one is a failure</a:t>
            </a:r>
          </a:p>
        </p:txBody>
      </p:sp>
      <p:sp>
        <p:nvSpPr>
          <p:cNvPr id="6" name="Rounded Rectangle 5"/>
          <p:cNvSpPr/>
          <p:nvPr/>
        </p:nvSpPr>
        <p:spPr>
          <a:xfrm>
            <a:off x="658368" y="2194560"/>
            <a:ext cx="2499283" cy="2926080"/>
          </a:xfrm>
          <a:prstGeom prst="roundRect">
            <a:avLst>
              <a:gd name="adj" fmla="val 60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32688" y="2414016"/>
            <a:ext cx="1950643" cy="603504"/>
          </a:xfrm>
          <a:prstGeom prst="rect">
            <a:avLst/>
          </a:prstGeom>
          <a:noFill/>
        </p:spPr>
        <p:txBody>
          <a:bodyPr wrap="square" anchor="t" lIns="0" rIns="0" tIns="0" bIns="0">
            <a:spAutoFit/>
          </a:bodyPr>
          <a:lstStyle/>
          <a:p>
            <a:pPr algn="l">
              <a:lnSpc>
                <a:spcPct val="120000"/>
              </a:lnSpc>
            </a:pPr>
            <a:r>
              <a:rPr sz="1500" b="1" i="0">
                <a:solidFill>
                  <a:srgbClr val="2D6A6A"/>
                </a:solidFill>
                <a:latin typeface="Avenir Next"/>
              </a:rPr>
              <a:t>Two packaged tools</a:t>
            </a:r>
          </a:p>
        </p:txBody>
      </p:sp>
      <p:sp>
        <p:nvSpPr>
          <p:cNvPr id="8" name="TextBox 7"/>
          <p:cNvSpPr txBox="1"/>
          <p:nvPr/>
        </p:nvSpPr>
        <p:spPr>
          <a:xfrm>
            <a:off x="932688" y="3017520"/>
            <a:ext cx="1950643" cy="1874520"/>
          </a:xfrm>
          <a:prstGeom prst="rect">
            <a:avLst/>
          </a:prstGeom>
          <a:noFill/>
        </p:spPr>
        <p:txBody>
          <a:bodyPr wrap="square" anchor="t" lIns="0" rIns="0" tIns="0" bIns="0">
            <a:spAutoFit/>
          </a:bodyPr>
          <a:lstStyle/>
          <a:p>
            <a:pPr algn="l">
              <a:lnSpc>
                <a:spcPct val="135000"/>
              </a:lnSpc>
            </a:pPr>
            <a:r>
              <a:rPr sz="1300" b="0" i="0">
                <a:solidFill>
                  <a:srgbClr val="6B7674"/>
                </a:solidFill>
                <a:latin typeface="Avenir Next"/>
              </a:rPr>
              <a:t>MIT licensed, on iGEM's GitLab. Gel densitometry, and the fold test from Cycle 2 — which also told a terminal repeat from a circular join, and changed our own answer about the genome.</a:t>
            </a:r>
          </a:p>
        </p:txBody>
      </p:sp>
      <p:sp>
        <p:nvSpPr>
          <p:cNvPr id="9" name="Rounded Rectangle 8"/>
          <p:cNvSpPr/>
          <p:nvPr/>
        </p:nvSpPr>
        <p:spPr>
          <a:xfrm>
            <a:off x="3450259" y="2194560"/>
            <a:ext cx="2499283" cy="2926080"/>
          </a:xfrm>
          <a:prstGeom prst="roundRect">
            <a:avLst>
              <a:gd name="adj" fmla="val 60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724579" y="2414016"/>
            <a:ext cx="1950643" cy="603504"/>
          </a:xfrm>
          <a:prstGeom prst="rect">
            <a:avLst/>
          </a:prstGeom>
          <a:noFill/>
        </p:spPr>
        <p:txBody>
          <a:bodyPr wrap="square" anchor="t" lIns="0" rIns="0" tIns="0" bIns="0">
            <a:spAutoFit/>
          </a:bodyPr>
          <a:lstStyle/>
          <a:p>
            <a:pPr algn="l">
              <a:lnSpc>
                <a:spcPct val="120000"/>
              </a:lnSpc>
            </a:pPr>
            <a:r>
              <a:rPr sz="1500" b="1" i="0">
                <a:solidFill>
                  <a:srgbClr val="2D6A6A"/>
                </a:solidFill>
                <a:latin typeface="Avenir Next"/>
              </a:rPr>
              <a:t>Six registered parts</a:t>
            </a:r>
          </a:p>
        </p:txBody>
      </p:sp>
      <p:sp>
        <p:nvSpPr>
          <p:cNvPr id="11" name="TextBox 10"/>
          <p:cNvSpPr txBox="1"/>
          <p:nvPr/>
        </p:nvSpPr>
        <p:spPr>
          <a:xfrm>
            <a:off x="3724579" y="3017520"/>
            <a:ext cx="1950643" cy="1874520"/>
          </a:xfrm>
          <a:prstGeom prst="rect">
            <a:avLst/>
          </a:prstGeom>
          <a:noFill/>
        </p:spPr>
        <p:txBody>
          <a:bodyPr wrap="square" anchor="t" lIns="0" rIns="0" tIns="0" bIns="0">
            <a:spAutoFit/>
          </a:bodyPr>
          <a:lstStyle/>
          <a:p>
            <a:pPr algn="l">
              <a:lnSpc>
                <a:spcPct val="135000"/>
              </a:lnSpc>
            </a:pPr>
            <a:r>
              <a:rPr sz="1300" b="0" i="0">
                <a:solidFill>
                  <a:srgbClr val="6B7674"/>
                </a:solidFill>
                <a:latin typeface="Avenir Next"/>
              </a:rPr>
              <a:t>Published under CC0 — three of them sequences that never existed, reconstructed from an alignment and a tree.</a:t>
            </a:r>
          </a:p>
        </p:txBody>
      </p:sp>
      <p:sp>
        <p:nvSpPr>
          <p:cNvPr id="12" name="Rounded Rectangle 11"/>
          <p:cNvSpPr/>
          <p:nvPr/>
        </p:nvSpPr>
        <p:spPr>
          <a:xfrm>
            <a:off x="6242150" y="2194560"/>
            <a:ext cx="2499283" cy="2926080"/>
          </a:xfrm>
          <a:prstGeom prst="roundRect">
            <a:avLst>
              <a:gd name="adj" fmla="val 60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516470" y="2414016"/>
            <a:ext cx="1950643" cy="603504"/>
          </a:xfrm>
          <a:prstGeom prst="rect">
            <a:avLst/>
          </a:prstGeom>
          <a:noFill/>
        </p:spPr>
        <p:txBody>
          <a:bodyPr wrap="square" anchor="t" lIns="0" rIns="0" tIns="0" bIns="0">
            <a:spAutoFit/>
          </a:bodyPr>
          <a:lstStyle/>
          <a:p>
            <a:pPr algn="l">
              <a:lnSpc>
                <a:spcPct val="120000"/>
              </a:lnSpc>
            </a:pPr>
            <a:r>
              <a:rPr sz="1500" b="1" i="0">
                <a:solidFill>
                  <a:srgbClr val="2D6A6A"/>
                </a:solidFill>
                <a:latin typeface="Avenir Next"/>
              </a:rPr>
              <a:t>A benchmark</a:t>
            </a:r>
          </a:p>
        </p:txBody>
      </p:sp>
      <p:sp>
        <p:nvSpPr>
          <p:cNvPr id="14" name="TextBox 13"/>
          <p:cNvSpPr txBox="1"/>
          <p:nvPr/>
        </p:nvSpPr>
        <p:spPr>
          <a:xfrm>
            <a:off x="6516470" y="3017520"/>
            <a:ext cx="1950643" cy="1874520"/>
          </a:xfrm>
          <a:prstGeom prst="rect">
            <a:avLst/>
          </a:prstGeom>
          <a:noFill/>
        </p:spPr>
        <p:txBody>
          <a:bodyPr wrap="square" anchor="t" lIns="0" rIns="0" tIns="0" bIns="0">
            <a:spAutoFit/>
          </a:bodyPr>
          <a:lstStyle/>
          <a:p>
            <a:pPr algn="l">
              <a:lnSpc>
                <a:spcPct val="135000"/>
              </a:lnSpc>
            </a:pPr>
            <a:r>
              <a:rPr sz="1300" b="0" i="0">
                <a:solidFill>
                  <a:srgbClr val="6B7674"/>
                </a:solidFill>
                <a:latin typeface="Avenir Next"/>
              </a:rPr>
              <a:t>A machine-learning classifier found a depolymerase that homology annotation had filed as hypothetical. Run both, and reconcile the disagreements.</a:t>
            </a:r>
          </a:p>
        </p:txBody>
      </p:sp>
      <p:sp>
        <p:nvSpPr>
          <p:cNvPr id="15" name="Rounded Rectangle 14"/>
          <p:cNvSpPr/>
          <p:nvPr/>
        </p:nvSpPr>
        <p:spPr>
          <a:xfrm>
            <a:off x="9034041" y="2194560"/>
            <a:ext cx="2499283" cy="2926080"/>
          </a:xfrm>
          <a:prstGeom prst="roundRect">
            <a:avLst>
              <a:gd name="adj" fmla="val 6000"/>
            </a:avLst>
          </a:prstGeom>
          <a:solidFill>
            <a:srgbClr val="B454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9308361" y="2414016"/>
            <a:ext cx="1950643" cy="603504"/>
          </a:xfrm>
          <a:prstGeom prst="rect">
            <a:avLst/>
          </a:prstGeom>
          <a:noFill/>
        </p:spPr>
        <p:txBody>
          <a:bodyPr wrap="square" anchor="t" lIns="0" rIns="0" tIns="0" bIns="0">
            <a:spAutoFit/>
          </a:bodyPr>
          <a:lstStyle/>
          <a:p>
            <a:pPr algn="l">
              <a:lnSpc>
                <a:spcPct val="120000"/>
              </a:lnSpc>
            </a:pPr>
            <a:r>
              <a:rPr sz="1500" b="1" i="0">
                <a:solidFill>
                  <a:srgbClr val="F7F4EE"/>
                </a:solidFill>
                <a:latin typeface="Avenir Next"/>
              </a:rPr>
              <a:t>The screen that failed</a:t>
            </a:r>
          </a:p>
        </p:txBody>
      </p:sp>
      <p:sp>
        <p:nvSpPr>
          <p:cNvPr id="17" name="TextBox 16"/>
          <p:cNvSpPr txBox="1"/>
          <p:nvPr/>
        </p:nvSpPr>
        <p:spPr>
          <a:xfrm>
            <a:off x="9308361" y="3017520"/>
            <a:ext cx="1950643" cy="1874520"/>
          </a:xfrm>
          <a:prstGeom prst="rect">
            <a:avLst/>
          </a:prstGeom>
          <a:noFill/>
        </p:spPr>
        <p:txBody>
          <a:bodyPr wrap="square" anchor="t" lIns="0" rIns="0" tIns="0" bIns="0">
            <a:spAutoFit/>
          </a:bodyPr>
          <a:lstStyle/>
          <a:p>
            <a:pPr algn="l">
              <a:lnSpc>
                <a:spcPct val="135000"/>
              </a:lnSpc>
            </a:pPr>
            <a:r>
              <a:rPr sz="1300" b="0" i="0">
                <a:solidFill>
                  <a:srgbClr val="F7F4EE"/>
                </a:solidFill>
                <a:latin typeface="Avenir Next"/>
              </a:rPr>
              <a:t>Published with the controls that caught it. Don't use interface scores to screen phage–host protein pairs.</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81</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HUMAN PRACTICES · CALIFORNIA BOTANIC GARDEN · 19 OCTOBER 2026</a:t>
            </a:r>
          </a:p>
        </p:txBody>
      </p:sp>
      <p:sp>
        <p:nvSpPr>
          <p:cNvPr id="5" name="TextBox 4"/>
          <p:cNvSpPr txBox="1"/>
          <p:nvPr/>
        </p:nvSpPr>
        <p:spPr>
          <a:xfrm>
            <a:off x="658368" y="896112"/>
            <a:ext cx="10874959" cy="1097280"/>
          </a:xfrm>
          <a:prstGeom prst="rect">
            <a:avLst/>
          </a:prstGeom>
          <a:noFill/>
        </p:spPr>
        <p:txBody>
          <a:bodyPr wrap="square" anchor="t" lIns="0" rIns="0" tIns="0" bIns="0">
            <a:spAutoFit/>
          </a:bodyPr>
          <a:lstStyle/>
          <a:p>
            <a:pPr algn="l">
              <a:lnSpc>
                <a:spcPct val="112000"/>
              </a:lnSpc>
            </a:pPr>
            <a:r>
              <a:rPr sz="2900" b="0" i="0">
                <a:solidFill>
                  <a:srgbClr val="24383A"/>
                </a:solidFill>
                <a:latin typeface="Georgia"/>
              </a:rPr>
              <a:t>We went back and asked. Most of what we'd assumed was wrong.</a:t>
            </a:r>
          </a:p>
        </p:txBody>
      </p:sp>
      <p:sp>
        <p:nvSpPr>
          <p:cNvPr id="6" name="Rounded Rectangle 5"/>
          <p:cNvSpPr/>
          <p:nvPr/>
        </p:nvSpPr>
        <p:spPr>
          <a:xfrm>
            <a:off x="658368" y="2103120"/>
            <a:ext cx="3429914" cy="2286000"/>
          </a:xfrm>
          <a:prstGeom prst="roundRect">
            <a:avLst>
              <a:gd name="adj" fmla="val 60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32688" y="2322576"/>
            <a:ext cx="2881274" cy="603504"/>
          </a:xfrm>
          <a:prstGeom prst="rect">
            <a:avLst/>
          </a:prstGeom>
          <a:noFill/>
        </p:spPr>
        <p:txBody>
          <a:bodyPr wrap="square" anchor="t" lIns="0" rIns="0" tIns="0" bIns="0">
            <a:spAutoFit/>
          </a:bodyPr>
          <a:lstStyle/>
          <a:p>
            <a:pPr algn="l">
              <a:lnSpc>
                <a:spcPct val="120000"/>
              </a:lnSpc>
            </a:pPr>
            <a:r>
              <a:rPr sz="1500" b="1" i="0">
                <a:solidFill>
                  <a:srgbClr val="6B7674"/>
                </a:solidFill>
                <a:latin typeface="Avenir Next"/>
              </a:rPr>
              <a:t>We expected to argue for biological control</a:t>
            </a:r>
          </a:p>
        </p:txBody>
      </p:sp>
      <p:sp>
        <p:nvSpPr>
          <p:cNvPr id="8" name="TextBox 7"/>
          <p:cNvSpPr txBox="1"/>
          <p:nvPr/>
        </p:nvSpPr>
        <p:spPr>
          <a:xfrm>
            <a:off x="932688" y="2926080"/>
            <a:ext cx="2881274" cy="1234440"/>
          </a:xfrm>
          <a:prstGeom prst="rect">
            <a:avLst/>
          </a:prstGeom>
          <a:noFill/>
        </p:spPr>
        <p:txBody>
          <a:bodyPr wrap="square" anchor="t" lIns="0" rIns="0" tIns="0" bIns="0">
            <a:spAutoFit/>
          </a:bodyPr>
          <a:lstStyle/>
          <a:p>
            <a:pPr algn="l">
              <a:lnSpc>
                <a:spcPct val="135000"/>
              </a:lnSpc>
            </a:pPr>
            <a:r>
              <a:rPr sz="1300" b="0" i="0">
                <a:solidFill>
                  <a:srgbClr val="6B7674"/>
                </a:solidFill>
                <a:latin typeface="Avenir Next"/>
              </a:rPr>
              <a:t>We didn't have to. They already suppress soil fungi by mulching.</a:t>
            </a:r>
          </a:p>
        </p:txBody>
      </p:sp>
      <p:sp>
        <p:nvSpPr>
          <p:cNvPr id="9" name="Rounded Rectangle 8"/>
          <p:cNvSpPr/>
          <p:nvPr/>
        </p:nvSpPr>
        <p:spPr>
          <a:xfrm>
            <a:off x="4380890" y="2103120"/>
            <a:ext cx="3429914" cy="2286000"/>
          </a:xfrm>
          <a:prstGeom prst="roundRect">
            <a:avLst>
              <a:gd name="adj" fmla="val 60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655210" y="2322576"/>
            <a:ext cx="2881274" cy="603504"/>
          </a:xfrm>
          <a:prstGeom prst="rect">
            <a:avLst/>
          </a:prstGeom>
          <a:noFill/>
        </p:spPr>
        <p:txBody>
          <a:bodyPr wrap="square" anchor="t" lIns="0" rIns="0" tIns="0" bIns="0">
            <a:spAutoFit/>
          </a:bodyPr>
          <a:lstStyle/>
          <a:p>
            <a:pPr algn="l">
              <a:lnSpc>
                <a:spcPct val="120000"/>
              </a:lnSpc>
            </a:pPr>
            <a:r>
              <a:rPr sz="1500" b="1" i="0">
                <a:solidFill>
                  <a:srgbClr val="6B7674"/>
                </a:solidFill>
                <a:latin typeface="Avenir Next"/>
              </a:rPr>
              <a:t>We expected the objection to be ecological risk</a:t>
            </a:r>
          </a:p>
        </p:txBody>
      </p:sp>
      <p:sp>
        <p:nvSpPr>
          <p:cNvPr id="11" name="TextBox 10"/>
          <p:cNvSpPr txBox="1"/>
          <p:nvPr/>
        </p:nvSpPr>
        <p:spPr>
          <a:xfrm>
            <a:off x="4655210" y="2926080"/>
            <a:ext cx="2881274" cy="1234440"/>
          </a:xfrm>
          <a:prstGeom prst="rect">
            <a:avLst/>
          </a:prstGeom>
          <a:noFill/>
        </p:spPr>
        <p:txBody>
          <a:bodyPr wrap="square" anchor="t" lIns="0" rIns="0" tIns="0" bIns="0">
            <a:spAutoFit/>
          </a:bodyPr>
          <a:lstStyle/>
          <a:p>
            <a:pPr algn="l">
              <a:lnSpc>
                <a:spcPct val="135000"/>
              </a:lnSpc>
            </a:pPr>
            <a:r>
              <a:rPr sz="1300" b="0" i="0">
                <a:solidFill>
                  <a:srgbClr val="6B7674"/>
                </a:solidFill>
                <a:latin typeface="Avenir Next"/>
              </a:rPr>
              <a:t>It was whether the thing works. Copper on every blossom every four or five days, 86 acres, eight staff. The objection is arithmetic.</a:t>
            </a:r>
          </a:p>
        </p:txBody>
      </p:sp>
      <p:sp>
        <p:nvSpPr>
          <p:cNvPr id="12" name="Rounded Rectangle 11"/>
          <p:cNvSpPr/>
          <p:nvPr/>
        </p:nvSpPr>
        <p:spPr>
          <a:xfrm>
            <a:off x="8103412" y="2103120"/>
            <a:ext cx="3429914" cy="2286000"/>
          </a:xfrm>
          <a:prstGeom prst="roundRect">
            <a:avLst>
              <a:gd name="adj" fmla="val 6000"/>
            </a:avLst>
          </a:prstGeom>
          <a:solidFill>
            <a:srgbClr val="B454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377732" y="2322576"/>
            <a:ext cx="2881274" cy="603504"/>
          </a:xfrm>
          <a:prstGeom prst="rect">
            <a:avLst/>
          </a:prstGeom>
          <a:noFill/>
        </p:spPr>
        <p:txBody>
          <a:bodyPr wrap="square" anchor="t" lIns="0" rIns="0" tIns="0" bIns="0">
            <a:spAutoFit/>
          </a:bodyPr>
          <a:lstStyle/>
          <a:p>
            <a:pPr algn="l">
              <a:lnSpc>
                <a:spcPct val="120000"/>
              </a:lnSpc>
            </a:pPr>
            <a:r>
              <a:rPr sz="1500" b="1" i="0">
                <a:solidFill>
                  <a:srgbClr val="F7F4EE"/>
                </a:solidFill>
                <a:latin typeface="Avenir Next"/>
              </a:rPr>
              <a:t>The finding that costs us most</a:t>
            </a:r>
          </a:p>
        </p:txBody>
      </p:sp>
      <p:sp>
        <p:nvSpPr>
          <p:cNvPr id="14" name="TextBox 13"/>
          <p:cNvSpPr txBox="1"/>
          <p:nvPr/>
        </p:nvSpPr>
        <p:spPr>
          <a:xfrm>
            <a:off x="8377732" y="2926080"/>
            <a:ext cx="2881274" cy="1234440"/>
          </a:xfrm>
          <a:prstGeom prst="rect">
            <a:avLst/>
          </a:prstGeom>
          <a:noFill/>
        </p:spPr>
        <p:txBody>
          <a:bodyPr wrap="square" anchor="t" lIns="0" rIns="0" tIns="0" bIns="0">
            <a:spAutoFit/>
          </a:bodyPr>
          <a:lstStyle/>
          <a:p>
            <a:pPr algn="l">
              <a:lnSpc>
                <a:spcPct val="135000"/>
              </a:lnSpc>
            </a:pPr>
            <a:r>
              <a:rPr sz="1300" b="0" i="0">
                <a:solidFill>
                  <a:srgbClr val="F7F4EE"/>
                </a:solidFill>
                <a:latin typeface="Avenir Next"/>
              </a:rPr>
              <a:t>They have never had a sample come back positive for Pseudomonas. We isolated a soil phage and its environmental host — not a treatment for a disease this stakeholder has.</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2D6A6A"/>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8FB3AE"/>
                </a:solidFill>
                <a:latin typeface="Avenir Next"/>
              </a:rPr>
              <a:t>82</a:t>
            </a:r>
          </a:p>
        </p:txBody>
      </p:sp>
      <p:sp>
        <p:nvSpPr>
          <p:cNvPr id="3" name="TextBox 2"/>
          <p:cNvSpPr txBox="1"/>
          <p:nvPr/>
        </p:nvSpPr>
        <p:spPr>
          <a:xfrm>
            <a:off x="658368" y="1325880"/>
            <a:ext cx="10874959" cy="274320"/>
          </a:xfrm>
          <a:prstGeom prst="rect">
            <a:avLst/>
          </a:prstGeom>
          <a:noFill/>
        </p:spPr>
        <p:txBody>
          <a:bodyPr wrap="square" anchor="t" lIns="0" rIns="0" tIns="0" bIns="0">
            <a:spAutoFit/>
          </a:bodyPr>
          <a:lstStyle/>
          <a:p>
            <a:pPr algn="l">
              <a:lnSpc>
                <a:spcPct val="130000"/>
              </a:lnSpc>
            </a:pPr>
            <a:r>
              <a:rPr sz="1200" b="1" i="0">
                <a:solidFill>
                  <a:srgbClr val="C8D8D4"/>
                </a:solidFill>
                <a:latin typeface="Avenir Next"/>
              </a:rPr>
              <a:t>AND WHAT THEY DO NEED</a:t>
            </a:r>
          </a:p>
        </p:txBody>
      </p:sp>
      <p:sp>
        <p:nvSpPr>
          <p:cNvPr id="4" name="TextBox 3"/>
          <p:cNvSpPr txBox="1"/>
          <p:nvPr/>
        </p:nvSpPr>
        <p:spPr>
          <a:xfrm>
            <a:off x="658368" y="1874519"/>
            <a:ext cx="10874959" cy="3017520"/>
          </a:xfrm>
          <a:prstGeom prst="rect">
            <a:avLst/>
          </a:prstGeom>
          <a:noFill/>
        </p:spPr>
        <p:txBody>
          <a:bodyPr wrap="square" anchor="t" lIns="0" rIns="0" tIns="0" bIns="0">
            <a:spAutoFit/>
          </a:bodyPr>
          <a:lstStyle/>
          <a:p>
            <a:pPr algn="l">
              <a:lnSpc>
                <a:spcPct val="120000"/>
              </a:lnSpc>
            </a:pPr>
            <a:r>
              <a:rPr sz="3100" b="0" i="0">
                <a:solidFill>
                  <a:srgbClr val="F7F4EE"/>
                </a:solidFill>
                <a:latin typeface="Georgia"/>
              </a:rPr>
              <a:t>Something for bacteria inside the vascular system,</a:t>
            </a:r>
          </a:p>
          <a:p>
            <a:pPr algn="l">
              <a:lnSpc>
                <a:spcPct val="120000"/>
              </a:lnSpc>
            </a:pPr>
            <a:r>
              <a:rPr sz="3100" b="0" i="0">
                <a:solidFill>
                  <a:srgbClr val="F7F4EE"/>
                </a:solidFill>
                <a:latin typeface="Georgia"/>
              </a:rPr>
              <a:t>where nothing they have reaches.</a:t>
            </a:r>
          </a:p>
        </p:txBody>
      </p:sp>
      <p:sp>
        <p:nvSpPr>
          <p:cNvPr id="5" name="TextBox 4"/>
          <p:cNvSpPr txBox="1"/>
          <p:nvPr/>
        </p:nvSpPr>
        <p:spPr>
          <a:xfrm>
            <a:off x="658368" y="4983480"/>
            <a:ext cx="9692640" cy="1188720"/>
          </a:xfrm>
          <a:prstGeom prst="rect">
            <a:avLst/>
          </a:prstGeom>
          <a:noFill/>
        </p:spPr>
        <p:txBody>
          <a:bodyPr wrap="square" anchor="t" lIns="0" rIns="0" tIns="0" bIns="0">
            <a:spAutoFit/>
          </a:bodyPr>
          <a:lstStyle/>
          <a:p>
            <a:pPr algn="l">
              <a:lnSpc>
                <a:spcPct val="135000"/>
              </a:lnSpc>
            </a:pPr>
            <a:r>
              <a:rPr sz="1900" b="0" i="0">
                <a:solidFill>
                  <a:srgbClr val="C8D8D4"/>
                </a:solidFill>
                <a:latin typeface="Avenir Next"/>
              </a:rPr>
              <a:t>Our strain doesn't solve that. But the question we worked on is the one you'd have to answer first. The strain is local. The question isn't.</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83</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SAFETY AND SECURITY</a:t>
            </a:r>
          </a:p>
        </p:txBody>
      </p:sp>
      <p:sp>
        <p:nvSpPr>
          <p:cNvPr id="5" name="TextBox 4"/>
          <p:cNvSpPr txBox="1"/>
          <p:nvPr/>
        </p:nvSpPr>
        <p:spPr>
          <a:xfrm>
            <a:off x="658368" y="896112"/>
            <a:ext cx="10874959" cy="1097280"/>
          </a:xfrm>
          <a:prstGeom prst="rect">
            <a:avLst/>
          </a:prstGeom>
          <a:noFill/>
        </p:spPr>
        <p:txBody>
          <a:bodyPr wrap="square" anchor="t" lIns="0" rIns="0" tIns="0" bIns="0">
            <a:spAutoFit/>
          </a:bodyPr>
          <a:lstStyle/>
          <a:p>
            <a:pPr algn="l">
              <a:lnSpc>
                <a:spcPct val="112000"/>
              </a:lnSpc>
            </a:pPr>
            <a:r>
              <a:rPr sz="2900" b="0" i="0">
                <a:solidFill>
                  <a:srgbClr val="24383A"/>
                </a:solidFill>
                <a:latin typeface="Georgia"/>
              </a:rPr>
              <a:t>One condition is still open — and it is host range, the subject of the whole project</a:t>
            </a:r>
          </a:p>
        </p:txBody>
      </p:sp>
      <p:sp>
        <p:nvSpPr>
          <p:cNvPr id="6" name="Rounded Rectangle 5"/>
          <p:cNvSpPr/>
          <p:nvPr/>
        </p:nvSpPr>
        <p:spPr>
          <a:xfrm>
            <a:off x="658368" y="2286000"/>
            <a:ext cx="3429914" cy="2468880"/>
          </a:xfrm>
          <a:prstGeom prst="roundRect">
            <a:avLst>
              <a:gd name="adj" fmla="val 6000"/>
            </a:avLst>
          </a:prstGeom>
          <a:solidFill>
            <a:srgbClr val="F6E7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32688" y="2505456"/>
            <a:ext cx="2881274" cy="603504"/>
          </a:xfrm>
          <a:prstGeom prst="rect">
            <a:avLst/>
          </a:prstGeom>
          <a:noFill/>
        </p:spPr>
        <p:txBody>
          <a:bodyPr wrap="square" anchor="t" lIns="0" rIns="0" tIns="0" bIns="0">
            <a:spAutoFit/>
          </a:bodyPr>
          <a:lstStyle/>
          <a:p>
            <a:pPr algn="l">
              <a:lnSpc>
                <a:spcPct val="120000"/>
              </a:lnSpc>
            </a:pPr>
            <a:r>
              <a:rPr sz="1500" b="1" i="0">
                <a:solidFill>
                  <a:srgbClr val="B4542E"/>
                </a:solidFill>
                <a:latin typeface="Avenir Next"/>
              </a:rPr>
              <a:t>What the committee asked</a:t>
            </a:r>
          </a:p>
        </p:txBody>
      </p:sp>
      <p:sp>
        <p:nvSpPr>
          <p:cNvPr id="8" name="TextBox 7"/>
          <p:cNvSpPr txBox="1"/>
          <p:nvPr/>
        </p:nvSpPr>
        <p:spPr>
          <a:xfrm>
            <a:off x="932688" y="3108960"/>
            <a:ext cx="2881274" cy="1417320"/>
          </a:xfrm>
          <a:prstGeom prst="rect">
            <a:avLst/>
          </a:prstGeom>
          <a:noFill/>
        </p:spPr>
        <p:txBody>
          <a:bodyPr wrap="square" anchor="t" lIns="0" rIns="0" tIns="0" bIns="0">
            <a:spAutoFit/>
          </a:bodyPr>
          <a:lstStyle/>
          <a:p>
            <a:pPr algn="l">
              <a:lnSpc>
                <a:spcPct val="135000"/>
              </a:lnSpc>
            </a:pPr>
            <a:r>
              <a:rPr sz="1300" b="0" i="0">
                <a:solidFill>
                  <a:srgbClr val="F7F4EE"/>
                </a:solidFill>
                <a:latin typeface="Avenir Next"/>
              </a:rPr>
              <a:t>To show our reasoning that the work won't alter host range, virulence, or antibiotic resistance. We don't have full approval. The revision is being written.</a:t>
            </a:r>
          </a:p>
        </p:txBody>
      </p:sp>
      <p:sp>
        <p:nvSpPr>
          <p:cNvPr id="9" name="Rounded Rectangle 8"/>
          <p:cNvSpPr/>
          <p:nvPr/>
        </p:nvSpPr>
        <p:spPr>
          <a:xfrm>
            <a:off x="4380890" y="2286000"/>
            <a:ext cx="3429914" cy="2468880"/>
          </a:xfrm>
          <a:prstGeom prst="roundRect">
            <a:avLst>
              <a:gd name="adj" fmla="val 60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655210" y="2505456"/>
            <a:ext cx="2881274" cy="603504"/>
          </a:xfrm>
          <a:prstGeom prst="rect">
            <a:avLst/>
          </a:prstGeom>
          <a:noFill/>
        </p:spPr>
        <p:txBody>
          <a:bodyPr wrap="square" anchor="t" lIns="0" rIns="0" tIns="0" bIns="0">
            <a:spAutoFit/>
          </a:bodyPr>
          <a:lstStyle/>
          <a:p>
            <a:pPr algn="l">
              <a:lnSpc>
                <a:spcPct val="120000"/>
              </a:lnSpc>
            </a:pPr>
            <a:r>
              <a:rPr sz="1500" b="1" i="0">
                <a:solidFill>
                  <a:srgbClr val="2D6A6A"/>
                </a:solidFill>
                <a:latin typeface="Avenir Next"/>
              </a:rPr>
              <a:t>What we can say</a:t>
            </a:r>
          </a:p>
        </p:txBody>
      </p:sp>
      <p:sp>
        <p:nvSpPr>
          <p:cNvPr id="11" name="TextBox 10"/>
          <p:cNvSpPr txBox="1"/>
          <p:nvPr/>
        </p:nvSpPr>
        <p:spPr>
          <a:xfrm>
            <a:off x="4655210" y="3108960"/>
            <a:ext cx="2881274" cy="1417320"/>
          </a:xfrm>
          <a:prstGeom prst="rect">
            <a:avLst/>
          </a:prstGeom>
          <a:noFill/>
        </p:spPr>
        <p:txBody>
          <a:bodyPr wrap="square" anchor="t" lIns="0" rIns="0" tIns="0" bIns="0">
            <a:spAutoFit/>
          </a:bodyPr>
          <a:lstStyle/>
          <a:p>
            <a:pPr algn="l">
              <a:lnSpc>
                <a:spcPct val="135000"/>
              </a:lnSpc>
            </a:pPr>
            <a:r>
              <a:rPr sz="1300" b="0" i="0">
                <a:solidFill>
                  <a:srgbClr val="6B7674"/>
                </a:solidFill>
                <a:latin typeface="Avenir Next"/>
              </a:rPr>
              <a:t>Φ8 carries no virulence factors and no resistance genes across all eighty coding sequences. Our constructs are protein fragments in laboratory E. coli. Nothing here is a modified phage.</a:t>
            </a:r>
          </a:p>
        </p:txBody>
      </p:sp>
      <p:sp>
        <p:nvSpPr>
          <p:cNvPr id="12" name="Rounded Rectangle 11"/>
          <p:cNvSpPr/>
          <p:nvPr/>
        </p:nvSpPr>
        <p:spPr>
          <a:xfrm>
            <a:off x="8103412" y="2286000"/>
            <a:ext cx="3429914" cy="2468880"/>
          </a:xfrm>
          <a:prstGeom prst="roundRect">
            <a:avLst>
              <a:gd name="adj" fmla="val 6000"/>
            </a:avLst>
          </a:prstGeom>
          <a:solidFill>
            <a:srgbClr val="2438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377732" y="2505456"/>
            <a:ext cx="2881274" cy="603504"/>
          </a:xfrm>
          <a:prstGeom prst="rect">
            <a:avLst/>
          </a:prstGeom>
          <a:noFill/>
        </p:spPr>
        <p:txBody>
          <a:bodyPr wrap="square" anchor="t" lIns="0" rIns="0" tIns="0" bIns="0">
            <a:spAutoFit/>
          </a:bodyPr>
          <a:lstStyle/>
          <a:p>
            <a:pPr algn="l">
              <a:lnSpc>
                <a:spcPct val="120000"/>
              </a:lnSpc>
            </a:pPr>
            <a:r>
              <a:rPr sz="1500" b="1" i="0">
                <a:solidFill>
                  <a:srgbClr val="F7F4EE"/>
                </a:solidFill>
                <a:latin typeface="Avenir Next"/>
              </a:rPr>
              <a:t>Why we treat it as dual use</a:t>
            </a:r>
          </a:p>
        </p:txBody>
      </p:sp>
      <p:sp>
        <p:nvSpPr>
          <p:cNvPr id="14" name="TextBox 13"/>
          <p:cNvSpPr txBox="1"/>
          <p:nvPr/>
        </p:nvSpPr>
        <p:spPr>
          <a:xfrm>
            <a:off x="8377732" y="3108960"/>
            <a:ext cx="2881274" cy="1417320"/>
          </a:xfrm>
          <a:prstGeom prst="rect">
            <a:avLst/>
          </a:prstGeom>
          <a:noFill/>
        </p:spPr>
        <p:txBody>
          <a:bodyPr wrap="square" anchor="t" lIns="0" rIns="0" tIns="0" bIns="0">
            <a:spAutoFit/>
          </a:bodyPr>
          <a:lstStyle/>
          <a:p>
            <a:pPr algn="l">
              <a:lnSpc>
                <a:spcPct val="135000"/>
              </a:lnSpc>
            </a:pPr>
            <a:r>
              <a:rPr sz="1300" b="0" i="0">
                <a:solidFill>
                  <a:srgbClr val="F7F4EE"/>
                </a:solidFill>
                <a:latin typeface="Avenir Next"/>
              </a:rPr>
              <a:t>Understanding what sets the ceiling on host range is the same as knowing what would have to change to raise it.</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A8B0AE"/>
                </a:solidFill>
                <a:latin typeface="Avenir Next"/>
              </a:rPr>
              <a:t>84</a:t>
            </a:r>
          </a:p>
        </p:txBody>
      </p:sp>
      <p:sp>
        <p:nvSpPr>
          <p:cNvPr id="3" name="Rectangle 2"/>
          <p:cNvSpPr/>
          <p:nvPr/>
        </p:nvSpPr>
        <p:spPr>
          <a:xfrm>
            <a:off x="658368" y="384048"/>
            <a:ext cx="118872" cy="256032"/>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02336"/>
            <a:ext cx="9601200" cy="274320"/>
          </a:xfrm>
          <a:prstGeom prst="rect">
            <a:avLst/>
          </a:prstGeom>
          <a:noFill/>
        </p:spPr>
        <p:txBody>
          <a:bodyPr wrap="square" anchor="t" lIns="0" rIns="0" tIns="0" bIns="0">
            <a:spAutoFit/>
          </a:bodyPr>
          <a:lstStyle/>
          <a:p>
            <a:pPr algn="l">
              <a:lnSpc>
                <a:spcPct val="130000"/>
              </a:lnSpc>
            </a:pPr>
            <a:r>
              <a:rPr sz="1200" b="1" i="0">
                <a:solidFill>
                  <a:srgbClr val="2D6A6A"/>
                </a:solidFill>
                <a:latin typeface="Avenir Next"/>
              </a:rPr>
              <a:t>WHERE WE ARE</a:t>
            </a:r>
          </a:p>
        </p:txBody>
      </p:sp>
      <p:sp>
        <p:nvSpPr>
          <p:cNvPr id="5" name="TextBox 4"/>
          <p:cNvSpPr txBox="1"/>
          <p:nvPr/>
        </p:nvSpPr>
        <p:spPr>
          <a:xfrm>
            <a:off x="658368" y="896112"/>
            <a:ext cx="10874959" cy="731520"/>
          </a:xfrm>
          <a:prstGeom prst="rect">
            <a:avLst/>
          </a:prstGeom>
          <a:noFill/>
        </p:spPr>
        <p:txBody>
          <a:bodyPr wrap="square" anchor="t" lIns="0" rIns="0" tIns="0" bIns="0">
            <a:spAutoFit/>
          </a:bodyPr>
          <a:lstStyle/>
          <a:p>
            <a:pPr algn="l">
              <a:lnSpc>
                <a:spcPct val="130000"/>
              </a:lnSpc>
            </a:pPr>
            <a:r>
              <a:rPr sz="2900" b="0" i="0">
                <a:solidFill>
                  <a:srgbClr val="24383A"/>
                </a:solidFill>
                <a:latin typeface="Georgia"/>
              </a:rPr>
              <a:t>Established · partly tested · open</a:t>
            </a:r>
          </a:p>
        </p:txBody>
      </p:sp>
      <p:sp>
        <p:nvSpPr>
          <p:cNvPr id="6" name="Rounded Rectangle 5"/>
          <p:cNvSpPr/>
          <p:nvPr/>
        </p:nvSpPr>
        <p:spPr>
          <a:xfrm>
            <a:off x="658368" y="2103120"/>
            <a:ext cx="3442106" cy="45720"/>
          </a:xfrm>
          <a:prstGeom prst="roundRect">
            <a:avLst>
              <a:gd name="adj" fmla="val 0"/>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2286000"/>
            <a:ext cx="3442106" cy="457200"/>
          </a:xfrm>
          <a:prstGeom prst="rect">
            <a:avLst/>
          </a:prstGeom>
          <a:noFill/>
        </p:spPr>
        <p:txBody>
          <a:bodyPr wrap="square" anchor="t" lIns="0" rIns="0" tIns="0" bIns="0">
            <a:spAutoFit/>
          </a:bodyPr>
          <a:lstStyle/>
          <a:p>
            <a:pPr algn="l">
              <a:lnSpc>
                <a:spcPct val="130000"/>
              </a:lnSpc>
            </a:pPr>
            <a:r>
              <a:rPr sz="2000" b="1" i="0">
                <a:solidFill>
                  <a:srgbClr val="2D6A6A"/>
                </a:solidFill>
                <a:latin typeface="Avenir Next"/>
              </a:rPr>
              <a:t>Established</a:t>
            </a:r>
          </a:p>
        </p:txBody>
      </p:sp>
      <p:sp>
        <p:nvSpPr>
          <p:cNvPr id="8" name="TextBox 7"/>
          <p:cNvSpPr txBox="1"/>
          <p:nvPr/>
        </p:nvSpPr>
        <p:spPr>
          <a:xfrm>
            <a:off x="658368" y="2788920"/>
            <a:ext cx="3442106" cy="3291840"/>
          </a:xfrm>
          <a:prstGeom prst="rect">
            <a:avLst/>
          </a:prstGeom>
          <a:noFill/>
        </p:spPr>
        <p:txBody>
          <a:bodyPr wrap="square" anchor="t" lIns="0" rIns="0" tIns="0" bIns="0">
            <a:spAutoFit/>
          </a:bodyPr>
          <a:lstStyle/>
          <a:p>
            <a:pPr algn="l">
              <a:lnSpc>
                <a:spcPct val="150000"/>
              </a:lnSpc>
            </a:pPr>
            <a:r>
              <a:rPr sz="1400" b="0" i="0">
                <a:solidFill>
                  <a:srgbClr val="24383A"/>
                </a:solidFill>
                <a:latin typeface="Avenir Next"/>
              </a:rPr>
              <a:t>Five bacterial genomes and a novel circular phage genome</a:t>
            </a:r>
          </a:p>
          <a:p>
            <a:pPr algn="l">
              <a:lnSpc>
                <a:spcPct val="150000"/>
              </a:lnSpc>
            </a:pPr>
            <a:r>
              <a:rPr sz="1400" b="0" i="0">
                <a:solidFill>
                  <a:srgbClr val="24383A"/>
                </a:solidFill>
                <a:latin typeface="Avenir Next"/>
              </a:rPr>
              <a:t>Three unrelated sugar cassettes in one locus — with no serotype scheme in existence that could have told us</a:t>
            </a:r>
          </a:p>
          <a:p>
            <a:pPr algn="l">
              <a:lnSpc>
                <a:spcPct val="150000"/>
              </a:lnSpc>
            </a:pPr>
            <a:r>
              <a:rPr sz="1400" b="0" i="0">
                <a:solidFill>
                  <a:srgbClr val="24383A"/>
                </a:solidFill>
                <a:latin typeface="Avenir Next"/>
              </a:rPr>
              <a:t>A tail spike that is a sugar-cutting enzyme, by two independent methods</a:t>
            </a:r>
          </a:p>
          <a:p>
            <a:pPr algn="l">
              <a:lnSpc>
                <a:spcPct val="150000"/>
              </a:lnSpc>
            </a:pPr>
            <a:r>
              <a:rPr sz="1400" b="0" i="0">
                <a:solidFill>
                  <a:srgbClr val="24383A"/>
                </a:solidFill>
                <a:latin typeface="Avenir Next"/>
              </a:rPr>
              <a:t>A controlled negative result about interface prediction</a:t>
            </a:r>
          </a:p>
          <a:p>
            <a:pPr algn="l">
              <a:lnSpc>
                <a:spcPct val="150000"/>
              </a:lnSpc>
            </a:pPr>
            <a:r>
              <a:rPr sz="1400" b="0" i="0">
                <a:solidFill>
                  <a:srgbClr val="24383A"/>
                </a:solidFill>
                <a:latin typeface="Avenir Next"/>
              </a:rPr>
              <a:t>One resistance mutation verified in the reads</a:t>
            </a:r>
          </a:p>
        </p:txBody>
      </p:sp>
      <p:sp>
        <p:nvSpPr>
          <p:cNvPr id="9" name="Rounded Rectangle 8"/>
          <p:cNvSpPr/>
          <p:nvPr/>
        </p:nvSpPr>
        <p:spPr>
          <a:xfrm>
            <a:off x="4374794" y="2103120"/>
            <a:ext cx="3442106" cy="45720"/>
          </a:xfrm>
          <a:prstGeom prst="roundRect">
            <a:avLst>
              <a:gd name="adj" fmla="val 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374794" y="2286000"/>
            <a:ext cx="3442106" cy="457200"/>
          </a:xfrm>
          <a:prstGeom prst="rect">
            <a:avLst/>
          </a:prstGeom>
          <a:noFill/>
        </p:spPr>
        <p:txBody>
          <a:bodyPr wrap="square" anchor="t" lIns="0" rIns="0" tIns="0" bIns="0">
            <a:spAutoFit/>
          </a:bodyPr>
          <a:lstStyle/>
          <a:p>
            <a:pPr algn="l">
              <a:lnSpc>
                <a:spcPct val="130000"/>
              </a:lnSpc>
            </a:pPr>
            <a:r>
              <a:rPr sz="2000" b="1" i="0">
                <a:solidFill>
                  <a:srgbClr val="C9A227"/>
                </a:solidFill>
                <a:latin typeface="Avenir Next"/>
              </a:rPr>
              <a:t>Partly tested</a:t>
            </a:r>
          </a:p>
        </p:txBody>
      </p:sp>
      <p:sp>
        <p:nvSpPr>
          <p:cNvPr id="11" name="TextBox 10"/>
          <p:cNvSpPr txBox="1"/>
          <p:nvPr/>
        </p:nvSpPr>
        <p:spPr>
          <a:xfrm>
            <a:off x="4374794" y="2788920"/>
            <a:ext cx="3442106" cy="3291840"/>
          </a:xfrm>
          <a:prstGeom prst="rect">
            <a:avLst/>
          </a:prstGeom>
          <a:noFill/>
        </p:spPr>
        <p:txBody>
          <a:bodyPr wrap="square" anchor="t" lIns="0" rIns="0" tIns="0" bIns="0">
            <a:spAutoFit/>
          </a:bodyPr>
          <a:lstStyle/>
          <a:p>
            <a:pPr algn="l">
              <a:lnSpc>
                <a:spcPct val="150000"/>
              </a:lnSpc>
            </a:pPr>
            <a:r>
              <a:rPr sz="1400" b="0" i="0">
                <a:solidFill>
                  <a:srgbClr val="24383A"/>
                </a:solidFill>
                <a:latin typeface="Avenir Next"/>
              </a:rPr>
              <a:t>That Φ8 won't infect the other two strains — the July assay pointed the right way, and carried no control</a:t>
            </a:r>
          </a:p>
          <a:p>
            <a:pPr algn="l">
              <a:lnSpc>
                <a:spcPct val="150000"/>
              </a:lnSpc>
            </a:pPr>
            <a:r>
              <a:rPr sz="1400" b="0" i="0">
                <a:solidFill>
                  <a:srgbClr val="24383A"/>
                </a:solidFill>
                <a:latin typeface="Avenir Next"/>
              </a:rPr>
              <a:t>One ancestor purified at its predicted mass</a:t>
            </a:r>
          </a:p>
          <a:p>
            <a:pPr algn="l">
              <a:lnSpc>
                <a:spcPct val="150000"/>
              </a:lnSpc>
            </a:pPr>
            <a:r>
              <a:rPr sz="1400" b="0" i="0">
                <a:solidFill>
                  <a:srgbClr val="24383A"/>
                </a:solidFill>
                <a:latin typeface="Avenir Next"/>
              </a:rPr>
              <a:t>Colony counts under it fall to 12 % of control — which our PI reads as activity, and we won't, until the carry-over control is run</a:t>
            </a:r>
          </a:p>
        </p:txBody>
      </p:sp>
      <p:sp>
        <p:nvSpPr>
          <p:cNvPr id="12" name="Rounded Rectangle 11"/>
          <p:cNvSpPr/>
          <p:nvPr/>
        </p:nvSpPr>
        <p:spPr>
          <a:xfrm>
            <a:off x="8091220" y="2103120"/>
            <a:ext cx="3442106" cy="45720"/>
          </a:xfrm>
          <a:prstGeom prst="roundRect">
            <a:avLst>
              <a:gd name="adj" fmla="val 0"/>
            </a:avLst>
          </a:prstGeom>
          <a:solidFill>
            <a:srgbClr val="B454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91220" y="2286000"/>
            <a:ext cx="3442106" cy="457200"/>
          </a:xfrm>
          <a:prstGeom prst="rect">
            <a:avLst/>
          </a:prstGeom>
          <a:noFill/>
        </p:spPr>
        <p:txBody>
          <a:bodyPr wrap="square" anchor="t" lIns="0" rIns="0" tIns="0" bIns="0">
            <a:spAutoFit/>
          </a:bodyPr>
          <a:lstStyle/>
          <a:p>
            <a:pPr algn="l">
              <a:lnSpc>
                <a:spcPct val="130000"/>
              </a:lnSpc>
            </a:pPr>
            <a:r>
              <a:rPr sz="2000" b="1" i="0">
                <a:solidFill>
                  <a:srgbClr val="B4542E"/>
                </a:solidFill>
                <a:latin typeface="Avenir Next"/>
              </a:rPr>
              <a:t>Open</a:t>
            </a:r>
          </a:p>
        </p:txBody>
      </p:sp>
      <p:sp>
        <p:nvSpPr>
          <p:cNvPr id="14" name="TextBox 13"/>
          <p:cNvSpPr txBox="1"/>
          <p:nvPr/>
        </p:nvSpPr>
        <p:spPr>
          <a:xfrm>
            <a:off x="8091220" y="2788920"/>
            <a:ext cx="3442106" cy="3291840"/>
          </a:xfrm>
          <a:prstGeom prst="rect">
            <a:avLst/>
          </a:prstGeom>
          <a:noFill/>
        </p:spPr>
        <p:txBody>
          <a:bodyPr wrap="square" anchor="t" lIns="0" rIns="0" tIns="0" bIns="0">
            <a:spAutoFit/>
          </a:bodyPr>
          <a:lstStyle/>
          <a:p>
            <a:pPr algn="l">
              <a:lnSpc>
                <a:spcPct val="150000"/>
              </a:lnSpc>
            </a:pPr>
            <a:r>
              <a:rPr sz="1400" b="0" i="0">
                <a:solidFill>
                  <a:srgbClr val="24383A"/>
                </a:solidFill>
                <a:latin typeface="Avenir Next"/>
              </a:rPr>
              <a:t>A clean expression round, with the lane we keep not running</a:t>
            </a:r>
          </a:p>
          <a:p>
            <a:pPr algn="l">
              <a:lnSpc>
                <a:spcPct val="150000"/>
              </a:lnSpc>
            </a:pPr>
            <a:r>
              <a:rPr sz="1400" b="0" i="0">
                <a:solidFill>
                  <a:srgbClr val="24383A"/>
                </a:solidFill>
                <a:latin typeface="Avenir Next"/>
              </a:rPr>
              <a:t>Whether the tail spike fragment is even full length</a:t>
            </a:r>
          </a:p>
          <a:p>
            <a:pPr algn="l">
              <a:lnSpc>
                <a:spcPct val="150000"/>
              </a:lnSpc>
            </a:pPr>
            <a:r>
              <a:rPr sz="1400" b="0" i="0">
                <a:solidFill>
                  <a:srgbClr val="24383A"/>
                </a:solidFill>
                <a:latin typeface="Avenir Next"/>
              </a:rPr>
              <a:t>Which sugar layer the phage reads</a:t>
            </a:r>
          </a:p>
          <a:p>
            <a:pPr algn="l">
              <a:lnSpc>
                <a:spcPct val="150000"/>
              </a:lnSpc>
            </a:pPr>
            <a:r>
              <a:rPr sz="1400" b="0" i="0">
                <a:solidFill>
                  <a:srgbClr val="24383A"/>
                </a:solidFill>
                <a:latin typeface="Avenir Next"/>
              </a:rPr>
              <a:t>Whether Φ8 is temperate</a:t>
            </a:r>
          </a:p>
          <a:p>
            <a:pPr algn="l">
              <a:lnSpc>
                <a:spcPct val="150000"/>
              </a:lnSpc>
            </a:pPr>
            <a:r>
              <a:rPr sz="1400" b="0" i="0">
                <a:solidFill>
                  <a:srgbClr val="24383A"/>
                </a:solidFill>
                <a:latin typeface="Avenir Next"/>
              </a:rPr>
              <a:t>Depositing the genome, which we haven't done</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24383A"/>
        </a:solidFill>
        <a:effectLst/>
      </p:bgPr>
    </p:bg>
    <p:spTree>
      <p:nvGrpSpPr>
        <p:cNvPr id="1" name=""/>
        <p:cNvGrpSpPr/>
        <p:nvPr/>
      </p:nvGrpSpPr>
      <p:grpSpPr/>
      <p:sp>
        <p:nvSpPr>
          <p:cNvPr id="2" name="TextBox 1"/>
          <p:cNvSpPr txBox="1"/>
          <p:nvPr/>
        </p:nvSpPr>
        <p:spPr>
          <a:xfrm>
            <a:off x="10984687" y="6437376"/>
            <a:ext cx="548640" cy="219456"/>
          </a:xfrm>
          <a:prstGeom prst="rect">
            <a:avLst/>
          </a:prstGeom>
          <a:noFill/>
        </p:spPr>
        <p:txBody>
          <a:bodyPr wrap="square" anchor="t" lIns="0" rIns="0" tIns="0" bIns="0">
            <a:spAutoFit/>
          </a:bodyPr>
          <a:lstStyle/>
          <a:p>
            <a:pPr algn="r">
              <a:lnSpc>
                <a:spcPct val="130000"/>
              </a:lnSpc>
            </a:pPr>
            <a:r>
              <a:rPr sz="1000" b="0" i="0">
                <a:solidFill>
                  <a:srgbClr val="8FB3AE"/>
                </a:solidFill>
                <a:latin typeface="Avenir Next"/>
              </a:rPr>
              <a:t>85</a:t>
            </a:r>
          </a:p>
        </p:txBody>
      </p:sp>
      <p:sp>
        <p:nvSpPr>
          <p:cNvPr id="3" name="TextBox 2"/>
          <p:cNvSpPr txBox="1"/>
          <p:nvPr/>
        </p:nvSpPr>
        <p:spPr>
          <a:xfrm>
            <a:off x="658368" y="1371600"/>
            <a:ext cx="10874959" cy="274320"/>
          </a:xfrm>
          <a:prstGeom prst="rect">
            <a:avLst/>
          </a:prstGeom>
          <a:noFill/>
        </p:spPr>
        <p:txBody>
          <a:bodyPr wrap="square" anchor="t" lIns="0" rIns="0" tIns="0" bIns="0">
            <a:spAutoFit/>
          </a:bodyPr>
          <a:lstStyle/>
          <a:p>
            <a:pPr algn="l">
              <a:lnSpc>
                <a:spcPct val="130000"/>
              </a:lnSpc>
            </a:pPr>
            <a:r>
              <a:rPr sz="1300" b="1" i="0">
                <a:solidFill>
                  <a:srgbClr val="8FB3AE"/>
                </a:solidFill>
                <a:latin typeface="Avenir Next"/>
              </a:rPr>
              <a:t>FOUR CYCLES, THREE OF THEM WRONG</a:t>
            </a:r>
          </a:p>
        </p:txBody>
      </p:sp>
      <p:sp>
        <p:nvSpPr>
          <p:cNvPr id="4" name="TextBox 3"/>
          <p:cNvSpPr txBox="1"/>
          <p:nvPr/>
        </p:nvSpPr>
        <p:spPr>
          <a:xfrm>
            <a:off x="658368" y="1874519"/>
            <a:ext cx="10874959" cy="1645920"/>
          </a:xfrm>
          <a:prstGeom prst="rect">
            <a:avLst/>
          </a:prstGeom>
          <a:noFill/>
        </p:spPr>
        <p:txBody>
          <a:bodyPr wrap="square" anchor="t" lIns="0" rIns="0" tIns="0" bIns="0">
            <a:spAutoFit/>
          </a:bodyPr>
          <a:lstStyle/>
          <a:p>
            <a:pPr algn="l">
              <a:lnSpc>
                <a:spcPct val="118000"/>
              </a:lnSpc>
            </a:pPr>
            <a:r>
              <a:rPr sz="4200" b="0" i="0">
                <a:solidFill>
                  <a:srgbClr val="F7F4EE"/>
                </a:solidFill>
                <a:latin typeface="Georgia"/>
              </a:rPr>
              <a:t>Each one was wrong in a way that</a:t>
            </a:r>
          </a:p>
          <a:p>
            <a:pPr algn="l">
              <a:lnSpc>
                <a:spcPct val="118000"/>
              </a:lnSpc>
            </a:pPr>
            <a:r>
              <a:rPr sz="4200" b="0" i="0">
                <a:solidFill>
                  <a:srgbClr val="F7F4EE"/>
                </a:solidFill>
                <a:latin typeface="Georgia"/>
              </a:rPr>
              <a:t>told us where to go next.</a:t>
            </a:r>
          </a:p>
        </p:txBody>
      </p:sp>
      <p:sp>
        <p:nvSpPr>
          <p:cNvPr id="5" name="Rounded Rectangle 4"/>
          <p:cNvSpPr/>
          <p:nvPr/>
        </p:nvSpPr>
        <p:spPr>
          <a:xfrm>
            <a:off x="658368" y="3794760"/>
            <a:ext cx="10874959" cy="1737360"/>
          </a:xfrm>
          <a:prstGeom prst="roundRect">
            <a:avLst>
              <a:gd name="adj" fmla="val 6000"/>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069848" y="4041648"/>
            <a:ext cx="10051999" cy="914400"/>
          </a:xfrm>
          <a:prstGeom prst="rect">
            <a:avLst/>
          </a:prstGeom>
          <a:noFill/>
        </p:spPr>
        <p:txBody>
          <a:bodyPr wrap="square" anchor="t" lIns="0" rIns="0" tIns="0" bIns="0">
            <a:spAutoFit/>
          </a:bodyPr>
          <a:lstStyle/>
          <a:p>
            <a:pPr algn="l">
              <a:lnSpc>
                <a:spcPct val="120000"/>
              </a:lnSpc>
            </a:pPr>
            <a:r>
              <a:rPr sz="2500" b="0" i="0">
                <a:solidFill>
                  <a:srgbClr val="F7F4EE"/>
                </a:solidFill>
                <a:latin typeface="Georgia"/>
              </a:rPr>
              <a:t>If we could pass on one thing: put the cheap control</a:t>
            </a:r>
          </a:p>
          <a:p>
            <a:pPr algn="l">
              <a:lnSpc>
                <a:spcPct val="120000"/>
              </a:lnSpc>
            </a:pPr>
            <a:r>
              <a:rPr sz="2500" b="0" i="0">
                <a:solidFill>
                  <a:srgbClr val="F7F4EE"/>
                </a:solidFill>
                <a:latin typeface="Georgia"/>
              </a:rPr>
              <a:t>in front of the expensive experiment.</a:t>
            </a:r>
          </a:p>
        </p:txBody>
      </p:sp>
      <p:sp>
        <p:nvSpPr>
          <p:cNvPr id="7" name="TextBox 6"/>
          <p:cNvSpPr txBox="1"/>
          <p:nvPr/>
        </p:nvSpPr>
        <p:spPr>
          <a:xfrm>
            <a:off x="1069848" y="5029200"/>
            <a:ext cx="10051999" cy="457200"/>
          </a:xfrm>
          <a:prstGeom prst="rect">
            <a:avLst/>
          </a:prstGeom>
          <a:noFill/>
        </p:spPr>
        <p:txBody>
          <a:bodyPr wrap="square" anchor="t" lIns="0" rIns="0" tIns="0" bIns="0">
            <a:spAutoFit/>
          </a:bodyPr>
          <a:lstStyle/>
          <a:p>
            <a:pPr algn="l">
              <a:lnSpc>
                <a:spcPct val="130000"/>
              </a:lnSpc>
            </a:pPr>
            <a:r>
              <a:rPr sz="1500" b="0" i="0">
                <a:solidFill>
                  <a:srgbClr val="C8D8D4"/>
                </a:solidFill>
                <a:latin typeface="Avenir Next"/>
              </a:rPr>
              <a:t>Nine folds told us what seven thousand couldn't, and one afternoon's dot blot told us what a week on a column hadn't.</a:t>
            </a:r>
          </a:p>
        </p:txBody>
      </p:sp>
      <p:sp>
        <p:nvSpPr>
          <p:cNvPr id="8" name="TextBox 7"/>
          <p:cNvSpPr txBox="1"/>
          <p:nvPr/>
        </p:nvSpPr>
        <p:spPr>
          <a:xfrm>
            <a:off x="658368" y="6309360"/>
            <a:ext cx="10874959" cy="274320"/>
          </a:xfrm>
          <a:prstGeom prst="rect">
            <a:avLst/>
          </a:prstGeom>
          <a:noFill/>
        </p:spPr>
        <p:txBody>
          <a:bodyPr wrap="square" anchor="t" lIns="0" rIns="0" tIns="0" bIns="0">
            <a:spAutoFit/>
          </a:bodyPr>
          <a:lstStyle/>
          <a:p>
            <a:pPr algn="l">
              <a:lnSpc>
                <a:spcPct val="130000"/>
              </a:lnSpc>
            </a:pPr>
            <a:r>
              <a:rPr sz="1200" b="0" i="0">
                <a:solidFill>
                  <a:srgbClr val="8FB3AE"/>
                </a:solidFill>
                <a:latin typeface="Avenir Next"/>
              </a:rPr>
              <a:t>iGEM Claremont-CA 2026 · Phagenomics · 2026.igem.wiki/claremont-ca</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