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iGEM Claremont-CA, a first-year team in California, and this is Phagenomics.</a:t>
            </a:r>
          </a:p>
          <a:p/>
          <a:p>
            <a:r>
              <a:t>We work on one question: what decides which bacteria a phage can 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Pseudomonas causes serious infections in immunocompromised patients and persistent crop disease in agriculture, and phage therapy is one of the alternatives to antibiotics people are betting on. Its bottleneck is host range. Each phage binds a specific receptor on a specific strain, and nobody can design that specificity yet, because we don't understand how a phage recognises its target in the first place.</a:t>
            </a:r>
          </a:p>
          <a:p/>
          <a:p>
            <a:r>
              <a:t>So we didn't try to build a therapeutic. We tried to understand the recognition step that any therapeutic would depend on. We went at it four times this season. Three of those four failed, and the failures are the useful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problem in one image. We put a drop of phage onto a lawn of bacteria, and a few hours later there's a clear circle where the bacteria used to be. We move the same drop to the next plate, and nothing happens. Same phage, different strain.</a:t>
            </a:r>
          </a:p>
          <a:p/>
          <a:p>
            <a:r>
              <a:t>Phages are fussy about what they kill, and that fussiness is the bottleneck.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gets decided at the very first step, before any DNA moves: the phage has to recognise the outside of the cell and stick to it.</a:t>
            </a:r>
          </a:p>
          <a:p/>
          <a:p>
            <a:r>
              <a:t>And many bacteria don't present a bare protein surface. They wrap themselves in sugar — long chains called the O-antigen, and above those, in some species, a capsule. So the first thing a phage touches is a forest of sugar.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gets decided at the very first step, before any DNA moves: the phage has to recognise the outside of the cell and stick to it.</a:t>
            </a:r>
          </a:p>
          <a:p/>
          <a:p>
            <a:r>
              <a:t>And many bacteria don't present a bare protein surface. They wrap themselves in sugar — long chains called the O-antigen, and above those, in some species, a capsule. So the first thing a phage touches is a forest of sugar.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gets decided at the very first step, before any DNA moves: the phage has to recognise the outside of the cell and stick to it.</a:t>
            </a:r>
          </a:p>
          <a:p/>
          <a:p>
            <a:r>
              <a:t>And many bacteria don't present a bare protein surface. They wrap themselves in sugar — long chains called the O-antigen, and above those, in some species, a capsule. So the first thing a phage touches is a forest of sugar.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gets decided at the very first step, before any DNA moves: the phage has to recognise the outside of the cell and stick to it.</a:t>
            </a:r>
          </a:p>
          <a:p/>
          <a:p>
            <a:r>
              <a:t>And many bacteria don't present a bare protein surface. They wrap themselves in sugar — long chains called the O-antigen, and above those, in some species, a capsule. So the first thing a phage touches is a forest of sugar.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collected soil from the California Botanic Garden on the nineteenth of May. From it we isolated five Pseudomonas strains, and we sequenced all five genomes — every one of them closed into a complete circle.</a:t>
            </a:r>
          </a:p>
          <a:p/>
          <a:p>
            <a:r>
              <a:t>Those five collapse into three distinct strains. That leaves us with two pairs of near-identical isolates, and we use those pairs as an internal control all the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isolated a phage, which we call Phi-8, and it infects exactly one of the three strains. Sixty-two thousand, three hundred and thirty-nine base pairs, circular, eighty genes. No match anywhere in the phage database, and essentially no genes in common with T7. The architecture is familiar. The sequence isn't.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went looking at the locus that builds the sugar coat. We anchored on the gene that flanks it in Pseudomonas, pulled the cassette out of all three strains, and clustered every protein in it.</a:t>
            </a:r>
          </a:p>
          <a:p/>
          <a:p>
            <a:r>
              <a:t>We found the cassette sitting in the same slot in all three. The contents are unrelated.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all three we found forty-five gene clusters — of which only four are shared by every strain, and all four are generic sugar chemistry. Meanwhile the near-identical pairs inside each strain match at a hundred percent.</a:t>
            </a:r>
          </a:p>
          <a:p/>
          <a:p>
            <a:r>
              <a:t>We also found that no database could have told us any of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three strains, three different sugar coats, one phage that kills one of them. That gave us our first hypothesis — that the sugar coat might be one of the main things setting what Phi-8 can attack.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 1 — the wrong question. Retired by its own controls.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designed the first cycle around the wrong assumption, and it's worth saying why it was the reasonable one.</a:t>
            </a:r>
          </a:p>
          <a:p/>
          <a:p>
            <a:r>
              <a:t>If we had known the receptor was a sugar, we would never have run this. We thought it was a protein, so we went looking for a protein.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built was a screen. Four hundred and forty-one candidate receptors across all five isolates, collapsed into a hundred and forty-four clusters. A hundred and fourteen binding proteins against sixty-three receptors — seven thousand, one hundred and eighty-two pairs, each folded as a complex on our university's GPU cluster.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built was a screen. Four hundred and forty-one candidate receptors across all five isolates, collapsed into a hundred and forty-four clusters. A hundred and fourteen binding proteins against sixty-three receptors — seven thousand, one hundred and eighty-two pairs, each folded as a complex on our university's GPU cluster.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built was a screen. Four hundred and forty-one candidate receptors across all five isolates, collapsed into a hundred and forty-four clusters. A hundred and fourteen binding proteins against sixty-three receptors — seven thousand, one hundred and eighty-two pairs, each folded as a complex on our university's GPU cluster.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built was a screen. Four hundred and forty-one candidate receptors across all five isolates, collapsed into a hundred and forty-four clusters. A hundred and fourteen binding proteins against sixty-three receptors — seven thousand, one hundred and eighty-two pairs, each folded as a complex on our university's GPU cluster.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tested wasn't the screen. It was whether the screen could tell the difference.</a:t>
            </a:r>
          </a:p>
          <a:p/>
          <a:p>
            <a:r>
              <a:t>T5's pb-five with FhuA scored zero point one three seven. The same receptor, scrambled, scored zero point one three six. One thousandth apart.</a:t>
            </a:r>
          </a:p>
          <a:p/>
          <a:p>
            <a:r>
              <a:t>We assumed the tool was at fault, so we rebuilt it with real evolutionary alignments. It got worse.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tested wasn't the screen. It was whether the screen could tell the difference.</a:t>
            </a:r>
          </a:p>
          <a:p/>
          <a:p>
            <a:r>
              <a:t>T5's pb-five with FhuA scored zero point one three seven. The same receptor, scrambled, scored zero point one three six. One thousandth apart.</a:t>
            </a:r>
          </a:p>
          <a:p/>
          <a:p>
            <a:r>
              <a:t>We assumed the tool was at fault, so we rebuilt it with real evolutionary alignments. It got worse.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tested wasn't the screen. It was whether the screen could tell the difference.</a:t>
            </a:r>
          </a:p>
          <a:p/>
          <a:p>
            <a:r>
              <a:t>T5's pb-five with FhuA scored zero point one three seven. The same receptor, scrambled, scored zero point one three six. One thousandth apart.</a:t>
            </a:r>
          </a:p>
          <a:p/>
          <a:p>
            <a:r>
              <a:t>We assumed the tool was at fault, so we rebuilt it with real evolutionary alignments. It got worse.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tools, two control gates, both failed. One failure is about your run; two independent failures are about the method.</a:t>
            </a:r>
          </a:p>
          <a:p/>
          <a:p>
            <a:r>
              <a:t>When we scrambled a receptor, the shape score collapsed from zero point five five to zero point one seven. But the interface score barely moved. It had never been reading an interface at all.</a:t>
            </a:r>
          </a:p>
          <a:p/>
          <a:p>
            <a:r>
              <a:t>These models read evolution. That signal only exists where two proteins have co-adapted. A phage protein and a bacterial protein never have.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 2 — geometry instead of docking.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second cycle we changed the question. We built that on two readouts that don't share a method: an open-source sequence classifier over all eighty proteins, and then geometry measured directly.</a:t>
            </a:r>
          </a:p>
          <a:p/>
          <a:p>
            <a:r>
              <a:t>We chose that test rather than fell back on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tested was eight predicted structures covering seven proteins, and we classified each from its own backbone geometry.</a:t>
            </a:r>
          </a:p>
          <a:p/>
          <a:p>
            <a:r>
              <a:t>Five of the seven came back negative. The method says no, which is what makes it worth believing when it says yes.</a:t>
            </a:r>
          </a:p>
          <a:p/>
          <a:p>
            <a:r>
              <a:t>It said yes twice: the tail spike, and CDS 24, which the annotation had filed as hypothetical.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CDS 11 is nine hundred and forty-one residues and most of it isn't the enzyme. The first hundred and ten anchor it to the virion, and the next two hundred are a shaft that moves between every model we ran. The rigid trimeric body — from residue three hundred to the end — is the part that carries the chemistry.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CDS 11 is nine hundred and forty-one residues and most of it isn't the enzyme. The first hundred and ten anchor it to the virion, and the next two hundred are a shaft that moves between every model we ran. The rigid trimeric body — from residue three hundred to the end — is the part that carries the chemistry.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CDS 11 is nine hundred and forty-one residues and most of it isn't the enzyme. The first hundred and ten anchor it to the virion, and the next two hundred are a shaft that moves between every model we ran. The rigid trimeric body — from residue three hundred to the end — is the part that carries the chemistry.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CDS 11 is nine hundred and forty-one residues and most of it isn't the enzyme. The first hundred and ten anchor it to the virion, and the next two hundred are a shaft that moves between every model we ran. The rigid trimeric body — from residue three hundred to the end — is the part that carries the chemistry.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shape is a signature. Enzymes that chew through long sugar chains look like this. You can recognise a wood plane by its shape without being told what it cuts.</a:t>
            </a:r>
          </a:p>
          <a:p/>
          <a:p>
            <a:r>
              <a:t>So the tail spike isn't a key. It's a blade — and the lock we had spent months looking for doesn't exist.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bacteria that wrap themselves in sugar, the ceiling on host range is set by what the depolymerase can digest — not by which protein the tail binds. And the narrow specificity we see today is a narrowed-down version of something broader further back.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hypothesis makes a prediction we can falsify. We tested that in July. The Strain 1 and Strain 3 representatives came back negative against both lysates.</a:t>
            </a:r>
          </a:p>
          <a:p/>
          <a:p>
            <a:r>
              <a:t>We're not calling it confirmed, and the reasons come from our own notebook rather than from a reviewer.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 3 — build the enzymes. Two lines.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enzymes sit in the tail module. CDS 11, the beta-helix, is the one that reads the host surface. And next to it CDS 12, a glycoside hydrolase from family five — a TIM barrel, not a beta-helix, whose closest structural match is an endoglucanase caught with a short cellulose chain. It is a separate protein, not a domain of the tail spike, and we have not established what it does inside the phage.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enzymes sit in the tail module. CDS 11, the beta-helix, is the one that reads the host surface. And next to it CDS 12, a glycoside hydrolase from family five — a TIM barrel, not a beta-helix, whose closest structural match is an endoglucanase caught with a short cellulose chain. It is a separate protein, not a domain of the tail spike, and we have not established what it does inside the phage.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did we reconstruct ancestors of that one, rather than of the tail spike? Three reasons, and none of them is that we got confused. CDS 12 has a thousand homologues in the databases. CDS 12 is a third of the size. And we were working inside a sponsored synthesis allowance, where four short constructs were affordable and four long ones were not.</a:t>
            </a:r>
          </a:p>
          <a:p/>
          <a:p>
            <a:r>
              <a:t>That's a real limitation, and it's ours, not a reviewer's.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out the direction with our PI, and he ran the alignment, the tree and the reconstruction on sequences we prepared. He reconstructed every node on the path from CDS 12 back to the root, and we picked three of them to order as DNA.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out the direction with our PI, and he ran the alignment, the tree and the reconstruction on sequences we prepared. He reconstructed every node on the path from CDS 12 back to the root, and we picked three of them to order as DNA.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out the direction with our PI, and he ran the alignment, the tree and the reconstruction on sequences we prepared. He reconstructed every node on the path from CDS 12 back to the root, and we picked three of them to order as DNA.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out the direction with our PI, and he ran the alignment, the tree and the reconstruction on sequences we prepared. He reconstructed every node on the path from CDS 12 back to the root, and we picked three of them to order as DNA.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went into pET-28a with an N-terminal His-tag and were synthesised by Twist across two orders, and all six are now published basic parts on the iGEM Registry under a CC0 licence. Three of the six are those reconstructed ancestors — protein sequences that exist nowhere in nature.</a:t>
            </a:r>
          </a:p>
          <a:p/>
          <a:p>
            <a:r>
              <a:t>One warning we'd pass on, because it cost us: our first order was codon-optimised and our second wasn't.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of them reached a bench, we asked a model what it thought. The label it likes best is endo-one-four-beta-glucanase — the same chemistry the structure points at. And along the path to the root the score improves steadily.</a:t>
            </a:r>
          </a:p>
          <a:p/>
          <a:p>
            <a:r>
              <a:t>Except that it doesn't survive its own control. A reconstructed ancestor is consensus-like by construction, so it scores better under almost any label — and it does, in twenty-one of the twenty-four classes. Direction alone proves nothing.</a:t>
            </a:r>
          </a:p>
          <a:p/>
          <a:p>
            <a:r>
              <a:t>And perplexity isn't activity.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expression four times, and the rounds didn't line up neatly.</a:t>
            </a:r>
          </a:p>
          <a:p/>
          <a:p>
            <a:r>
              <a:t>On October the first we ran nickel columns on six constructs, and one of them worked: the first ancestor eluted at its predicted mass, the only construct that did. The tail spike eluted something too, but twenty-nine kilodaltons short.</a:t>
            </a:r>
          </a:p>
          <a:p/>
          <a:p>
            <a:r>
              <a:t>On October the tenth both elutions came off blank. We read that as a purification we had botched, and we were about to spend another week on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stopped us wasn't an experiment. It was a conversation.</a:t>
            </a:r>
          </a:p>
          <a:p/>
          <a:p>
            <a:r>
              <a:t>He changed the question. Not why is nothing eluting, but is there anything there to elute.</a:t>
            </a:r>
          </a:p>
          <a:p/>
          <a:p>
            <a:r>
              <a:t>Six days later we ran that blot, and the flow-through from the second ancestor read two point nine times the negative control. The protein had been there all along. The run had failed at capture — not at expression.</a:t>
            </a:r>
          </a:p>
          <a:p/>
          <a:p>
            <a:r>
              <a:t>We had spent a week debugging the last step of a workflow without checking that the first step worked. That's the generalisable mistake, and one meeting fixed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ran the assay the whole project points at: does an enzyme, on its own, do anything to the sugar?</a:t>
            </a:r>
          </a:p>
          <a:p/>
          <a:p>
            <a:r>
              <a:t>Under the first ancestor, across seven strains, colony counts fall to a median of twelve percent of the plate's PBS control. Phi-8's own median is zero.</a:t>
            </a:r>
          </a:p>
          <a:p/>
          <a:p>
            <a:r>
              <a:t>Our PI reads that suppression as enzyme activity. We'd want more before we call it that ourselves, and there are two specific gaps.</a:t>
            </a:r>
          </a:p>
          <a:p/>
          <a:p>
            <a:r>
              <a:t>It's the strongest activity signal we have, and it is one plate.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one gap runs through all of it. We have now run eight protein assays — seven gels and a dot blot — and not one of them carries a lane of untransformed BL21. We designed every round around a different variable instead. That control is on the bench now.</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Cycle 4 — selection instead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fourth cycle we stopped asking the phage, and asked the bacteria.</a:t>
            </a:r>
          </a:p>
          <a:p/>
          <a:p>
            <a:r>
              <a:t>We took every candidate back to the raw reads: seventy sites, checked against the parent's reads and against an independent read set with completely different chemistry.</a:t>
            </a:r>
          </a:p>
          <a:p/>
          <a:p>
            <a:r>
              <a:t>Exactly one survived. A missense change in a Stealth-family sugar phosphotransferase, inside a thirty-kilobase cluster that builds and exports capsular polysaccharide.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learned disagrees with Cycle 2 — which is the whole reason we did it this way round. Cycle 2 told us the receptor is a sugar. Cycle 4 agrees it's a sugar, and disagrees about which one: it points at the capsule, with the O-antigen cassette intact.</a:t>
            </a:r>
          </a:p>
          <a:p/>
          <a:p>
            <a:r>
              <a:t>Both can be true at once, because a capsule sits on top and can hide an intact O-antigen underneath it.</a:t>
            </a:r>
          </a:p>
          <a:p/>
          <a:p>
            <a:r>
              <a:t>And the honest gap: we never confirmed those colonies were resistant.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learned disagrees with Cycle 2 — which is the whole reason we did it this way round. Cycle 2 told us the receptor is a sugar. Cycle 4 agrees it's a sugar, and disagrees about which one: it points at the capsule, with the O-antigen cassette intact.</a:t>
            </a:r>
          </a:p>
          <a:p/>
          <a:p>
            <a:r>
              <a:t>Both can be true at once, because a capsule sits on top and can hide an intact O-antigen underneath it.</a:t>
            </a:r>
          </a:p>
          <a:p/>
          <a:p>
            <a:r>
              <a:t>And the honest gap: we never confirmed those colonies were resistant.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learned disagrees with Cycle 2 — which is the whole reason we did it this way round. Cycle 2 told us the receptor is a sugar. Cycle 4 agrees it's a sugar, and disagrees about which one: it points at the capsule, with the O-antigen cassette intact.</a:t>
            </a:r>
          </a:p>
          <a:p/>
          <a:p>
            <a:r>
              <a:t>Both can be true at once, because a capsule sits on top and can hide an intact O-antigen underneath it.</a:t>
            </a:r>
          </a:p>
          <a:p/>
          <a:p>
            <a:r>
              <a:t>And the honest gap: we never confirmed those colonies were resistant.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leaving four things behind, and one of them is a failure.</a:t>
            </a:r>
          </a:p>
          <a:p/>
          <a:p>
            <a:r>
              <a:t>Two packaged tools, MIT licensed, on iGEM's GitLab. Six parts on the Registry, three of them sequences that never existed. A benchmark. And the screen that failed, published with the controls that caught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days before our wiki froze, we went back to the garden the soil came from, and asked the people who manage it whether a treatment as strain-specific as ours would be any use to them.</a:t>
            </a:r>
          </a:p>
          <a:p/>
          <a:p>
            <a:r>
              <a:t>We found that most of what we had assumed was wrong.</a:t>
            </a:r>
          </a:p>
          <a:p/>
          <a:p>
            <a:r>
              <a:t>And here's the finding that costs us most. They have never had a sample come back positive for Pseudomonas.</a:t>
            </a:r>
          </a:p>
          <a:p/>
          <a:p>
            <a:r>
              <a:t>[PLACE THE INTERVIEW CLIPS HERE — at least 20 seconds, as promised on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safety: our institutional biosafety committee gave us conditional approval with one condition still open, and that condition is a question about host range — the subject of this entire project.</a:t>
            </a:r>
          </a:p>
          <a:p/>
          <a:p>
            <a:r>
              <a:t>But understanding what sets the ceiling on host range is the same as knowing what would have to change to raise it, so we treat this as dual-use rather than arguing our way to a clean no.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let us say plainly where we are.</a:t>
            </a:r>
          </a:p>
          <a:p/>
          <a:p>
            <a:r>
              <a:t>We have established five bacterial genomes and a novel circular phage genome; three unrelated sugar cassettes in the same locus; a tail spike that is a sugar-cutting enzyme by two independent methods; a controlled negative result; and one resistance mutation verified in the reads.</a:t>
            </a:r>
          </a:p>
          <a:p/>
          <a:p>
            <a:r>
              <a:t>We have partly tested two things.</a:t>
            </a:r>
          </a:p>
          <a:p/>
          <a:p>
            <a:r>
              <a:t>And we have left plenty open.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cycles, three of them wrong, and each one wrong in a way that told us where to go next. If we could pass on one thing, it's this: put the cheap control in front of the expensive experiment. Nine folds told us what seven thousand couldn't, and one afternoon's dot blot told us what a week on a column hadn't.</a:t>
            </a:r>
          </a:p>
          <a:p/>
          <a:p>
            <a:r>
              <a:t>[CREDITS CARD FOLLOWS — 30 seconds, no narration.]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713232" y="1371600"/>
            <a:ext cx="10765231" cy="914400"/>
          </a:xfrm>
          <a:prstGeom prst="rect">
            <a:avLst/>
          </a:prstGeom>
          <a:noFill/>
        </p:spPr>
        <p:txBody>
          <a:bodyPr wrap="square" anchor="t" lIns="0" rIns="0" tIns="0" bIns="0">
            <a:spAutoFit/>
          </a:bodyPr>
          <a:lstStyle/>
          <a:p>
            <a:pPr algn="l">
              <a:lnSpc>
                <a:spcPct val="125000"/>
              </a:lnSpc>
            </a:pPr>
            <a:r>
              <a:rPr sz="1500" b="1" i="0">
                <a:solidFill>
                  <a:srgbClr val="8FB3AE"/>
                </a:solidFill>
                <a:latin typeface="Avenir Next"/>
              </a:rPr>
              <a:t>iGEM CLAREMONT-CA · 2026</a:t>
            </a:r>
          </a:p>
        </p:txBody>
      </p:sp>
      <p:sp>
        <p:nvSpPr>
          <p:cNvPr id="3" name="TextBox 2"/>
          <p:cNvSpPr txBox="1"/>
          <p:nvPr/>
        </p:nvSpPr>
        <p:spPr>
          <a:xfrm>
            <a:off x="713232" y="1920240"/>
            <a:ext cx="10765231" cy="914400"/>
          </a:xfrm>
          <a:prstGeom prst="rect">
            <a:avLst/>
          </a:prstGeom>
          <a:noFill/>
        </p:spPr>
        <p:txBody>
          <a:bodyPr wrap="square" anchor="t" lIns="0" rIns="0" tIns="0" bIns="0">
            <a:spAutoFit/>
          </a:bodyPr>
          <a:lstStyle/>
          <a:p>
            <a:pPr algn="l">
              <a:lnSpc>
                <a:spcPct val="100000"/>
              </a:lnSpc>
            </a:pPr>
            <a:r>
              <a:rPr sz="7200" b="0" i="0">
                <a:solidFill>
                  <a:srgbClr val="F7F4EE"/>
                </a:solidFill>
                <a:latin typeface="Georgia"/>
              </a:rPr>
              <a:t>Phagenomics</a:t>
            </a:r>
          </a:p>
        </p:txBody>
      </p:sp>
      <p:sp>
        <p:nvSpPr>
          <p:cNvPr id="4" name="TextBox 3"/>
          <p:cNvSpPr txBox="1"/>
          <p:nvPr/>
        </p:nvSpPr>
        <p:spPr>
          <a:xfrm>
            <a:off x="713232" y="3337560"/>
            <a:ext cx="8229600" cy="914400"/>
          </a:xfrm>
          <a:prstGeom prst="rect">
            <a:avLst/>
          </a:prstGeom>
          <a:noFill/>
        </p:spPr>
        <p:txBody>
          <a:bodyPr wrap="square" anchor="t" lIns="0" rIns="0" tIns="0" bIns="0">
            <a:spAutoFit/>
          </a:bodyPr>
          <a:lstStyle/>
          <a:p>
            <a:pPr algn="l">
              <a:lnSpc>
                <a:spcPct val="130000"/>
              </a:lnSpc>
            </a:pPr>
            <a:r>
              <a:rPr sz="2400" b="0" i="0">
                <a:solidFill>
                  <a:srgbClr val="C8D8D4"/>
                </a:solidFill>
                <a:latin typeface="Avenir Next"/>
              </a:rPr>
              <a:t>What decides which bacteria a phage can kill —</a:t>
            </a:r>
          </a:p>
          <a:p>
            <a:pPr algn="l">
              <a:lnSpc>
                <a:spcPct val="130000"/>
              </a:lnSpc>
            </a:pPr>
            <a:r>
              <a:rPr sz="2400" b="0" i="0">
                <a:solidFill>
                  <a:srgbClr val="C8D8D4"/>
                </a:solidFill>
                <a:latin typeface="Avenir Next"/>
              </a:rPr>
              <a:t>and what happened the four times we asked.</a:t>
            </a:r>
          </a:p>
        </p:txBody>
      </p:sp>
      <p:sp>
        <p:nvSpPr>
          <p:cNvPr id="5" name="TextBox 4"/>
          <p:cNvSpPr txBox="1"/>
          <p:nvPr/>
        </p:nvSpPr>
        <p:spPr>
          <a:xfrm>
            <a:off x="713232" y="5760720"/>
            <a:ext cx="10765231" cy="914400"/>
          </a:xfrm>
          <a:prstGeom prst="rect">
            <a:avLst/>
          </a:prstGeom>
          <a:noFill/>
        </p:spPr>
        <p:txBody>
          <a:bodyPr wrap="square" anchor="t" lIns="0" rIns="0" tIns="0" bIns="0">
            <a:spAutoFit/>
          </a:bodyPr>
          <a:lstStyle/>
          <a:p>
            <a:pPr algn="l">
              <a:lnSpc>
                <a:spcPct val="125000"/>
              </a:lnSpc>
            </a:pPr>
            <a:r>
              <a:rPr sz="1400" b="0" i="0">
                <a:solidFill>
                  <a:srgbClr val="8FB3AE"/>
                </a:solidFill>
                <a:latin typeface="Avenir Next"/>
              </a:rPr>
              <a:t>Bacteriophage Φ8  ·  Pseudomonas  ·  California Botanic Garden soil</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THE GAP WE WORK IN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Phage therapy's bottleneck is host range — and nobody can design</a:t>
            </a:r>
          </a:p>
          <a:p>
            <a:pPr algn="l">
              <a:lnSpc>
                <a:spcPct val="108000"/>
              </a:lnSpc>
            </a:pPr>
            <a:r>
              <a:rPr sz="3100" b="0" i="0">
                <a:solidFill>
                  <a:srgbClr val="1C2B2B"/>
                </a:solidFill>
                <a:latin typeface="Georgia"/>
              </a:rPr>
              <a:t>host range, because nobody can say how a phage finds its target.</a:t>
            </a:r>
          </a:p>
        </p:txBody>
      </p:sp>
      <p:sp>
        <p:nvSpPr>
          <p:cNvPr id="6" name="Rounded Rectangle 5"/>
          <p:cNvSpPr/>
          <p:nvPr/>
        </p:nvSpPr>
        <p:spPr>
          <a:xfrm>
            <a:off x="713232" y="2651760"/>
            <a:ext cx="5212080" cy="146304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87552" y="2871216"/>
            <a:ext cx="4663440" cy="914400"/>
          </a:xfrm>
          <a:prstGeom prst="rect">
            <a:avLst/>
          </a:prstGeom>
          <a:noFill/>
        </p:spPr>
        <p:txBody>
          <a:bodyPr wrap="square" anchor="t" lIns="0" rIns="0" tIns="0" bIns="0">
            <a:spAutoFit/>
          </a:bodyPr>
          <a:lstStyle/>
          <a:p>
            <a:pPr algn="l">
              <a:lnSpc>
                <a:spcPct val="125000"/>
              </a:lnSpc>
            </a:pPr>
            <a:r>
              <a:rPr sz="1700" b="1" i="0">
                <a:solidFill>
                  <a:srgbClr val="55605F"/>
                </a:solidFill>
                <a:latin typeface="Avenir Next"/>
              </a:rPr>
              <a:t>What we did not do</a:t>
            </a:r>
          </a:p>
        </p:txBody>
      </p:sp>
      <p:sp>
        <p:nvSpPr>
          <p:cNvPr id="8" name="TextBox 7"/>
          <p:cNvSpPr txBox="1"/>
          <p:nvPr/>
        </p:nvSpPr>
        <p:spPr>
          <a:xfrm>
            <a:off x="987552" y="3328416"/>
            <a:ext cx="466344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Build a therapeutic.</a:t>
            </a:r>
          </a:p>
        </p:txBody>
      </p:sp>
      <p:sp>
        <p:nvSpPr>
          <p:cNvPr id="9" name="Rounded Rectangle 8"/>
          <p:cNvSpPr/>
          <p:nvPr/>
        </p:nvSpPr>
        <p:spPr>
          <a:xfrm>
            <a:off x="6318504" y="2651760"/>
            <a:ext cx="5212080" cy="146304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6592824" y="2871216"/>
            <a:ext cx="466344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What we did</a:t>
            </a:r>
          </a:p>
        </p:txBody>
      </p:sp>
      <p:sp>
        <p:nvSpPr>
          <p:cNvPr id="11" name="TextBox 10"/>
          <p:cNvSpPr txBox="1"/>
          <p:nvPr/>
        </p:nvSpPr>
        <p:spPr>
          <a:xfrm>
            <a:off x="6592824" y="3328416"/>
            <a:ext cx="466344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Work on the recognition step that any therapeutic would depend on —</a:t>
            </a:r>
          </a:p>
          <a:p>
            <a:pPr algn="l">
              <a:lnSpc>
                <a:spcPct val="130000"/>
              </a:lnSpc>
            </a:pPr>
            <a:r>
              <a:rPr sz="1500" b="0" i="0">
                <a:solidFill>
                  <a:srgbClr val="55605F"/>
                </a:solidFill>
                <a:latin typeface="Avenir Next"/>
              </a:rPr>
              <a:t>four times, three of them wrong.</a:t>
            </a:r>
          </a:p>
        </p:txBody>
      </p:sp>
      <p:sp>
        <p:nvSpPr>
          <p:cNvPr id="12" name="TextBox 11"/>
          <p:cNvSpPr txBox="1"/>
          <p:nvPr/>
        </p:nvSpPr>
        <p:spPr>
          <a:xfrm>
            <a:off x="713232" y="4617720"/>
            <a:ext cx="10765231" cy="914400"/>
          </a:xfrm>
          <a:prstGeom prst="rect">
            <a:avLst/>
          </a:prstGeom>
          <a:noFill/>
        </p:spPr>
        <p:txBody>
          <a:bodyPr wrap="square" anchor="t" lIns="0" rIns="0" tIns="0" bIns="0">
            <a:spAutoFit/>
          </a:bodyPr>
          <a:lstStyle/>
          <a:p>
            <a:pPr algn="l">
              <a:lnSpc>
                <a:spcPct val="125000"/>
              </a:lnSpc>
            </a:pPr>
            <a:r>
              <a:rPr sz="1600" b="0" i="1">
                <a:solidFill>
                  <a:srgbClr val="55605F"/>
                </a:solidFill>
                <a:latin typeface="Avenir Next"/>
              </a:rPr>
              <a:t>Pseudomonas causes serious infections in immunocompromised patients and persistent crop disease in agriculture.</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THE PROBLEM, IN ONE IMAGE</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Same phage, different strain.</a:t>
            </a:r>
          </a:p>
        </p:txBody>
      </p:sp>
      <p:sp>
        <p:nvSpPr>
          <p:cNvPr id="6" name="Rectangle 5"/>
          <p:cNvSpPr/>
          <p:nvPr/>
        </p:nvSpPr>
        <p:spPr>
          <a:xfrm>
            <a:off x="1078992" y="2240280"/>
            <a:ext cx="4846320" cy="2286000"/>
          </a:xfrm>
          <a:prstGeom prst="rect">
            <a:avLst/>
          </a:prstGeom>
          <a:solidFill>
            <a:srgbClr val="C9D6C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Oval 6"/>
          <p:cNvSpPr/>
          <p:nvPr/>
        </p:nvSpPr>
        <p:spPr>
          <a:xfrm>
            <a:off x="2724912" y="2606040"/>
            <a:ext cx="1554480" cy="1554480"/>
          </a:xfrm>
          <a:prstGeom prst="ellipse">
            <a:avLst/>
          </a:prstGeom>
          <a:solidFill>
            <a:srgbClr val="FFFFFF"/>
          </a:solidFill>
          <a:ln w="31750">
            <a:solidFill>
              <a:srgbClr val="2D6A6A"/>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Rectangle 7"/>
          <p:cNvSpPr/>
          <p:nvPr/>
        </p:nvSpPr>
        <p:spPr>
          <a:xfrm>
            <a:off x="6565392" y="2240280"/>
            <a:ext cx="4846320" cy="2286000"/>
          </a:xfrm>
          <a:prstGeom prst="rect">
            <a:avLst/>
          </a:prstGeom>
          <a:solidFill>
            <a:srgbClr val="C9D6C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Oval 8"/>
          <p:cNvSpPr/>
          <p:nvPr/>
        </p:nvSpPr>
        <p:spPr>
          <a:xfrm>
            <a:off x="8211312" y="2606040"/>
            <a:ext cx="1554480" cy="1554480"/>
          </a:xfrm>
          <a:prstGeom prst="ellipse">
            <a:avLst/>
          </a:prstGeom>
          <a:noFill/>
          <a:ln w="31750">
            <a:solidFill>
              <a:srgbClr val="B454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1078992" y="4727448"/>
            <a:ext cx="4846320" cy="914400"/>
          </a:xfrm>
          <a:prstGeom prst="rect">
            <a:avLst/>
          </a:prstGeom>
          <a:noFill/>
        </p:spPr>
        <p:txBody>
          <a:bodyPr wrap="square" anchor="t" lIns="0" rIns="0" tIns="0" bIns="0">
            <a:spAutoFit/>
          </a:bodyPr>
          <a:lstStyle/>
          <a:p>
            <a:pPr algn="l">
              <a:lnSpc>
                <a:spcPct val="125000"/>
              </a:lnSpc>
            </a:pPr>
            <a:r>
              <a:rPr sz="1500" b="1" i="0">
                <a:solidFill>
                  <a:srgbClr val="2D6A6A"/>
                </a:solidFill>
                <a:latin typeface="Avenir Next"/>
              </a:rPr>
              <a:t>Its own host — a clear circle where the bacteria used to be</a:t>
            </a:r>
          </a:p>
        </p:txBody>
      </p:sp>
      <p:sp>
        <p:nvSpPr>
          <p:cNvPr id="11" name="TextBox 10"/>
          <p:cNvSpPr txBox="1"/>
          <p:nvPr/>
        </p:nvSpPr>
        <p:spPr>
          <a:xfrm>
            <a:off x="6565392" y="4727448"/>
            <a:ext cx="4846320" cy="914400"/>
          </a:xfrm>
          <a:prstGeom prst="rect">
            <a:avLst/>
          </a:prstGeom>
          <a:noFill/>
        </p:spPr>
        <p:txBody>
          <a:bodyPr wrap="square" anchor="t" lIns="0" rIns="0" tIns="0" bIns="0">
            <a:spAutoFit/>
          </a:bodyPr>
          <a:lstStyle/>
          <a:p>
            <a:pPr algn="l">
              <a:lnSpc>
                <a:spcPct val="125000"/>
              </a:lnSpc>
            </a:pPr>
            <a:r>
              <a:rPr sz="1500" b="1" i="0">
                <a:solidFill>
                  <a:srgbClr val="B4542E"/>
                </a:solidFill>
                <a:latin typeface="Avenir Next"/>
              </a:rPr>
              <a:t>The next plate — nothing happens</a:t>
            </a:r>
          </a:p>
        </p:txBody>
      </p:sp>
      <p:sp>
        <p:nvSpPr>
          <p:cNvPr id="12" name="TextBox 11"/>
          <p:cNvSpPr txBox="1"/>
          <p:nvPr/>
        </p:nvSpPr>
        <p:spPr>
          <a:xfrm>
            <a:off x="713232" y="5486400"/>
            <a:ext cx="10765231" cy="914400"/>
          </a:xfrm>
          <a:prstGeom prst="rect">
            <a:avLst/>
          </a:prstGeom>
          <a:noFill/>
        </p:spPr>
        <p:txBody>
          <a:bodyPr wrap="square" anchor="t" lIns="0" rIns="0" tIns="0" bIns="0">
            <a:spAutoFit/>
          </a:bodyPr>
          <a:lstStyle/>
          <a:p>
            <a:pPr algn="l">
              <a:lnSpc>
                <a:spcPct val="125000"/>
              </a:lnSpc>
            </a:pPr>
            <a:r>
              <a:rPr sz="1900" b="0" i="0">
                <a:solidFill>
                  <a:srgbClr val="1C2B2B"/>
                </a:solidFill>
                <a:latin typeface="Avenir Next"/>
              </a:rPr>
              <a:t>To treat an infection you need a phage that matches the strain in front of you, and usually there isn't one.</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ADSORPTION DECIDES EVERYTHING</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It gets decided before any DNA moves</a:t>
            </a:r>
          </a:p>
        </p:txBody>
      </p:sp>
      <p:sp>
        <p:nvSpPr>
          <p:cNvPr id="6" name="!!mem-outer"/>
          <p:cNvSpPr/>
          <p:nvPr/>
        </p:nvSpPr>
        <p:spPr>
          <a:xfrm>
            <a:off x="1261872" y="5559552"/>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261872" y="5358384"/>
            <a:ext cx="603504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261872" y="5157216"/>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stage-head"/>
          <p:cNvSpPr txBox="1"/>
          <p:nvPr/>
        </p:nvSpPr>
        <p:spPr>
          <a:xfrm>
            <a:off x="7936992" y="2286000"/>
            <a:ext cx="3657600" cy="914400"/>
          </a:xfrm>
          <a:prstGeom prst="rect">
            <a:avLst/>
          </a:prstGeom>
          <a:noFill/>
        </p:spPr>
        <p:txBody>
          <a:bodyPr wrap="square" anchor="t" lIns="0" rIns="0" tIns="0" bIns="0">
            <a:spAutoFit/>
          </a:bodyPr>
          <a:lstStyle/>
          <a:p>
            <a:pPr algn="l">
              <a:lnSpc>
                <a:spcPct val="125000"/>
              </a:lnSpc>
            </a:pPr>
            <a:r>
              <a:rPr sz="2400" b="0" i="0">
                <a:solidFill>
                  <a:srgbClr val="55605F"/>
                </a:solidFill>
                <a:latin typeface="Georgia"/>
              </a:rPr>
              <a:t>The envelope</a:t>
            </a:r>
          </a:p>
        </p:txBody>
      </p:sp>
      <p:sp>
        <p:nvSpPr>
          <p:cNvPr id="10" name="!!stage-body"/>
          <p:cNvSpPr txBox="1"/>
          <p:nvPr/>
        </p:nvSpPr>
        <p:spPr>
          <a:xfrm>
            <a:off x="7936992" y="2880360"/>
            <a:ext cx="365760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Outer membrane, wall, inner membrane — and the proteins a textbook would have the phage bind.</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ADSORPTION DECIDES EVERYTHING</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It gets decided before any DNA moves</a:t>
            </a:r>
          </a:p>
        </p:txBody>
      </p:sp>
      <p:sp>
        <p:nvSpPr>
          <p:cNvPr id="6" name="!!mem-outer"/>
          <p:cNvSpPr/>
          <p:nvPr/>
        </p:nvSpPr>
        <p:spPr>
          <a:xfrm>
            <a:off x="1261872" y="5559552"/>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261872" y="5358384"/>
            <a:ext cx="603504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261872" y="5157216"/>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490472"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458468"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2048256"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2016252"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606040"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574036"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3163824"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3131820"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721608"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689604"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279392"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4247388"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837176"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805172"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394960"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362956"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952744"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920740"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510528"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478524"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7068312"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7036308"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stage-head"/>
          <p:cNvSpPr txBox="1"/>
          <p:nvPr/>
        </p:nvSpPr>
        <p:spPr>
          <a:xfrm>
            <a:off x="7936992" y="2286000"/>
            <a:ext cx="3657600" cy="914400"/>
          </a:xfrm>
          <a:prstGeom prst="rect">
            <a:avLst/>
          </a:prstGeom>
          <a:noFill/>
        </p:spPr>
        <p:txBody>
          <a:bodyPr wrap="square" anchor="t" lIns="0" rIns="0" tIns="0" bIns="0">
            <a:spAutoFit/>
          </a:bodyPr>
          <a:lstStyle/>
          <a:p>
            <a:pPr algn="l">
              <a:lnSpc>
                <a:spcPct val="125000"/>
              </a:lnSpc>
            </a:pPr>
            <a:r>
              <a:rPr sz="2400" b="0" i="0">
                <a:solidFill>
                  <a:srgbClr val="2D6A6A"/>
                </a:solidFill>
                <a:latin typeface="Georgia"/>
              </a:rPr>
              <a:t>O-antigen</a:t>
            </a:r>
          </a:p>
        </p:txBody>
      </p:sp>
      <p:sp>
        <p:nvSpPr>
          <p:cNvPr id="32" name="!!stage-body"/>
          <p:cNvSpPr txBox="1"/>
          <p:nvPr/>
        </p:nvSpPr>
        <p:spPr>
          <a:xfrm>
            <a:off x="7936992" y="2880360"/>
            <a:ext cx="365760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But many bacteria don't present a bare protein surface. Long sugar chains are anchored in the outer membrane.</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6</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ADSORPTION DECIDES EVERYTHING</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It gets decided before any DNA moves</a:t>
            </a:r>
          </a:p>
        </p:txBody>
      </p:sp>
      <p:sp>
        <p:nvSpPr>
          <p:cNvPr id="6" name="!!mem-outer"/>
          <p:cNvSpPr/>
          <p:nvPr/>
        </p:nvSpPr>
        <p:spPr>
          <a:xfrm>
            <a:off x="1261872" y="5559552"/>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261872" y="5358384"/>
            <a:ext cx="603504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261872" y="5157216"/>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490472"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458468"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2048256"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2016252"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606040"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574036"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3163824"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3131820"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721608"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689604"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279392"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4247388"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837176"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805172"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394960"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362956"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952744"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920740"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510528"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478524"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7068312"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7036308"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capsule"/>
          <p:cNvSpPr/>
          <p:nvPr/>
        </p:nvSpPr>
        <p:spPr>
          <a:xfrm>
            <a:off x="1261872" y="3236976"/>
            <a:ext cx="6035040" cy="566928"/>
          </a:xfrm>
          <a:prstGeom prst="roundRect">
            <a:avLst>
              <a:gd name="adj" fmla="val 50000"/>
            </a:avLst>
          </a:prstGeom>
          <a:solidFill>
            <a:srgbClr val="B4542E">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2" name="!!stage-head"/>
          <p:cNvSpPr txBox="1"/>
          <p:nvPr/>
        </p:nvSpPr>
        <p:spPr>
          <a:xfrm>
            <a:off x="7936992" y="2286000"/>
            <a:ext cx="3657600" cy="914400"/>
          </a:xfrm>
          <a:prstGeom prst="rect">
            <a:avLst/>
          </a:prstGeom>
          <a:noFill/>
        </p:spPr>
        <p:txBody>
          <a:bodyPr wrap="square" anchor="t" lIns="0" rIns="0" tIns="0" bIns="0">
            <a:spAutoFit/>
          </a:bodyPr>
          <a:lstStyle/>
          <a:p>
            <a:pPr algn="l">
              <a:lnSpc>
                <a:spcPct val="125000"/>
              </a:lnSpc>
            </a:pPr>
            <a:r>
              <a:rPr sz="2400" b="0" i="0">
                <a:solidFill>
                  <a:srgbClr val="B4542E"/>
                </a:solidFill>
                <a:latin typeface="Georgia"/>
              </a:rPr>
              <a:t>Capsule</a:t>
            </a:r>
          </a:p>
        </p:txBody>
      </p:sp>
      <p:sp>
        <p:nvSpPr>
          <p:cNvPr id="33" name="!!stage-body"/>
          <p:cNvSpPr txBox="1"/>
          <p:nvPr/>
        </p:nvSpPr>
        <p:spPr>
          <a:xfrm>
            <a:off x="7936992" y="2880360"/>
            <a:ext cx="365760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And above those, in some species, a second polysaccharide layer sits over everything below.</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7</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ADSORPTION DECIDES EVERYTHING</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It gets decided before any DNA moves</a:t>
            </a:r>
          </a:p>
        </p:txBody>
      </p:sp>
      <p:sp>
        <p:nvSpPr>
          <p:cNvPr id="6" name="!!mem-outer"/>
          <p:cNvSpPr/>
          <p:nvPr/>
        </p:nvSpPr>
        <p:spPr>
          <a:xfrm>
            <a:off x="1261872" y="5559552"/>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261872" y="5358384"/>
            <a:ext cx="603504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261872" y="5157216"/>
            <a:ext cx="603504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490472"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458468"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2048256"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2016252"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606040"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574036"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3163824"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3131820"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721608"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689604"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279392"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4247388"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837176"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805172"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394960"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362956"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952744" y="39776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920740" y="38953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510528" y="41970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478524" y="41148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7068312" y="40873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7036308" y="40050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capsule"/>
          <p:cNvSpPr/>
          <p:nvPr/>
        </p:nvSpPr>
        <p:spPr>
          <a:xfrm>
            <a:off x="1261872" y="3236976"/>
            <a:ext cx="6035040" cy="566928"/>
          </a:xfrm>
          <a:prstGeom prst="roundRect">
            <a:avLst>
              <a:gd name="adj" fmla="val 50000"/>
            </a:avLst>
          </a:prstGeom>
          <a:solidFill>
            <a:srgbClr val="B4542E">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2" name="!!tail"/>
          <p:cNvSpPr/>
          <p:nvPr/>
        </p:nvSpPr>
        <p:spPr>
          <a:xfrm>
            <a:off x="4233672" y="2057400"/>
            <a:ext cx="91440" cy="822960"/>
          </a:xfrm>
          <a:prstGeom prst="rect">
            <a:avLst/>
          </a:prstGeom>
          <a:solidFill>
            <a:srgbClr val="1C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3" name="!!spike"/>
          <p:cNvSpPr/>
          <p:nvPr/>
        </p:nvSpPr>
        <p:spPr>
          <a:xfrm rot="10800000">
            <a:off x="4105656" y="2862072"/>
            <a:ext cx="347472" cy="502920"/>
          </a:xfrm>
          <a:prstGeom prst="triangle">
            <a:avLst/>
          </a:prstGeom>
          <a:solidFill>
            <a:srgbClr val="1C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4" name="!!stage-head"/>
          <p:cNvSpPr txBox="1"/>
          <p:nvPr/>
        </p:nvSpPr>
        <p:spPr>
          <a:xfrm>
            <a:off x="7936992" y="2286000"/>
            <a:ext cx="3657600" cy="914400"/>
          </a:xfrm>
          <a:prstGeom prst="rect">
            <a:avLst/>
          </a:prstGeom>
          <a:noFill/>
        </p:spPr>
        <p:txBody>
          <a:bodyPr wrap="square" anchor="t" lIns="0" rIns="0" tIns="0" bIns="0">
            <a:spAutoFit/>
          </a:bodyPr>
          <a:lstStyle/>
          <a:p>
            <a:pPr algn="l">
              <a:lnSpc>
                <a:spcPct val="125000"/>
              </a:lnSpc>
            </a:pPr>
            <a:r>
              <a:rPr sz="2400" b="0" i="0">
                <a:solidFill>
                  <a:srgbClr val="1C2B2B"/>
                </a:solidFill>
                <a:latin typeface="Georgia"/>
              </a:rPr>
              <a:t>What the phage touches</a:t>
            </a:r>
          </a:p>
        </p:txBody>
      </p:sp>
      <p:sp>
        <p:nvSpPr>
          <p:cNvPr id="35" name="!!stage-body"/>
          <p:cNvSpPr txBox="1"/>
          <p:nvPr/>
        </p:nvSpPr>
        <p:spPr>
          <a:xfrm>
            <a:off x="7936992" y="2880360"/>
            <a:ext cx="365760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So the first thing a phage meets is not protein. It is a forest of sugar.</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8</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CALIFORNIA BOTANIC GARDEN · 19 MAY 2026</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Five isolates, three strains, two built-in controls</a:t>
            </a:r>
          </a:p>
        </p:txBody>
      </p:sp>
      <p:sp>
        <p:nvSpPr>
          <p:cNvPr id="6" name="Rectangle 5"/>
          <p:cNvSpPr/>
          <p:nvPr/>
        </p:nvSpPr>
        <p:spPr>
          <a:xfrm>
            <a:off x="713232" y="2148840"/>
            <a:ext cx="5943600" cy="658368"/>
          </a:xfrm>
          <a:prstGeom prst="rect">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50976" y="2350008"/>
            <a:ext cx="1371600" cy="914400"/>
          </a:xfrm>
          <a:prstGeom prst="rect">
            <a:avLst/>
          </a:prstGeom>
          <a:noFill/>
        </p:spPr>
        <p:txBody>
          <a:bodyPr wrap="square" anchor="t" lIns="0" rIns="0" tIns="0" bIns="0">
            <a:spAutoFit/>
          </a:bodyPr>
          <a:lstStyle/>
          <a:p>
            <a:pPr algn="l">
              <a:lnSpc>
                <a:spcPct val="125000"/>
              </a:lnSpc>
            </a:pPr>
            <a:r>
              <a:rPr sz="1600" b="1" i="0">
                <a:solidFill>
                  <a:srgbClr val="1C2B2B"/>
                </a:solidFill>
                <a:latin typeface="Avenir Next"/>
              </a:rPr>
              <a:t>Strain 1</a:t>
            </a:r>
          </a:p>
        </p:txBody>
      </p:sp>
      <p:sp>
        <p:nvSpPr>
          <p:cNvPr id="8" name="TextBox 7"/>
          <p:cNvSpPr txBox="1"/>
          <p:nvPr/>
        </p:nvSpPr>
        <p:spPr>
          <a:xfrm>
            <a:off x="2542032" y="2350008"/>
            <a:ext cx="201168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8-5-2 · 10-10-2</a:t>
            </a:r>
          </a:p>
        </p:txBody>
      </p:sp>
      <p:sp>
        <p:nvSpPr>
          <p:cNvPr id="9" name="TextBox 8"/>
          <p:cNvSpPr txBox="1"/>
          <p:nvPr/>
        </p:nvSpPr>
        <p:spPr>
          <a:xfrm>
            <a:off x="4645152" y="2350008"/>
            <a:ext cx="219456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99.997 % ANI</a:t>
            </a:r>
          </a:p>
        </p:txBody>
      </p:sp>
      <p:sp>
        <p:nvSpPr>
          <p:cNvPr id="10" name="Rectangle 9"/>
          <p:cNvSpPr/>
          <p:nvPr/>
        </p:nvSpPr>
        <p:spPr>
          <a:xfrm>
            <a:off x="713232" y="2862072"/>
            <a:ext cx="5943600" cy="658368"/>
          </a:xfrm>
          <a:prstGeom prst="rect">
            <a:avLst/>
          </a:prstGeom>
          <a:solidFill>
            <a:srgbClr val="EAF0EE"/>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950976" y="3063240"/>
            <a:ext cx="1371600" cy="914400"/>
          </a:xfrm>
          <a:prstGeom prst="rect">
            <a:avLst/>
          </a:prstGeom>
          <a:noFill/>
        </p:spPr>
        <p:txBody>
          <a:bodyPr wrap="square" anchor="t" lIns="0" rIns="0" tIns="0" bIns="0">
            <a:spAutoFit/>
          </a:bodyPr>
          <a:lstStyle/>
          <a:p>
            <a:pPr algn="l">
              <a:lnSpc>
                <a:spcPct val="125000"/>
              </a:lnSpc>
            </a:pPr>
            <a:r>
              <a:rPr sz="1600" b="1" i="0">
                <a:solidFill>
                  <a:srgbClr val="1C2B2B"/>
                </a:solidFill>
                <a:latin typeface="Avenir Next"/>
              </a:rPr>
              <a:t>Strain 2</a:t>
            </a:r>
          </a:p>
        </p:txBody>
      </p:sp>
      <p:sp>
        <p:nvSpPr>
          <p:cNvPr id="12" name="TextBox 11"/>
          <p:cNvSpPr txBox="1"/>
          <p:nvPr/>
        </p:nvSpPr>
        <p:spPr>
          <a:xfrm>
            <a:off x="2542032" y="3063240"/>
            <a:ext cx="201168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9-2-1 · 9-6-2</a:t>
            </a:r>
          </a:p>
        </p:txBody>
      </p:sp>
      <p:sp>
        <p:nvSpPr>
          <p:cNvPr id="13" name="TextBox 12"/>
          <p:cNvSpPr txBox="1"/>
          <p:nvPr/>
        </p:nvSpPr>
        <p:spPr>
          <a:xfrm>
            <a:off x="4645152" y="3063240"/>
            <a:ext cx="219456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100.000 % ANI — the Φ8 host</a:t>
            </a:r>
          </a:p>
        </p:txBody>
      </p:sp>
      <p:sp>
        <p:nvSpPr>
          <p:cNvPr id="14" name="Rectangle 13"/>
          <p:cNvSpPr/>
          <p:nvPr/>
        </p:nvSpPr>
        <p:spPr>
          <a:xfrm>
            <a:off x="713232" y="3575304"/>
            <a:ext cx="5943600" cy="658368"/>
          </a:xfrm>
          <a:prstGeom prst="rect">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TextBox 14"/>
          <p:cNvSpPr txBox="1"/>
          <p:nvPr/>
        </p:nvSpPr>
        <p:spPr>
          <a:xfrm>
            <a:off x="950976" y="3776472"/>
            <a:ext cx="1371600" cy="914400"/>
          </a:xfrm>
          <a:prstGeom prst="rect">
            <a:avLst/>
          </a:prstGeom>
          <a:noFill/>
        </p:spPr>
        <p:txBody>
          <a:bodyPr wrap="square" anchor="t" lIns="0" rIns="0" tIns="0" bIns="0">
            <a:spAutoFit/>
          </a:bodyPr>
          <a:lstStyle/>
          <a:p>
            <a:pPr algn="l">
              <a:lnSpc>
                <a:spcPct val="125000"/>
              </a:lnSpc>
            </a:pPr>
            <a:r>
              <a:rPr sz="1600" b="1" i="0">
                <a:solidFill>
                  <a:srgbClr val="1C2B2B"/>
                </a:solidFill>
                <a:latin typeface="Avenir Next"/>
              </a:rPr>
              <a:t>Strain 3</a:t>
            </a:r>
          </a:p>
        </p:txBody>
      </p:sp>
      <p:sp>
        <p:nvSpPr>
          <p:cNvPr id="16" name="TextBox 15"/>
          <p:cNvSpPr txBox="1"/>
          <p:nvPr/>
        </p:nvSpPr>
        <p:spPr>
          <a:xfrm>
            <a:off x="2542032" y="3776472"/>
            <a:ext cx="201168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8-10-2</a:t>
            </a:r>
          </a:p>
        </p:txBody>
      </p:sp>
      <p:sp>
        <p:nvSpPr>
          <p:cNvPr id="17" name="TextBox 16"/>
          <p:cNvSpPr txBox="1"/>
          <p:nvPr/>
        </p:nvSpPr>
        <p:spPr>
          <a:xfrm>
            <a:off x="4645152" y="3776472"/>
            <a:ext cx="2194560" cy="914400"/>
          </a:xfrm>
          <a:prstGeom prst="rect">
            <a:avLst/>
          </a:prstGeom>
          <a:noFill/>
        </p:spPr>
        <p:txBody>
          <a:bodyPr wrap="square" anchor="t" lIns="0" rIns="0" tIns="0" bIns="0">
            <a:spAutoFit/>
          </a:bodyPr>
          <a:lstStyle/>
          <a:p>
            <a:pPr algn="l">
              <a:lnSpc>
                <a:spcPct val="125000"/>
              </a:lnSpc>
            </a:pPr>
            <a:r>
              <a:rPr sz="1600" b="0" i="0">
                <a:solidFill>
                  <a:srgbClr val="55605F"/>
                </a:solidFill>
                <a:latin typeface="Avenir Next"/>
              </a:rPr>
              <a:t>a different species</a:t>
            </a:r>
          </a:p>
        </p:txBody>
      </p:sp>
      <p:sp>
        <p:nvSpPr>
          <p:cNvPr id="18" name="TextBox 17"/>
          <p:cNvSpPr txBox="1"/>
          <p:nvPr/>
        </p:nvSpPr>
        <p:spPr>
          <a:xfrm>
            <a:off x="713232" y="4517136"/>
            <a:ext cx="5943600" cy="914400"/>
          </a:xfrm>
          <a:prstGeom prst="rect">
            <a:avLst/>
          </a:prstGeom>
          <a:noFill/>
        </p:spPr>
        <p:txBody>
          <a:bodyPr wrap="square" anchor="t" lIns="0" rIns="0" tIns="0" bIns="0">
            <a:spAutoFit/>
          </a:bodyPr>
          <a:lstStyle/>
          <a:p>
            <a:pPr algn="l">
              <a:lnSpc>
                <a:spcPct val="130000"/>
              </a:lnSpc>
            </a:pPr>
            <a:r>
              <a:rPr sz="1700" b="0" i="0">
                <a:solidFill>
                  <a:srgbClr val="1C2B2B"/>
                </a:solidFill>
                <a:latin typeface="Avenir Next"/>
              </a:rPr>
              <a:t>Any difference we report between strains has to be bigger than the difference we can measure within one.</a:t>
            </a:r>
          </a:p>
        </p:txBody>
      </p:sp>
      <p:pic>
        <p:nvPicPr>
          <p:cNvPr id="19" name="Picture 18" descr="bactgenomes.png"/>
          <p:cNvPicPr>
            <a:picLocks noChangeAspect="1"/>
          </p:cNvPicPr>
          <p:nvPr/>
        </p:nvPicPr>
        <p:blipFill>
          <a:blip r:embed="rId2"/>
          <a:stretch>
            <a:fillRect/>
          </a:stretch>
        </p:blipFill>
        <p:spPr>
          <a:xfrm>
            <a:off x="7114032" y="2538705"/>
            <a:ext cx="4480560" cy="2237790"/>
          </a:xfrm>
          <a:prstGeom prst="rect">
            <a:avLst/>
          </a:prstGeom>
        </p:spPr>
      </p:pic>
      <p:sp>
        <p:nvSpPr>
          <p:cNvPr id="20" name="TextBox 19"/>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Genomes published in Microbiology Resource Announcements · doi 10.1128/mra.00793-26</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9</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THE PHAGE</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And one phage, Φ8, that infects exactly one of the three</a:t>
            </a:r>
          </a:p>
        </p:txBody>
      </p:sp>
      <p:pic>
        <p:nvPicPr>
          <p:cNvPr id="6" name="Picture 5" descr="phagemap.png"/>
          <p:cNvPicPr>
            <a:picLocks noChangeAspect="1"/>
          </p:cNvPicPr>
          <p:nvPr/>
        </p:nvPicPr>
        <p:blipFill>
          <a:blip r:embed="rId2"/>
          <a:stretch>
            <a:fillRect/>
          </a:stretch>
        </p:blipFill>
        <p:spPr>
          <a:xfrm>
            <a:off x="2593890" y="1965960"/>
            <a:ext cx="7003914" cy="2194560"/>
          </a:xfrm>
          <a:prstGeom prst="rect">
            <a:avLst/>
          </a:prstGeom>
        </p:spPr>
      </p:pic>
      <p:sp>
        <p:nvSpPr>
          <p:cNvPr id="7" name="Rectangle 6"/>
          <p:cNvSpPr/>
          <p:nvPr/>
        </p:nvSpPr>
        <p:spPr>
          <a:xfrm>
            <a:off x="713232" y="4434840"/>
            <a:ext cx="2508427" cy="36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TextBox 7"/>
          <p:cNvSpPr txBox="1"/>
          <p:nvPr/>
        </p:nvSpPr>
        <p:spPr>
          <a:xfrm>
            <a:off x="713232" y="4572000"/>
            <a:ext cx="2508427"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62,339 bp</a:t>
            </a:r>
          </a:p>
        </p:txBody>
      </p:sp>
      <p:sp>
        <p:nvSpPr>
          <p:cNvPr id="9" name="TextBox 8"/>
          <p:cNvSpPr txBox="1"/>
          <p:nvPr/>
        </p:nvSpPr>
        <p:spPr>
          <a:xfrm>
            <a:off x="713232" y="5029200"/>
            <a:ext cx="2508427"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circular</a:t>
            </a:r>
          </a:p>
        </p:txBody>
      </p:sp>
      <p:sp>
        <p:nvSpPr>
          <p:cNvPr id="10" name="Rectangle 9"/>
          <p:cNvSpPr/>
          <p:nvPr/>
        </p:nvSpPr>
        <p:spPr>
          <a:xfrm>
            <a:off x="3404539" y="4434840"/>
            <a:ext cx="2508427" cy="36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3404539" y="4572000"/>
            <a:ext cx="2508427"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80</a:t>
            </a:r>
          </a:p>
        </p:txBody>
      </p:sp>
      <p:sp>
        <p:nvSpPr>
          <p:cNvPr id="12" name="TextBox 11"/>
          <p:cNvSpPr txBox="1"/>
          <p:nvPr/>
        </p:nvSpPr>
        <p:spPr>
          <a:xfrm>
            <a:off x="3404539" y="5029200"/>
            <a:ext cx="2508427"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coding sequences</a:t>
            </a:r>
          </a:p>
        </p:txBody>
      </p:sp>
      <p:sp>
        <p:nvSpPr>
          <p:cNvPr id="13" name="Rectangle 12"/>
          <p:cNvSpPr/>
          <p:nvPr/>
        </p:nvSpPr>
        <p:spPr>
          <a:xfrm>
            <a:off x="6095847" y="4434840"/>
            <a:ext cx="2508427" cy="36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TextBox 13"/>
          <p:cNvSpPr txBox="1"/>
          <p:nvPr/>
        </p:nvSpPr>
        <p:spPr>
          <a:xfrm>
            <a:off x="6095847" y="4572000"/>
            <a:ext cx="2508427"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no match</a:t>
            </a:r>
          </a:p>
        </p:txBody>
      </p:sp>
      <p:sp>
        <p:nvSpPr>
          <p:cNvPr id="15" name="TextBox 14"/>
          <p:cNvSpPr txBox="1"/>
          <p:nvPr/>
        </p:nvSpPr>
        <p:spPr>
          <a:xfrm>
            <a:off x="6095847" y="5029200"/>
            <a:ext cx="2508427"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in the phage database</a:t>
            </a:r>
          </a:p>
        </p:txBody>
      </p:sp>
      <p:sp>
        <p:nvSpPr>
          <p:cNvPr id="16" name="Rectangle 15"/>
          <p:cNvSpPr/>
          <p:nvPr/>
        </p:nvSpPr>
        <p:spPr>
          <a:xfrm>
            <a:off x="8787155" y="4434840"/>
            <a:ext cx="2508427" cy="36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TextBox 16"/>
          <p:cNvSpPr txBox="1"/>
          <p:nvPr/>
        </p:nvSpPr>
        <p:spPr>
          <a:xfrm>
            <a:off x="8787155" y="4572000"/>
            <a:ext cx="2508427"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~0</a:t>
            </a:r>
          </a:p>
        </p:txBody>
      </p:sp>
      <p:sp>
        <p:nvSpPr>
          <p:cNvPr id="18" name="TextBox 17"/>
          <p:cNvSpPr txBox="1"/>
          <p:nvPr/>
        </p:nvSpPr>
        <p:spPr>
          <a:xfrm>
            <a:off x="8787155" y="5029200"/>
            <a:ext cx="2508427"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genes shared with T7</a:t>
            </a:r>
          </a:p>
        </p:txBody>
      </p:sp>
      <p:sp>
        <p:nvSpPr>
          <p:cNvPr id="19" name="TextBox 18"/>
          <p:cNvSpPr txBox="1"/>
          <p:nvPr/>
        </p:nvSpPr>
        <p:spPr>
          <a:xfrm>
            <a:off x="713232" y="5623560"/>
            <a:ext cx="10765231" cy="914400"/>
          </a:xfrm>
          <a:prstGeom prst="rect">
            <a:avLst/>
          </a:prstGeom>
          <a:noFill/>
        </p:spPr>
        <p:txBody>
          <a:bodyPr wrap="square" anchor="t" lIns="0" rIns="0" tIns="0" bIns="0">
            <a:spAutoFit/>
          </a:bodyPr>
          <a:lstStyle/>
          <a:p>
            <a:pPr algn="l">
              <a:lnSpc>
                <a:spcPct val="125000"/>
              </a:lnSpc>
            </a:pPr>
            <a:r>
              <a:rPr sz="2000" b="0" i="0">
                <a:solidFill>
                  <a:srgbClr val="1C2B2B"/>
                </a:solidFill>
                <a:latin typeface="Georgia"/>
              </a:rPr>
              <a:t>The architecture is familiar. The sequence isn't.</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10</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THE FIRST CLUE</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same slot in the genome. Three unrelated cargoes.</a:t>
            </a:r>
          </a:p>
        </p:txBody>
      </p:sp>
      <p:pic>
        <p:nvPicPr>
          <p:cNvPr id="6" name="Picture 5" descr="oantigen.png"/>
          <p:cNvPicPr>
            <a:picLocks noChangeAspect="1"/>
          </p:cNvPicPr>
          <p:nvPr/>
        </p:nvPicPr>
        <p:blipFill>
          <a:blip r:embed="rId2"/>
          <a:stretch>
            <a:fillRect/>
          </a:stretch>
        </p:blipFill>
        <p:spPr>
          <a:xfrm>
            <a:off x="4006152" y="1920240"/>
            <a:ext cx="4179390" cy="2514600"/>
          </a:xfrm>
          <a:prstGeom prst="rect">
            <a:avLst/>
          </a:prstGeom>
        </p:spPr>
      </p:pic>
      <p:sp>
        <p:nvSpPr>
          <p:cNvPr id="7" name="Rounded Rectangle 6"/>
          <p:cNvSpPr/>
          <p:nvPr/>
        </p:nvSpPr>
        <p:spPr>
          <a:xfrm>
            <a:off x="713232" y="4663440"/>
            <a:ext cx="3405530" cy="91440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TextBox 7"/>
          <p:cNvSpPr txBox="1"/>
          <p:nvPr/>
        </p:nvSpPr>
        <p:spPr>
          <a:xfrm>
            <a:off x="969264" y="4828032"/>
            <a:ext cx="2948330" cy="914400"/>
          </a:xfrm>
          <a:prstGeom prst="rect">
            <a:avLst/>
          </a:prstGeom>
          <a:noFill/>
        </p:spPr>
        <p:txBody>
          <a:bodyPr wrap="square" anchor="t" lIns="0" rIns="0" tIns="0" bIns="0">
            <a:spAutoFit/>
          </a:bodyPr>
          <a:lstStyle/>
          <a:p>
            <a:pPr algn="l">
              <a:lnSpc>
                <a:spcPct val="125000"/>
              </a:lnSpc>
            </a:pPr>
            <a:r>
              <a:rPr sz="1600" b="1" i="0">
                <a:solidFill>
                  <a:srgbClr val="1C2B2B"/>
                </a:solidFill>
                <a:latin typeface="Avenir Next"/>
              </a:rPr>
              <a:t>Strain 1</a:t>
            </a:r>
          </a:p>
        </p:txBody>
      </p:sp>
      <p:sp>
        <p:nvSpPr>
          <p:cNvPr id="9" name="TextBox 8"/>
          <p:cNvSpPr txBox="1"/>
          <p:nvPr/>
        </p:nvSpPr>
        <p:spPr>
          <a:xfrm>
            <a:off x="969264" y="5175504"/>
            <a:ext cx="294833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15 genes · 17.0 kb</a:t>
            </a:r>
          </a:p>
        </p:txBody>
      </p:sp>
      <p:sp>
        <p:nvSpPr>
          <p:cNvPr id="10" name="Rounded Rectangle 9"/>
          <p:cNvSpPr/>
          <p:nvPr/>
        </p:nvSpPr>
        <p:spPr>
          <a:xfrm>
            <a:off x="4393082" y="4663440"/>
            <a:ext cx="3405530" cy="914400"/>
          </a:xfrm>
          <a:prstGeom prst="roundRect">
            <a:avLst>
              <a:gd name="adj" fmla="val 6000"/>
            </a:avLst>
          </a:prstGeom>
          <a:solidFill>
            <a:srgbClr val="FFFFFF"/>
          </a:solidFill>
          <a:ln w="12700">
            <a:solidFill>
              <a:srgbClr val="2D6A6A"/>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4649114" y="4828032"/>
            <a:ext cx="2948330" cy="914400"/>
          </a:xfrm>
          <a:prstGeom prst="rect">
            <a:avLst/>
          </a:prstGeom>
          <a:noFill/>
        </p:spPr>
        <p:txBody>
          <a:bodyPr wrap="square" anchor="t" lIns="0" rIns="0" tIns="0" bIns="0">
            <a:spAutoFit/>
          </a:bodyPr>
          <a:lstStyle/>
          <a:p>
            <a:pPr algn="l">
              <a:lnSpc>
                <a:spcPct val="125000"/>
              </a:lnSpc>
            </a:pPr>
            <a:r>
              <a:rPr sz="1600" b="1" i="0">
                <a:solidFill>
                  <a:srgbClr val="2D6A6A"/>
                </a:solidFill>
                <a:latin typeface="Avenir Next"/>
              </a:rPr>
              <a:t>Strain 2 — the host</a:t>
            </a:r>
          </a:p>
        </p:txBody>
      </p:sp>
      <p:sp>
        <p:nvSpPr>
          <p:cNvPr id="12" name="TextBox 11"/>
          <p:cNvSpPr txBox="1"/>
          <p:nvPr/>
        </p:nvSpPr>
        <p:spPr>
          <a:xfrm>
            <a:off x="4649114" y="5175504"/>
            <a:ext cx="294833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23 genes · 26.5 kb</a:t>
            </a:r>
          </a:p>
        </p:txBody>
      </p:sp>
      <p:sp>
        <p:nvSpPr>
          <p:cNvPr id="13" name="Rounded Rectangle 12"/>
          <p:cNvSpPr/>
          <p:nvPr/>
        </p:nvSpPr>
        <p:spPr>
          <a:xfrm>
            <a:off x="8072932" y="4663440"/>
            <a:ext cx="3405530" cy="91440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TextBox 13"/>
          <p:cNvSpPr txBox="1"/>
          <p:nvPr/>
        </p:nvSpPr>
        <p:spPr>
          <a:xfrm>
            <a:off x="8328964" y="4828032"/>
            <a:ext cx="2948330" cy="914400"/>
          </a:xfrm>
          <a:prstGeom prst="rect">
            <a:avLst/>
          </a:prstGeom>
          <a:noFill/>
        </p:spPr>
        <p:txBody>
          <a:bodyPr wrap="square" anchor="t" lIns="0" rIns="0" tIns="0" bIns="0">
            <a:spAutoFit/>
          </a:bodyPr>
          <a:lstStyle/>
          <a:p>
            <a:pPr algn="l">
              <a:lnSpc>
                <a:spcPct val="125000"/>
              </a:lnSpc>
            </a:pPr>
            <a:r>
              <a:rPr sz="1600" b="1" i="0">
                <a:solidFill>
                  <a:srgbClr val="1C2B2B"/>
                </a:solidFill>
                <a:latin typeface="Avenir Next"/>
              </a:rPr>
              <a:t>Strain 3</a:t>
            </a:r>
          </a:p>
        </p:txBody>
      </p:sp>
      <p:sp>
        <p:nvSpPr>
          <p:cNvPr id="15" name="TextBox 14"/>
          <p:cNvSpPr txBox="1"/>
          <p:nvPr/>
        </p:nvSpPr>
        <p:spPr>
          <a:xfrm>
            <a:off x="8328964" y="5175504"/>
            <a:ext cx="294833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25 genes · 38.2 kb</a:t>
            </a:r>
          </a:p>
        </p:txBody>
      </p:sp>
      <p:sp>
        <p:nvSpPr>
          <p:cNvPr id="16" name="TextBox 15"/>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Located with ihfB as the upstream anchor; cassette proteins clustered with MMseqs2 at ≥ 30 % identity, ≥ 50 % coverage</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11</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THE FIRST CLUE</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Within a strain, zero variation. Between strains, almost total.</a:t>
            </a:r>
          </a:p>
        </p:txBody>
      </p:sp>
      <p:pic>
        <p:nvPicPr>
          <p:cNvPr id="6" name="Picture 5" descr="clusters.png"/>
          <p:cNvPicPr>
            <a:picLocks noChangeAspect="1"/>
          </p:cNvPicPr>
          <p:nvPr/>
        </p:nvPicPr>
        <p:blipFill>
          <a:blip r:embed="rId2"/>
          <a:stretch>
            <a:fillRect/>
          </a:stretch>
        </p:blipFill>
        <p:spPr>
          <a:xfrm>
            <a:off x="713232" y="2113280"/>
            <a:ext cx="6400800" cy="2631440"/>
          </a:xfrm>
          <a:prstGeom prst="rect">
            <a:avLst/>
          </a:prstGeom>
        </p:spPr>
      </p:pic>
      <p:sp>
        <p:nvSpPr>
          <p:cNvPr id="7" name="TextBox 6"/>
          <p:cNvSpPr txBox="1"/>
          <p:nvPr/>
        </p:nvSpPr>
        <p:spPr>
          <a:xfrm>
            <a:off x="7571232" y="2103120"/>
            <a:ext cx="3931920" cy="914400"/>
          </a:xfrm>
          <a:prstGeom prst="rect">
            <a:avLst/>
          </a:prstGeom>
          <a:noFill/>
        </p:spPr>
        <p:txBody>
          <a:bodyPr wrap="square" anchor="t" lIns="0" rIns="0" tIns="0" bIns="0">
            <a:spAutoFit/>
          </a:bodyPr>
          <a:lstStyle/>
          <a:p>
            <a:pPr algn="l">
              <a:lnSpc>
                <a:spcPct val="125000"/>
              </a:lnSpc>
            </a:pPr>
            <a:r>
              <a:rPr sz="4000" b="1" i="0">
                <a:solidFill>
                  <a:srgbClr val="2D6A6A"/>
                </a:solidFill>
                <a:latin typeface="Georgia"/>
              </a:rPr>
              <a:t>4 of 45</a:t>
            </a:r>
          </a:p>
        </p:txBody>
      </p:sp>
      <p:sp>
        <p:nvSpPr>
          <p:cNvPr id="8" name="TextBox 7"/>
          <p:cNvSpPr txBox="1"/>
          <p:nvPr/>
        </p:nvSpPr>
        <p:spPr>
          <a:xfrm>
            <a:off x="7571232" y="2743200"/>
            <a:ext cx="3931920" cy="914400"/>
          </a:xfrm>
          <a:prstGeom prst="rect">
            <a:avLst/>
          </a:prstGeom>
          <a:noFill/>
        </p:spPr>
        <p:txBody>
          <a:bodyPr wrap="square" anchor="t" lIns="0" rIns="0" tIns="0" bIns="0">
            <a:spAutoFit/>
          </a:bodyPr>
          <a:lstStyle/>
          <a:p>
            <a:pPr algn="l">
              <a:lnSpc>
                <a:spcPct val="130000"/>
              </a:lnSpc>
            </a:pPr>
            <a:r>
              <a:rPr sz="1600" b="0" i="0">
                <a:solidFill>
                  <a:srgbClr val="55605F"/>
                </a:solidFill>
                <a:latin typeface="Avenir Next"/>
              </a:rPr>
              <a:t>ortholog clusters shared by all three strains — and all four are generic sugar chemistry.</a:t>
            </a:r>
          </a:p>
        </p:txBody>
      </p:sp>
      <p:sp>
        <p:nvSpPr>
          <p:cNvPr id="9" name="Rectangle 8"/>
          <p:cNvSpPr/>
          <p:nvPr/>
        </p:nvSpPr>
        <p:spPr>
          <a:xfrm>
            <a:off x="7571232" y="3611880"/>
            <a:ext cx="3931920" cy="27432"/>
          </a:xfrm>
          <a:prstGeom prst="rect">
            <a:avLst/>
          </a:prstGeom>
          <a:solidFill>
            <a:srgbClr val="DCD8D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7571232" y="3794760"/>
            <a:ext cx="3931920" cy="914400"/>
          </a:xfrm>
          <a:prstGeom prst="rect">
            <a:avLst/>
          </a:prstGeom>
          <a:noFill/>
        </p:spPr>
        <p:txBody>
          <a:bodyPr wrap="square" anchor="t" lIns="0" rIns="0" tIns="0" bIns="0">
            <a:spAutoFit/>
          </a:bodyPr>
          <a:lstStyle/>
          <a:p>
            <a:pPr algn="l">
              <a:lnSpc>
                <a:spcPct val="130000"/>
              </a:lnSpc>
            </a:pPr>
            <a:r>
              <a:rPr sz="1600" b="0" i="0">
                <a:solidFill>
                  <a:srgbClr val="55605F"/>
                </a:solidFill>
                <a:latin typeface="Avenir Next"/>
              </a:rPr>
              <a:t>No shared flippase. No shared polymerase. No shared chain-length regulator.</a:t>
            </a:r>
          </a:p>
          <a:p>
            <a:pPr algn="l">
              <a:lnSpc>
                <a:spcPct val="130000"/>
              </a:lnSpc>
            </a:pPr>
            <a:r>
              <a:rPr sz="1600" b="0" i="0">
                <a:solidFill>
                  <a:srgbClr val="55605F"/>
                </a:solidFill>
                <a:latin typeface="Avenir Next"/>
              </a:rPr>
              <a:t>The near-identical pairs inside each strain match at 100 % across every cassette gene.</a:t>
            </a:r>
          </a:p>
        </p:txBody>
      </p:sp>
      <p:sp>
        <p:nvSpPr>
          <p:cNvPr id="11" name="TextBox 10"/>
          <p:cNvSpPr txBox="1"/>
          <p:nvPr/>
        </p:nvSpPr>
        <p:spPr>
          <a:xfrm>
            <a:off x="7571232" y="4983480"/>
            <a:ext cx="3931920" cy="914400"/>
          </a:xfrm>
          <a:prstGeom prst="rect">
            <a:avLst/>
          </a:prstGeom>
          <a:noFill/>
        </p:spPr>
        <p:txBody>
          <a:bodyPr wrap="square" anchor="t" lIns="0" rIns="0" tIns="0" bIns="0">
            <a:spAutoFit/>
          </a:bodyPr>
          <a:lstStyle/>
          <a:p>
            <a:pPr algn="l">
              <a:lnSpc>
                <a:spcPct val="130000"/>
              </a:lnSpc>
            </a:pPr>
            <a:r>
              <a:rPr sz="1600" b="1" i="0">
                <a:solidFill>
                  <a:srgbClr val="B4542E"/>
                </a:solidFill>
                <a:latin typeface="Avenir Next"/>
              </a:rPr>
              <a:t>No database could have told us this: there is no serotype scheme for this group of species at all.</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D6A6A"/>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12</a:t>
            </a:r>
          </a:p>
        </p:txBody>
      </p:sp>
      <p:sp>
        <p:nvSpPr>
          <p:cNvPr id="3" name="TextBox 2"/>
          <p:cNvSpPr txBox="1"/>
          <p:nvPr/>
        </p:nvSpPr>
        <p:spPr>
          <a:xfrm>
            <a:off x="713232" y="1737360"/>
            <a:ext cx="10765231" cy="914400"/>
          </a:xfrm>
          <a:prstGeom prst="rect">
            <a:avLst/>
          </a:prstGeom>
          <a:noFill/>
        </p:spPr>
        <p:txBody>
          <a:bodyPr wrap="square" anchor="t" lIns="0" rIns="0" tIns="0" bIns="0">
            <a:spAutoFit/>
          </a:bodyPr>
          <a:lstStyle/>
          <a:p>
            <a:pPr algn="l">
              <a:lnSpc>
                <a:spcPct val="125000"/>
              </a:lnSpc>
            </a:pPr>
            <a:r>
              <a:rPr sz="1400" b="1" i="0">
                <a:solidFill>
                  <a:srgbClr val="BFD8D5"/>
                </a:solidFill>
                <a:latin typeface="Avenir Next"/>
              </a:rPr>
              <a:t>FIRST HYPOTHESIS</a:t>
            </a:r>
          </a:p>
        </p:txBody>
      </p:sp>
      <p:sp>
        <p:nvSpPr>
          <p:cNvPr id="4" name="TextBox 3"/>
          <p:cNvSpPr txBox="1"/>
          <p:nvPr/>
        </p:nvSpPr>
        <p:spPr>
          <a:xfrm>
            <a:off x="713232" y="2286000"/>
            <a:ext cx="10765231" cy="914400"/>
          </a:xfrm>
          <a:prstGeom prst="rect">
            <a:avLst/>
          </a:prstGeom>
          <a:noFill/>
        </p:spPr>
        <p:txBody>
          <a:bodyPr wrap="square" anchor="t" lIns="0" rIns="0" tIns="0" bIns="0">
            <a:spAutoFit/>
          </a:bodyPr>
          <a:lstStyle/>
          <a:p>
            <a:pPr algn="l">
              <a:lnSpc>
                <a:spcPct val="118000"/>
              </a:lnSpc>
            </a:pPr>
            <a:r>
              <a:rPr sz="3800" b="0" i="0">
                <a:solidFill>
                  <a:srgbClr val="F7F4EE"/>
                </a:solidFill>
                <a:latin typeface="Georgia"/>
              </a:rPr>
              <a:t>Three strains, three different sugar coats,</a:t>
            </a:r>
          </a:p>
          <a:p>
            <a:pPr algn="l">
              <a:lnSpc>
                <a:spcPct val="118000"/>
              </a:lnSpc>
            </a:pPr>
            <a:r>
              <a:rPr sz="3800" b="0" i="0">
                <a:solidFill>
                  <a:srgbClr val="F7F4EE"/>
                </a:solidFill>
                <a:latin typeface="Georgia"/>
              </a:rPr>
              <a:t>one phage that kills one of them — so the sugar coat</a:t>
            </a:r>
          </a:p>
          <a:p>
            <a:pPr algn="l">
              <a:lnSpc>
                <a:spcPct val="118000"/>
              </a:lnSpc>
            </a:pPr>
            <a:r>
              <a:rPr sz="3800" b="0" i="0">
                <a:solidFill>
                  <a:srgbClr val="F7F4EE"/>
                </a:solidFill>
                <a:latin typeface="Georgia"/>
              </a:rPr>
              <a:t>might be one of the main things setting</a:t>
            </a:r>
          </a:p>
          <a:p>
            <a:pPr algn="l">
              <a:lnSpc>
                <a:spcPct val="118000"/>
              </a:lnSpc>
            </a:pPr>
            <a:r>
              <a:rPr sz="3800" b="0" i="0">
                <a:solidFill>
                  <a:srgbClr val="F7F4EE"/>
                </a:solidFill>
                <a:latin typeface="Georgia"/>
              </a:rPr>
              <a:t>what Φ8 can attack.</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13</a:t>
            </a:r>
          </a:p>
        </p:txBody>
      </p:sp>
      <p:sp>
        <p:nvSpPr>
          <p:cNvPr id="3" name="TextBox 2"/>
          <p:cNvSpPr txBox="1"/>
          <p:nvPr/>
        </p:nvSpPr>
        <p:spPr>
          <a:xfrm>
            <a:off x="713232" y="1600200"/>
            <a:ext cx="10765231" cy="914400"/>
          </a:xfrm>
          <a:prstGeom prst="rect">
            <a:avLst/>
          </a:prstGeom>
          <a:noFill/>
        </p:spPr>
        <p:txBody>
          <a:bodyPr wrap="square" anchor="t" lIns="0" rIns="0" tIns="0" bIns="0">
            <a:spAutoFit/>
          </a:bodyPr>
          <a:lstStyle/>
          <a:p>
            <a:pPr algn="l">
              <a:lnSpc>
                <a:spcPct val="125000"/>
              </a:lnSpc>
            </a:pPr>
            <a:r>
              <a:rPr sz="1400" b="1" i="0">
                <a:solidFill>
                  <a:srgbClr val="8FB3AE"/>
                </a:solidFill>
                <a:latin typeface="Avenir Next"/>
              </a:rPr>
              <a:t>CYCLE 1 OF 4</a:t>
            </a:r>
          </a:p>
        </p:txBody>
      </p:sp>
      <p:sp>
        <p:nvSpPr>
          <p:cNvPr id="4" name="TextBox 3"/>
          <p:cNvSpPr txBox="1"/>
          <p:nvPr/>
        </p:nvSpPr>
        <p:spPr>
          <a:xfrm>
            <a:off x="713232" y="2103120"/>
            <a:ext cx="10765231" cy="914400"/>
          </a:xfrm>
          <a:prstGeom prst="rect">
            <a:avLst/>
          </a:prstGeom>
          <a:noFill/>
        </p:spPr>
        <p:txBody>
          <a:bodyPr wrap="square" anchor="t" lIns="0" rIns="0" tIns="0" bIns="0">
            <a:spAutoFit/>
          </a:bodyPr>
          <a:lstStyle/>
          <a:p>
            <a:pPr algn="l">
              <a:lnSpc>
                <a:spcPct val="105000"/>
              </a:lnSpc>
            </a:pPr>
            <a:r>
              <a:rPr sz="5800" b="0" i="0">
                <a:solidFill>
                  <a:srgbClr val="F7F4EE"/>
                </a:solidFill>
                <a:latin typeface="Georgia"/>
              </a:rPr>
              <a:t>The wrong question</a:t>
            </a:r>
          </a:p>
        </p:txBody>
      </p:sp>
      <p:sp>
        <p:nvSpPr>
          <p:cNvPr id="5" name="Rounded Rectangle 4"/>
          <p:cNvSpPr/>
          <p:nvPr/>
        </p:nvSpPr>
        <p:spPr>
          <a:xfrm>
            <a:off x="713232"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Design</a:t>
            </a:r>
          </a:p>
        </p:txBody>
      </p:sp>
      <p:sp>
        <p:nvSpPr>
          <p:cNvPr id="6" name="Rounded Rectangle 5"/>
          <p:cNvSpPr/>
          <p:nvPr/>
        </p:nvSpPr>
        <p:spPr>
          <a:xfrm>
            <a:off x="2249424"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Build</a:t>
            </a:r>
          </a:p>
        </p:txBody>
      </p:sp>
      <p:sp>
        <p:nvSpPr>
          <p:cNvPr id="7" name="Rounded Rectangle 6"/>
          <p:cNvSpPr/>
          <p:nvPr/>
        </p:nvSpPr>
        <p:spPr>
          <a:xfrm>
            <a:off x="3785616"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Test</a:t>
            </a:r>
          </a:p>
        </p:txBody>
      </p:sp>
      <p:sp>
        <p:nvSpPr>
          <p:cNvPr id="8" name="Rounded Rectangle 7"/>
          <p:cNvSpPr/>
          <p:nvPr/>
        </p:nvSpPr>
        <p:spPr>
          <a:xfrm>
            <a:off x="5321808"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Learn</a:t>
            </a:r>
          </a:p>
        </p:txBody>
      </p:sp>
      <p:sp>
        <p:nvSpPr>
          <p:cNvPr id="9" name="TextBox 8"/>
          <p:cNvSpPr txBox="1"/>
          <p:nvPr/>
        </p:nvSpPr>
        <p:spPr>
          <a:xfrm>
            <a:off x="713232" y="4846320"/>
            <a:ext cx="8686800" cy="914400"/>
          </a:xfrm>
          <a:prstGeom prst="rect">
            <a:avLst/>
          </a:prstGeom>
          <a:noFill/>
        </p:spPr>
        <p:txBody>
          <a:bodyPr wrap="square" anchor="t" lIns="0" rIns="0" tIns="0" bIns="0">
            <a:spAutoFit/>
          </a:bodyPr>
          <a:lstStyle/>
          <a:p>
            <a:pPr algn="l">
              <a:lnSpc>
                <a:spcPct val="130000"/>
              </a:lnSpc>
            </a:pPr>
            <a:r>
              <a:rPr sz="2000" b="0" i="0">
                <a:solidFill>
                  <a:srgbClr val="C8D8D4"/>
                </a:solidFill>
                <a:latin typeface="Avenir Next"/>
              </a:rPr>
              <a:t>We looked for a protein lock. Nine control folds decided the fate of seven thousand pairs.</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14</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DESIGN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We designed it around the wrong assumption</a:t>
            </a:r>
          </a:p>
        </p:txBody>
      </p:sp>
      <p:sp>
        <p:nvSpPr>
          <p:cNvPr id="6" name="TextBox 5"/>
          <p:cNvSpPr txBox="1"/>
          <p:nvPr/>
        </p:nvSpPr>
        <p:spPr>
          <a:xfrm>
            <a:off x="713232" y="2286000"/>
            <a:ext cx="5852160" cy="914400"/>
          </a:xfrm>
          <a:prstGeom prst="rect">
            <a:avLst/>
          </a:prstGeom>
          <a:noFill/>
        </p:spPr>
        <p:txBody>
          <a:bodyPr wrap="square" anchor="t" lIns="0" rIns="0" tIns="0" bIns="0">
            <a:spAutoFit/>
          </a:bodyPr>
          <a:lstStyle/>
          <a:p>
            <a:pPr algn="l">
              <a:lnSpc>
                <a:spcPct val="135000"/>
              </a:lnSpc>
            </a:pPr>
            <a:r>
              <a:rPr sz="2000" b="0" i="0">
                <a:solidFill>
                  <a:srgbClr val="1C2B2B"/>
                </a:solidFill>
                <a:latin typeface="Avenir Next"/>
              </a:rPr>
              <a:t>The textbook picture of attachment is a receptor-binding protein on the phage tail meeting a protein on the bacterial surface. Lock and key.</a:t>
            </a:r>
          </a:p>
        </p:txBody>
      </p:sp>
      <p:sp>
        <p:nvSpPr>
          <p:cNvPr id="7" name="TextBox 6"/>
          <p:cNvSpPr txBox="1"/>
          <p:nvPr/>
        </p:nvSpPr>
        <p:spPr>
          <a:xfrm>
            <a:off x="713232" y="3429000"/>
            <a:ext cx="585216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If you assume that, the obvious move is to work out which binding protein fits which receptor. So that is what we set out to predict.</a:t>
            </a:r>
          </a:p>
        </p:txBody>
      </p:sp>
      <p:sp>
        <p:nvSpPr>
          <p:cNvPr id="8" name="Rectangle 7"/>
          <p:cNvSpPr/>
          <p:nvPr/>
        </p:nvSpPr>
        <p:spPr>
          <a:xfrm>
            <a:off x="713232" y="4663440"/>
            <a:ext cx="45720" cy="914400"/>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TextBox 8"/>
          <p:cNvSpPr txBox="1"/>
          <p:nvPr/>
        </p:nvSpPr>
        <p:spPr>
          <a:xfrm>
            <a:off x="987552" y="4709160"/>
            <a:ext cx="5577840" cy="914400"/>
          </a:xfrm>
          <a:prstGeom prst="rect">
            <a:avLst/>
          </a:prstGeom>
          <a:noFill/>
        </p:spPr>
        <p:txBody>
          <a:bodyPr wrap="square" anchor="t" lIns="0" rIns="0" tIns="0" bIns="0">
            <a:spAutoFit/>
          </a:bodyPr>
          <a:lstStyle/>
          <a:p>
            <a:pPr algn="l">
              <a:lnSpc>
                <a:spcPct val="130000"/>
              </a:lnSpc>
            </a:pPr>
            <a:r>
              <a:rPr sz="1900" b="1" i="0">
                <a:solidFill>
                  <a:srgbClr val="B4542E"/>
                </a:solidFill>
                <a:latin typeface="Avenir Next"/>
              </a:rPr>
              <a:t>If we had known the receptor was a sugar,</a:t>
            </a:r>
          </a:p>
          <a:p>
            <a:pPr algn="l">
              <a:lnSpc>
                <a:spcPct val="130000"/>
              </a:lnSpc>
            </a:pPr>
            <a:r>
              <a:rPr sz="1900" b="1" i="0">
                <a:solidFill>
                  <a:srgbClr val="B4542E"/>
                </a:solidFill>
                <a:latin typeface="Avenir Next"/>
              </a:rPr>
              <a:t>we would never have run this.</a:t>
            </a:r>
          </a:p>
        </p:txBody>
      </p:sp>
      <p:pic>
        <p:nvPicPr>
          <p:cNvPr id="10" name="Picture 9" descr="virion.png"/>
          <p:cNvPicPr>
            <a:picLocks noChangeAspect="1"/>
          </p:cNvPicPr>
          <p:nvPr/>
        </p:nvPicPr>
        <p:blipFill>
          <a:blip r:embed="rId2"/>
          <a:stretch>
            <a:fillRect/>
          </a:stretch>
        </p:blipFill>
        <p:spPr>
          <a:xfrm>
            <a:off x="7298865" y="2103120"/>
            <a:ext cx="3928013" cy="3566160"/>
          </a:xfrm>
          <a:prstGeom prst="rect">
            <a:avLst/>
          </a:prstGeom>
        </p:spPr>
      </p:pic>
      <p:sp>
        <p:nvSpPr>
          <p:cNvPr id="11" name="TextBox 10"/>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Φ8 virion, to scale — AlphaFold3 models run by Prof. J. Cesar Ignacio Espinoza</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What we built was a screen</a:t>
            </a:r>
          </a:p>
        </p:txBody>
      </p:sp>
      <p:sp>
        <p:nvSpPr>
          <p:cNvPr id="6" name="!!row0"/>
          <p:cNvSpPr/>
          <p:nvPr/>
        </p:nvSpPr>
        <p:spPr>
          <a:xfrm>
            <a:off x="713232" y="219456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big0"/>
          <p:cNvSpPr txBox="1"/>
          <p:nvPr/>
        </p:nvSpPr>
        <p:spPr>
          <a:xfrm>
            <a:off x="1078992" y="237744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441</a:t>
            </a:r>
          </a:p>
        </p:txBody>
      </p:sp>
      <p:sp>
        <p:nvSpPr>
          <p:cNvPr id="8" name="!!small0"/>
          <p:cNvSpPr txBox="1"/>
          <p:nvPr/>
        </p:nvSpPr>
        <p:spPr>
          <a:xfrm>
            <a:off x="3456432" y="246888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candidate surface receptors annotated across all five isolates</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16</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What we built was a screen</a:t>
            </a:r>
          </a:p>
        </p:txBody>
      </p:sp>
      <p:sp>
        <p:nvSpPr>
          <p:cNvPr id="6" name="!!row0"/>
          <p:cNvSpPr/>
          <p:nvPr/>
        </p:nvSpPr>
        <p:spPr>
          <a:xfrm>
            <a:off x="713232" y="219456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big0"/>
          <p:cNvSpPr txBox="1"/>
          <p:nvPr/>
        </p:nvSpPr>
        <p:spPr>
          <a:xfrm>
            <a:off x="1078992" y="237744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441</a:t>
            </a:r>
          </a:p>
        </p:txBody>
      </p:sp>
      <p:sp>
        <p:nvSpPr>
          <p:cNvPr id="8" name="!!small0"/>
          <p:cNvSpPr txBox="1"/>
          <p:nvPr/>
        </p:nvSpPr>
        <p:spPr>
          <a:xfrm>
            <a:off x="3456432" y="246888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candidate surface receptors</a:t>
            </a:r>
          </a:p>
        </p:txBody>
      </p:sp>
      <p:sp>
        <p:nvSpPr>
          <p:cNvPr id="9" name="!!row1"/>
          <p:cNvSpPr/>
          <p:nvPr/>
        </p:nvSpPr>
        <p:spPr>
          <a:xfrm>
            <a:off x="713232" y="315468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big1"/>
          <p:cNvSpPr txBox="1"/>
          <p:nvPr/>
        </p:nvSpPr>
        <p:spPr>
          <a:xfrm>
            <a:off x="1078992" y="333756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144</a:t>
            </a:r>
          </a:p>
        </p:txBody>
      </p:sp>
      <p:sp>
        <p:nvSpPr>
          <p:cNvPr id="11" name="!!small1"/>
          <p:cNvSpPr txBox="1"/>
          <p:nvPr/>
        </p:nvSpPr>
        <p:spPr>
          <a:xfrm>
            <a:off x="3456432" y="342900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clusters, after collapsing them</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17</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What we built was a screen</a:t>
            </a:r>
          </a:p>
        </p:txBody>
      </p:sp>
      <p:sp>
        <p:nvSpPr>
          <p:cNvPr id="6" name="!!row0"/>
          <p:cNvSpPr/>
          <p:nvPr/>
        </p:nvSpPr>
        <p:spPr>
          <a:xfrm>
            <a:off x="713232" y="219456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big0"/>
          <p:cNvSpPr txBox="1"/>
          <p:nvPr/>
        </p:nvSpPr>
        <p:spPr>
          <a:xfrm>
            <a:off x="1078992" y="237744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441</a:t>
            </a:r>
          </a:p>
        </p:txBody>
      </p:sp>
      <p:sp>
        <p:nvSpPr>
          <p:cNvPr id="8" name="!!small0"/>
          <p:cNvSpPr txBox="1"/>
          <p:nvPr/>
        </p:nvSpPr>
        <p:spPr>
          <a:xfrm>
            <a:off x="3456432" y="246888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candidate surface receptors</a:t>
            </a:r>
          </a:p>
        </p:txBody>
      </p:sp>
      <p:sp>
        <p:nvSpPr>
          <p:cNvPr id="9" name="!!row1"/>
          <p:cNvSpPr/>
          <p:nvPr/>
        </p:nvSpPr>
        <p:spPr>
          <a:xfrm>
            <a:off x="713232" y="315468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big1"/>
          <p:cNvSpPr txBox="1"/>
          <p:nvPr/>
        </p:nvSpPr>
        <p:spPr>
          <a:xfrm>
            <a:off x="1078992" y="333756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144</a:t>
            </a:r>
          </a:p>
        </p:txBody>
      </p:sp>
      <p:sp>
        <p:nvSpPr>
          <p:cNvPr id="11" name="!!small1"/>
          <p:cNvSpPr txBox="1"/>
          <p:nvPr/>
        </p:nvSpPr>
        <p:spPr>
          <a:xfrm>
            <a:off x="3456432" y="342900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clusters, after collapsing them</a:t>
            </a:r>
          </a:p>
        </p:txBody>
      </p:sp>
      <p:sp>
        <p:nvSpPr>
          <p:cNvPr id="12" name="!!row2"/>
          <p:cNvSpPr/>
          <p:nvPr/>
        </p:nvSpPr>
        <p:spPr>
          <a:xfrm>
            <a:off x="713232" y="411480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big2"/>
          <p:cNvSpPr txBox="1"/>
          <p:nvPr/>
        </p:nvSpPr>
        <p:spPr>
          <a:xfrm>
            <a:off x="1078992" y="429768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114 × 63</a:t>
            </a:r>
          </a:p>
        </p:txBody>
      </p:sp>
      <p:sp>
        <p:nvSpPr>
          <p:cNvPr id="14" name="!!small2"/>
          <p:cNvSpPr txBox="1"/>
          <p:nvPr/>
        </p:nvSpPr>
        <p:spPr>
          <a:xfrm>
            <a:off x="3456432" y="438912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binding proteins against receptors</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18</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What we built was a screen</a:t>
            </a:r>
          </a:p>
        </p:txBody>
      </p:sp>
      <p:sp>
        <p:nvSpPr>
          <p:cNvPr id="6" name="!!row0"/>
          <p:cNvSpPr/>
          <p:nvPr/>
        </p:nvSpPr>
        <p:spPr>
          <a:xfrm>
            <a:off x="713232" y="219456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big0"/>
          <p:cNvSpPr txBox="1"/>
          <p:nvPr/>
        </p:nvSpPr>
        <p:spPr>
          <a:xfrm>
            <a:off x="1078992" y="237744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441</a:t>
            </a:r>
          </a:p>
        </p:txBody>
      </p:sp>
      <p:sp>
        <p:nvSpPr>
          <p:cNvPr id="8" name="!!small0"/>
          <p:cNvSpPr txBox="1"/>
          <p:nvPr/>
        </p:nvSpPr>
        <p:spPr>
          <a:xfrm>
            <a:off x="3456432" y="246888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candidate surface receptors</a:t>
            </a:r>
          </a:p>
        </p:txBody>
      </p:sp>
      <p:sp>
        <p:nvSpPr>
          <p:cNvPr id="9" name="!!row1"/>
          <p:cNvSpPr/>
          <p:nvPr/>
        </p:nvSpPr>
        <p:spPr>
          <a:xfrm>
            <a:off x="713232" y="315468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big1"/>
          <p:cNvSpPr txBox="1"/>
          <p:nvPr/>
        </p:nvSpPr>
        <p:spPr>
          <a:xfrm>
            <a:off x="1078992" y="333756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144</a:t>
            </a:r>
          </a:p>
        </p:txBody>
      </p:sp>
      <p:sp>
        <p:nvSpPr>
          <p:cNvPr id="11" name="!!small1"/>
          <p:cNvSpPr txBox="1"/>
          <p:nvPr/>
        </p:nvSpPr>
        <p:spPr>
          <a:xfrm>
            <a:off x="3456432" y="342900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clusters, after collapsing them</a:t>
            </a:r>
          </a:p>
        </p:txBody>
      </p:sp>
      <p:sp>
        <p:nvSpPr>
          <p:cNvPr id="12" name="!!row2"/>
          <p:cNvSpPr/>
          <p:nvPr/>
        </p:nvSpPr>
        <p:spPr>
          <a:xfrm>
            <a:off x="713232" y="4114800"/>
            <a:ext cx="6675120" cy="841248"/>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big2"/>
          <p:cNvSpPr txBox="1"/>
          <p:nvPr/>
        </p:nvSpPr>
        <p:spPr>
          <a:xfrm>
            <a:off x="1078992" y="4297680"/>
            <a:ext cx="210312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Avenir Next"/>
              </a:rPr>
              <a:t>114 × 63</a:t>
            </a:r>
          </a:p>
        </p:txBody>
      </p:sp>
      <p:sp>
        <p:nvSpPr>
          <p:cNvPr id="14" name="!!small2"/>
          <p:cNvSpPr txBox="1"/>
          <p:nvPr/>
        </p:nvSpPr>
        <p:spPr>
          <a:xfrm>
            <a:off x="3456432" y="4389120"/>
            <a:ext cx="3657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binding proteins against receptors</a:t>
            </a:r>
          </a:p>
        </p:txBody>
      </p:sp>
      <p:sp>
        <p:nvSpPr>
          <p:cNvPr id="15" name="!!row3"/>
          <p:cNvSpPr/>
          <p:nvPr/>
        </p:nvSpPr>
        <p:spPr>
          <a:xfrm>
            <a:off x="713232" y="5074920"/>
            <a:ext cx="6675120" cy="841248"/>
          </a:xfrm>
          <a:prstGeom prst="roundRect">
            <a:avLst>
              <a:gd name="adj" fmla="val 6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big3"/>
          <p:cNvSpPr txBox="1"/>
          <p:nvPr/>
        </p:nvSpPr>
        <p:spPr>
          <a:xfrm>
            <a:off x="1078992" y="5257800"/>
            <a:ext cx="2103120" cy="914400"/>
          </a:xfrm>
          <a:prstGeom prst="rect">
            <a:avLst/>
          </a:prstGeom>
          <a:noFill/>
        </p:spPr>
        <p:txBody>
          <a:bodyPr wrap="square" anchor="t" lIns="0" rIns="0" tIns="0" bIns="0">
            <a:spAutoFit/>
          </a:bodyPr>
          <a:lstStyle/>
          <a:p>
            <a:pPr algn="l">
              <a:lnSpc>
                <a:spcPct val="125000"/>
              </a:lnSpc>
            </a:pPr>
            <a:r>
              <a:rPr sz="2600" b="1" i="0">
                <a:solidFill>
                  <a:srgbClr val="FFFFFF"/>
                </a:solidFill>
                <a:latin typeface="Avenir Next"/>
              </a:rPr>
              <a:t>7,182</a:t>
            </a:r>
          </a:p>
        </p:txBody>
      </p:sp>
      <p:sp>
        <p:nvSpPr>
          <p:cNvPr id="17" name="!!small3"/>
          <p:cNvSpPr txBox="1"/>
          <p:nvPr/>
        </p:nvSpPr>
        <p:spPr>
          <a:xfrm>
            <a:off x="3456432" y="5349240"/>
            <a:ext cx="3657600" cy="914400"/>
          </a:xfrm>
          <a:prstGeom prst="rect">
            <a:avLst/>
          </a:prstGeom>
          <a:noFill/>
        </p:spPr>
        <p:txBody>
          <a:bodyPr wrap="square" anchor="t" lIns="0" rIns="0" tIns="0" bIns="0">
            <a:spAutoFit/>
          </a:bodyPr>
          <a:lstStyle/>
          <a:p>
            <a:pPr algn="l">
              <a:lnSpc>
                <a:spcPct val="125000"/>
              </a:lnSpc>
            </a:pPr>
            <a:r>
              <a:rPr sz="1500" b="0" i="0">
                <a:solidFill>
                  <a:srgbClr val="C8D8D4"/>
                </a:solidFill>
                <a:latin typeface="Avenir Next"/>
              </a:rPr>
              <a:t>pairs, each folded as a complex and ranked by interface score</a:t>
            </a:r>
          </a:p>
        </p:txBody>
      </p:sp>
      <p:sp>
        <p:nvSpPr>
          <p:cNvPr id="18" name="Rounded Rectangle 17"/>
          <p:cNvSpPr/>
          <p:nvPr/>
        </p:nvSpPr>
        <p:spPr>
          <a:xfrm>
            <a:off x="7936992" y="2194560"/>
            <a:ext cx="3657600" cy="178308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TextBox 18"/>
          <p:cNvSpPr txBox="1"/>
          <p:nvPr/>
        </p:nvSpPr>
        <p:spPr>
          <a:xfrm>
            <a:off x="8211312" y="2414016"/>
            <a:ext cx="310896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Choosing a surrogate host</a:t>
            </a:r>
          </a:p>
        </p:txBody>
      </p:sp>
      <p:sp>
        <p:nvSpPr>
          <p:cNvPr id="20" name="TextBox 19"/>
          <p:cNvSpPr txBox="1"/>
          <p:nvPr/>
        </p:nvSpPr>
        <p:spPr>
          <a:xfrm>
            <a:off x="8211312" y="2871216"/>
            <a:ext cx="310896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The closest match by receptor content had 12 phages on record. A more distant relative had 227 entries across 71 phages. We took the one with the literature.</a:t>
            </a:r>
          </a:p>
        </p:txBody>
      </p:sp>
      <p:sp>
        <p:nvSpPr>
          <p:cNvPr id="21" name="Rounded Rectangle 20"/>
          <p:cNvSpPr/>
          <p:nvPr/>
        </p:nvSpPr>
        <p:spPr>
          <a:xfrm>
            <a:off x="7936992" y="4114800"/>
            <a:ext cx="3657600" cy="160020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TextBox 21"/>
          <p:cNvSpPr txBox="1"/>
          <p:nvPr/>
        </p:nvSpPr>
        <p:spPr>
          <a:xfrm>
            <a:off x="8211312" y="4334256"/>
            <a:ext cx="310896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Three tools to get it running</a:t>
            </a:r>
          </a:p>
        </p:txBody>
      </p:sp>
      <p:sp>
        <p:nvSpPr>
          <p:cNvPr id="23" name="TextBox 22"/>
          <p:cNvSpPr txBox="1"/>
          <p:nvPr/>
        </p:nvSpPr>
        <p:spPr>
          <a:xfrm>
            <a:off x="8211312" y="4791456"/>
            <a:ext cx="310896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ColabFold — throttled by its alignment server.</a:t>
            </a:r>
          </a:p>
          <a:p>
            <a:pPr algn="l">
              <a:lnSpc>
                <a:spcPct val="130000"/>
              </a:lnSpc>
            </a:pPr>
            <a:r>
              <a:rPr sz="1500" b="0" i="0">
                <a:solidFill>
                  <a:srgbClr val="55605F"/>
                </a:solidFill>
                <a:latin typeface="Avenir Next"/>
              </a:rPr>
              <a:t>Boltz-2 — blocked by the cluster's CUDA version.</a:t>
            </a:r>
          </a:p>
          <a:p>
            <a:pPr algn="l">
              <a:lnSpc>
                <a:spcPct val="130000"/>
              </a:lnSpc>
            </a:pPr>
            <a:r>
              <a:rPr sz="1500" b="0" i="0">
                <a:solidFill>
                  <a:srgbClr val="55605F"/>
                </a:solidFill>
                <a:latin typeface="Avenir Next"/>
              </a:rPr>
              <a:t>ESMFold — the one that ran.</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19</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We didn't test the screen. We tested whether it could tell</a:t>
            </a:r>
          </a:p>
          <a:p>
            <a:pPr algn="l">
              <a:lnSpc>
                <a:spcPct val="108000"/>
              </a:lnSpc>
            </a:pPr>
            <a:r>
              <a:rPr sz="2800" b="0" i="0">
                <a:solidFill>
                  <a:srgbClr val="1C2B2B"/>
                </a:solidFill>
                <a:latin typeface="Georgia"/>
              </a:rPr>
              <a:t>the difference.</a:t>
            </a:r>
          </a:p>
        </p:txBody>
      </p:sp>
      <p:sp>
        <p:nvSpPr>
          <p:cNvPr id="6" name="!!n1"/>
          <p:cNvSpPr/>
          <p:nvPr/>
        </p:nvSpPr>
        <p:spPr>
          <a:xfrm>
            <a:off x="713232" y="2468880"/>
            <a:ext cx="3017520" cy="17373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v1"/>
          <p:cNvSpPr txBox="1"/>
          <p:nvPr/>
        </p:nvSpPr>
        <p:spPr>
          <a:xfrm>
            <a:off x="987552" y="2743200"/>
            <a:ext cx="2468880" cy="914400"/>
          </a:xfrm>
          <a:prstGeom prst="rect">
            <a:avLst/>
          </a:prstGeom>
          <a:noFill/>
        </p:spPr>
        <p:txBody>
          <a:bodyPr wrap="square" anchor="t" lIns="0" rIns="0" tIns="0" bIns="0">
            <a:spAutoFit/>
          </a:bodyPr>
          <a:lstStyle/>
          <a:p>
            <a:pPr algn="l">
              <a:lnSpc>
                <a:spcPct val="125000"/>
              </a:lnSpc>
            </a:pPr>
            <a:r>
              <a:rPr sz="4400" b="1" i="0">
                <a:solidFill>
                  <a:srgbClr val="2D6A6A"/>
                </a:solidFill>
                <a:latin typeface="Georgia"/>
              </a:rPr>
              <a:t>0.137</a:t>
            </a:r>
          </a:p>
        </p:txBody>
      </p:sp>
      <p:sp>
        <p:nvSpPr>
          <p:cNvPr id="8" name="!!l1"/>
          <p:cNvSpPr txBox="1"/>
          <p:nvPr/>
        </p:nvSpPr>
        <p:spPr>
          <a:xfrm>
            <a:off x="987552" y="3566160"/>
            <a:ext cx="246888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 real, co-crystallised complex</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20</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We didn't test the screen. We tested whether it could tell</a:t>
            </a:r>
          </a:p>
          <a:p>
            <a:pPr algn="l">
              <a:lnSpc>
                <a:spcPct val="108000"/>
              </a:lnSpc>
            </a:pPr>
            <a:r>
              <a:rPr sz="2800" b="0" i="0">
                <a:solidFill>
                  <a:srgbClr val="1C2B2B"/>
                </a:solidFill>
                <a:latin typeface="Georgia"/>
              </a:rPr>
              <a:t>the difference.</a:t>
            </a:r>
          </a:p>
        </p:txBody>
      </p:sp>
      <p:sp>
        <p:nvSpPr>
          <p:cNvPr id="6" name="!!n1"/>
          <p:cNvSpPr/>
          <p:nvPr/>
        </p:nvSpPr>
        <p:spPr>
          <a:xfrm>
            <a:off x="713232" y="2468880"/>
            <a:ext cx="3017520" cy="17373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v1"/>
          <p:cNvSpPr txBox="1"/>
          <p:nvPr/>
        </p:nvSpPr>
        <p:spPr>
          <a:xfrm>
            <a:off x="987552" y="2743200"/>
            <a:ext cx="2468880" cy="914400"/>
          </a:xfrm>
          <a:prstGeom prst="rect">
            <a:avLst/>
          </a:prstGeom>
          <a:noFill/>
        </p:spPr>
        <p:txBody>
          <a:bodyPr wrap="square" anchor="t" lIns="0" rIns="0" tIns="0" bIns="0">
            <a:spAutoFit/>
          </a:bodyPr>
          <a:lstStyle/>
          <a:p>
            <a:pPr algn="l">
              <a:lnSpc>
                <a:spcPct val="125000"/>
              </a:lnSpc>
            </a:pPr>
            <a:r>
              <a:rPr sz="4400" b="1" i="0">
                <a:solidFill>
                  <a:srgbClr val="2D6A6A"/>
                </a:solidFill>
                <a:latin typeface="Georgia"/>
              </a:rPr>
              <a:t>0.137</a:t>
            </a:r>
          </a:p>
        </p:txBody>
      </p:sp>
      <p:sp>
        <p:nvSpPr>
          <p:cNvPr id="8" name="!!l1"/>
          <p:cNvSpPr txBox="1"/>
          <p:nvPr/>
        </p:nvSpPr>
        <p:spPr>
          <a:xfrm>
            <a:off x="987552" y="3566160"/>
            <a:ext cx="246888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 real, co-crystallised complex</a:t>
            </a:r>
          </a:p>
        </p:txBody>
      </p:sp>
      <p:sp>
        <p:nvSpPr>
          <p:cNvPr id="9" name="!!n2"/>
          <p:cNvSpPr/>
          <p:nvPr/>
        </p:nvSpPr>
        <p:spPr>
          <a:xfrm>
            <a:off x="4096512" y="2468880"/>
            <a:ext cx="3017520" cy="173736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v2"/>
          <p:cNvSpPr txBox="1"/>
          <p:nvPr/>
        </p:nvSpPr>
        <p:spPr>
          <a:xfrm>
            <a:off x="4370832" y="2743200"/>
            <a:ext cx="2468880" cy="914400"/>
          </a:xfrm>
          <a:prstGeom prst="rect">
            <a:avLst/>
          </a:prstGeom>
          <a:noFill/>
        </p:spPr>
        <p:txBody>
          <a:bodyPr wrap="square" anchor="t" lIns="0" rIns="0" tIns="0" bIns="0">
            <a:spAutoFit/>
          </a:bodyPr>
          <a:lstStyle/>
          <a:p>
            <a:pPr algn="l">
              <a:lnSpc>
                <a:spcPct val="125000"/>
              </a:lnSpc>
            </a:pPr>
            <a:r>
              <a:rPr sz="4400" b="1" i="0">
                <a:solidFill>
                  <a:srgbClr val="B4542E"/>
                </a:solidFill>
                <a:latin typeface="Georgia"/>
              </a:rPr>
              <a:t>0.136</a:t>
            </a:r>
          </a:p>
        </p:txBody>
      </p:sp>
      <p:sp>
        <p:nvSpPr>
          <p:cNvPr id="11" name="!!l2"/>
          <p:cNvSpPr txBox="1"/>
          <p:nvPr/>
        </p:nvSpPr>
        <p:spPr>
          <a:xfrm>
            <a:off x="4370832" y="3566160"/>
            <a:ext cx="246888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the same receptor, scrambled</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21</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1 ·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We didn't test the screen. We tested whether it could tell</a:t>
            </a:r>
          </a:p>
          <a:p>
            <a:pPr algn="l">
              <a:lnSpc>
                <a:spcPct val="108000"/>
              </a:lnSpc>
            </a:pPr>
            <a:r>
              <a:rPr sz="2800" b="0" i="0">
                <a:solidFill>
                  <a:srgbClr val="1C2B2B"/>
                </a:solidFill>
                <a:latin typeface="Georgia"/>
              </a:rPr>
              <a:t>the difference.</a:t>
            </a:r>
          </a:p>
        </p:txBody>
      </p:sp>
      <p:sp>
        <p:nvSpPr>
          <p:cNvPr id="6" name="!!n1"/>
          <p:cNvSpPr/>
          <p:nvPr/>
        </p:nvSpPr>
        <p:spPr>
          <a:xfrm>
            <a:off x="713232" y="2468880"/>
            <a:ext cx="3017520" cy="17373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v1"/>
          <p:cNvSpPr txBox="1"/>
          <p:nvPr/>
        </p:nvSpPr>
        <p:spPr>
          <a:xfrm>
            <a:off x="987552" y="2743200"/>
            <a:ext cx="2468880" cy="914400"/>
          </a:xfrm>
          <a:prstGeom prst="rect">
            <a:avLst/>
          </a:prstGeom>
          <a:noFill/>
        </p:spPr>
        <p:txBody>
          <a:bodyPr wrap="square" anchor="t" lIns="0" rIns="0" tIns="0" bIns="0">
            <a:spAutoFit/>
          </a:bodyPr>
          <a:lstStyle/>
          <a:p>
            <a:pPr algn="l">
              <a:lnSpc>
                <a:spcPct val="125000"/>
              </a:lnSpc>
            </a:pPr>
            <a:r>
              <a:rPr sz="4400" b="1" i="0">
                <a:solidFill>
                  <a:srgbClr val="2D6A6A"/>
                </a:solidFill>
                <a:latin typeface="Georgia"/>
              </a:rPr>
              <a:t>0.137</a:t>
            </a:r>
          </a:p>
        </p:txBody>
      </p:sp>
      <p:sp>
        <p:nvSpPr>
          <p:cNvPr id="8" name="!!l1"/>
          <p:cNvSpPr txBox="1"/>
          <p:nvPr/>
        </p:nvSpPr>
        <p:spPr>
          <a:xfrm>
            <a:off x="987552" y="3566160"/>
            <a:ext cx="246888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 real, co-crystallised complex</a:t>
            </a:r>
          </a:p>
        </p:txBody>
      </p:sp>
      <p:sp>
        <p:nvSpPr>
          <p:cNvPr id="9" name="!!n2"/>
          <p:cNvSpPr/>
          <p:nvPr/>
        </p:nvSpPr>
        <p:spPr>
          <a:xfrm>
            <a:off x="4096512" y="2468880"/>
            <a:ext cx="3017520" cy="173736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v2"/>
          <p:cNvSpPr txBox="1"/>
          <p:nvPr/>
        </p:nvSpPr>
        <p:spPr>
          <a:xfrm>
            <a:off x="4370832" y="2743200"/>
            <a:ext cx="2468880" cy="914400"/>
          </a:xfrm>
          <a:prstGeom prst="rect">
            <a:avLst/>
          </a:prstGeom>
          <a:noFill/>
        </p:spPr>
        <p:txBody>
          <a:bodyPr wrap="square" anchor="t" lIns="0" rIns="0" tIns="0" bIns="0">
            <a:spAutoFit/>
          </a:bodyPr>
          <a:lstStyle/>
          <a:p>
            <a:pPr algn="l">
              <a:lnSpc>
                <a:spcPct val="125000"/>
              </a:lnSpc>
            </a:pPr>
            <a:r>
              <a:rPr sz="4400" b="1" i="0">
                <a:solidFill>
                  <a:srgbClr val="B4542E"/>
                </a:solidFill>
                <a:latin typeface="Georgia"/>
              </a:rPr>
              <a:t>0.136</a:t>
            </a:r>
          </a:p>
        </p:txBody>
      </p:sp>
      <p:sp>
        <p:nvSpPr>
          <p:cNvPr id="11" name="!!l2"/>
          <p:cNvSpPr txBox="1"/>
          <p:nvPr/>
        </p:nvSpPr>
        <p:spPr>
          <a:xfrm>
            <a:off x="4370832" y="3566160"/>
            <a:ext cx="246888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the same receptor, scrambled</a:t>
            </a:r>
          </a:p>
        </p:txBody>
      </p:sp>
      <p:sp>
        <p:nvSpPr>
          <p:cNvPr id="12" name="!!gap"/>
          <p:cNvSpPr txBox="1"/>
          <p:nvPr/>
        </p:nvSpPr>
        <p:spPr>
          <a:xfrm>
            <a:off x="713232" y="4526280"/>
            <a:ext cx="6400800" cy="914400"/>
          </a:xfrm>
          <a:prstGeom prst="rect">
            <a:avLst/>
          </a:prstGeom>
          <a:noFill/>
        </p:spPr>
        <p:txBody>
          <a:bodyPr wrap="square" anchor="t" lIns="0" rIns="0" tIns="0" bIns="0">
            <a:spAutoFit/>
          </a:bodyPr>
          <a:lstStyle/>
          <a:p>
            <a:pPr algn="l">
              <a:lnSpc>
                <a:spcPct val="125000"/>
              </a:lnSpc>
            </a:pPr>
            <a:r>
              <a:rPr sz="2800" b="0" i="0">
                <a:solidFill>
                  <a:srgbClr val="1C2B2B"/>
                </a:solidFill>
                <a:latin typeface="Georgia"/>
              </a:rPr>
              <a:t>One thousandth apart.</a:t>
            </a:r>
          </a:p>
        </p:txBody>
      </p:sp>
      <p:sp>
        <p:nvSpPr>
          <p:cNvPr id="13" name="!!gapbody"/>
          <p:cNvSpPr txBox="1"/>
          <p:nvPr/>
        </p:nvSpPr>
        <p:spPr>
          <a:xfrm>
            <a:off x="713232" y="5074920"/>
            <a:ext cx="6400800" cy="914400"/>
          </a:xfrm>
          <a:prstGeom prst="rect">
            <a:avLst/>
          </a:prstGeom>
          <a:noFill/>
        </p:spPr>
        <p:txBody>
          <a:bodyPr wrap="square" anchor="t" lIns="0" rIns="0" tIns="0" bIns="0">
            <a:spAutoFit/>
          </a:bodyPr>
          <a:lstStyle/>
          <a:p>
            <a:pPr algn="l">
              <a:lnSpc>
                <a:spcPct val="130000"/>
              </a:lnSpc>
            </a:pPr>
            <a:r>
              <a:rPr sz="1600" b="0" i="0">
                <a:solidFill>
                  <a:srgbClr val="55605F"/>
                </a:solidFill>
                <a:latin typeface="Avenir Next"/>
              </a:rPr>
              <a:t>Nine control folds: three pairs known to bind, each rerun scrambled and mismatched. None of the real binders separated from the controls — and the scores tracked protein length at r = +0.60.</a:t>
            </a:r>
          </a:p>
        </p:txBody>
      </p:sp>
      <p:pic>
        <p:nvPicPr>
          <p:cNvPr id="14" name="!!ctrlfig" descr="controls.png"/>
          <p:cNvPicPr>
            <a:picLocks noChangeAspect="1"/>
          </p:cNvPicPr>
          <p:nvPr/>
        </p:nvPicPr>
        <p:blipFill>
          <a:blip r:embed="rId2"/>
          <a:stretch>
            <a:fillRect/>
          </a:stretch>
        </p:blipFill>
        <p:spPr>
          <a:xfrm>
            <a:off x="7571232" y="3086557"/>
            <a:ext cx="3931920" cy="169072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22</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1 · LEARN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method cannot answer this question — and we can say why</a:t>
            </a:r>
          </a:p>
        </p:txBody>
      </p:sp>
      <p:sp>
        <p:nvSpPr>
          <p:cNvPr id="6" name="Rounded Rectangle 5"/>
          <p:cNvSpPr/>
          <p:nvPr/>
        </p:nvSpPr>
        <p:spPr>
          <a:xfrm>
            <a:off x="713232" y="2103120"/>
            <a:ext cx="5577840" cy="320040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1078992" y="2377440"/>
            <a:ext cx="4846320" cy="914400"/>
          </a:xfrm>
          <a:prstGeom prst="rect">
            <a:avLst/>
          </a:prstGeom>
          <a:noFill/>
        </p:spPr>
        <p:txBody>
          <a:bodyPr wrap="square" anchor="t" lIns="0" rIns="0" tIns="0" bIns="0">
            <a:spAutoFit/>
          </a:bodyPr>
          <a:lstStyle/>
          <a:p>
            <a:pPr algn="l">
              <a:lnSpc>
                <a:spcPct val="125000"/>
              </a:lnSpc>
            </a:pPr>
            <a:r>
              <a:rPr sz="1800" b="1" i="0">
                <a:solidFill>
                  <a:srgbClr val="1C2B2B"/>
                </a:solidFill>
                <a:latin typeface="Avenir Next"/>
              </a:rPr>
              <a:t>On a scrambled receptor</a:t>
            </a:r>
          </a:p>
        </p:txBody>
      </p:sp>
      <p:sp>
        <p:nvSpPr>
          <p:cNvPr id="8" name="Rectangle 7"/>
          <p:cNvSpPr/>
          <p:nvPr/>
        </p:nvSpPr>
        <p:spPr>
          <a:xfrm>
            <a:off x="1170432" y="3291840"/>
            <a:ext cx="566928" cy="146304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TextBox 8"/>
          <p:cNvSpPr txBox="1"/>
          <p:nvPr/>
        </p:nvSpPr>
        <p:spPr>
          <a:xfrm>
            <a:off x="1097280" y="3017520"/>
            <a:ext cx="713232" cy="914400"/>
          </a:xfrm>
          <a:prstGeom prst="rect">
            <a:avLst/>
          </a:prstGeom>
          <a:noFill/>
        </p:spPr>
        <p:txBody>
          <a:bodyPr wrap="square" anchor="t" lIns="0" rIns="0" tIns="0" bIns="0">
            <a:spAutoFit/>
          </a:bodyPr>
          <a:lstStyle/>
          <a:p>
            <a:pPr algn="ctr">
              <a:lnSpc>
                <a:spcPct val="125000"/>
              </a:lnSpc>
            </a:pPr>
            <a:r>
              <a:rPr sz="1200" b="0" i="0">
                <a:solidFill>
                  <a:srgbClr val="1C2B2B"/>
                </a:solidFill>
                <a:latin typeface="Avenir Next"/>
              </a:rPr>
              <a:t>0.55</a:t>
            </a:r>
          </a:p>
        </p:txBody>
      </p:sp>
      <p:sp>
        <p:nvSpPr>
          <p:cNvPr id="10" name="Rectangle 9"/>
          <p:cNvSpPr/>
          <p:nvPr/>
        </p:nvSpPr>
        <p:spPr>
          <a:xfrm>
            <a:off x="1828800" y="4302667"/>
            <a:ext cx="566928" cy="452212"/>
          </a:xfrm>
          <a:prstGeom prst="rect">
            <a:avLst/>
          </a:prstGeom>
          <a:solidFill>
            <a:srgbClr val="B8C9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1755648" y="4028347"/>
            <a:ext cx="713232" cy="914400"/>
          </a:xfrm>
          <a:prstGeom prst="rect">
            <a:avLst/>
          </a:prstGeom>
          <a:noFill/>
        </p:spPr>
        <p:txBody>
          <a:bodyPr wrap="square" anchor="t" lIns="0" rIns="0" tIns="0" bIns="0">
            <a:spAutoFit/>
          </a:bodyPr>
          <a:lstStyle/>
          <a:p>
            <a:pPr algn="ctr">
              <a:lnSpc>
                <a:spcPct val="125000"/>
              </a:lnSpc>
            </a:pPr>
            <a:r>
              <a:rPr sz="1200" b="0" i="0">
                <a:solidFill>
                  <a:srgbClr val="1C2B2B"/>
                </a:solidFill>
                <a:latin typeface="Avenir Next"/>
              </a:rPr>
              <a:t>0.17</a:t>
            </a:r>
          </a:p>
        </p:txBody>
      </p:sp>
      <p:sp>
        <p:nvSpPr>
          <p:cNvPr id="12" name="TextBox 11"/>
          <p:cNvSpPr txBox="1"/>
          <p:nvPr/>
        </p:nvSpPr>
        <p:spPr>
          <a:xfrm>
            <a:off x="1097280" y="4846320"/>
            <a:ext cx="1463040" cy="914400"/>
          </a:xfrm>
          <a:prstGeom prst="rect">
            <a:avLst/>
          </a:prstGeom>
          <a:noFill/>
        </p:spPr>
        <p:txBody>
          <a:bodyPr wrap="square" anchor="t" lIns="0" rIns="0" tIns="0" bIns="0">
            <a:spAutoFit/>
          </a:bodyPr>
          <a:lstStyle/>
          <a:p>
            <a:pPr algn="ctr">
              <a:lnSpc>
                <a:spcPct val="125000"/>
              </a:lnSpc>
            </a:pPr>
            <a:r>
              <a:rPr sz="1200" b="0" i="0">
                <a:solidFill>
                  <a:srgbClr val="55605F"/>
                </a:solidFill>
                <a:latin typeface="Avenir Next"/>
              </a:rPr>
              <a:t>shape score</a:t>
            </a:r>
          </a:p>
        </p:txBody>
      </p:sp>
      <p:sp>
        <p:nvSpPr>
          <p:cNvPr id="13" name="Rectangle 12"/>
          <p:cNvSpPr/>
          <p:nvPr/>
        </p:nvSpPr>
        <p:spPr>
          <a:xfrm>
            <a:off x="3310128" y="4382469"/>
            <a:ext cx="566928" cy="372410"/>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TextBox 13"/>
          <p:cNvSpPr txBox="1"/>
          <p:nvPr/>
        </p:nvSpPr>
        <p:spPr>
          <a:xfrm>
            <a:off x="3236976" y="4108149"/>
            <a:ext cx="713232" cy="914400"/>
          </a:xfrm>
          <a:prstGeom prst="rect">
            <a:avLst/>
          </a:prstGeom>
          <a:noFill/>
        </p:spPr>
        <p:txBody>
          <a:bodyPr wrap="square" anchor="t" lIns="0" rIns="0" tIns="0" bIns="0">
            <a:spAutoFit/>
          </a:bodyPr>
          <a:lstStyle/>
          <a:p>
            <a:pPr algn="ctr">
              <a:lnSpc>
                <a:spcPct val="125000"/>
              </a:lnSpc>
            </a:pPr>
            <a:r>
              <a:rPr sz="1200" b="0" i="0">
                <a:solidFill>
                  <a:srgbClr val="1C2B2B"/>
                </a:solidFill>
                <a:latin typeface="Avenir Next"/>
              </a:rPr>
              <a:t>0.14</a:t>
            </a:r>
          </a:p>
        </p:txBody>
      </p:sp>
      <p:sp>
        <p:nvSpPr>
          <p:cNvPr id="15" name="Rectangle 14"/>
          <p:cNvSpPr/>
          <p:nvPr/>
        </p:nvSpPr>
        <p:spPr>
          <a:xfrm>
            <a:off x="3968496" y="4382469"/>
            <a:ext cx="566928" cy="372410"/>
          </a:xfrm>
          <a:prstGeom prst="rect">
            <a:avLst/>
          </a:prstGeom>
          <a:solidFill>
            <a:srgbClr val="B8C9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TextBox 15"/>
          <p:cNvSpPr txBox="1"/>
          <p:nvPr/>
        </p:nvSpPr>
        <p:spPr>
          <a:xfrm>
            <a:off x="3895344" y="4108149"/>
            <a:ext cx="713232" cy="914400"/>
          </a:xfrm>
          <a:prstGeom prst="rect">
            <a:avLst/>
          </a:prstGeom>
          <a:noFill/>
        </p:spPr>
        <p:txBody>
          <a:bodyPr wrap="square" anchor="t" lIns="0" rIns="0" tIns="0" bIns="0">
            <a:spAutoFit/>
          </a:bodyPr>
          <a:lstStyle/>
          <a:p>
            <a:pPr algn="ctr">
              <a:lnSpc>
                <a:spcPct val="125000"/>
              </a:lnSpc>
            </a:pPr>
            <a:r>
              <a:rPr sz="1200" b="0" i="0">
                <a:solidFill>
                  <a:srgbClr val="1C2B2B"/>
                </a:solidFill>
                <a:latin typeface="Avenir Next"/>
              </a:rPr>
              <a:t>0.14</a:t>
            </a:r>
          </a:p>
        </p:txBody>
      </p:sp>
      <p:sp>
        <p:nvSpPr>
          <p:cNvPr id="17" name="TextBox 16"/>
          <p:cNvSpPr txBox="1"/>
          <p:nvPr/>
        </p:nvSpPr>
        <p:spPr>
          <a:xfrm>
            <a:off x="3236976" y="4846320"/>
            <a:ext cx="1463040" cy="914400"/>
          </a:xfrm>
          <a:prstGeom prst="rect">
            <a:avLst/>
          </a:prstGeom>
          <a:noFill/>
        </p:spPr>
        <p:txBody>
          <a:bodyPr wrap="square" anchor="t" lIns="0" rIns="0" tIns="0" bIns="0">
            <a:spAutoFit/>
          </a:bodyPr>
          <a:lstStyle/>
          <a:p>
            <a:pPr algn="ctr">
              <a:lnSpc>
                <a:spcPct val="125000"/>
              </a:lnSpc>
            </a:pPr>
            <a:r>
              <a:rPr sz="1200" b="0" i="0">
                <a:solidFill>
                  <a:srgbClr val="55605F"/>
                </a:solidFill>
                <a:latin typeface="Avenir Next"/>
              </a:rPr>
              <a:t>interface score</a:t>
            </a:r>
          </a:p>
        </p:txBody>
      </p:sp>
      <p:sp>
        <p:nvSpPr>
          <p:cNvPr id="18" name="TextBox 17"/>
          <p:cNvSpPr txBox="1"/>
          <p:nvPr/>
        </p:nvSpPr>
        <p:spPr>
          <a:xfrm>
            <a:off x="1078992" y="5166360"/>
            <a:ext cx="484632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The model could plainly tell the sequence was nonsense. The interface number barely moved — it had never been reading an interface at all.</a:t>
            </a:r>
          </a:p>
        </p:txBody>
      </p:sp>
      <p:sp>
        <p:nvSpPr>
          <p:cNvPr id="19" name="TextBox 18"/>
          <p:cNvSpPr txBox="1"/>
          <p:nvPr/>
        </p:nvSpPr>
        <p:spPr>
          <a:xfrm>
            <a:off x="6748272" y="2148840"/>
            <a:ext cx="4754880" cy="914400"/>
          </a:xfrm>
          <a:prstGeom prst="rect">
            <a:avLst/>
          </a:prstGeom>
          <a:noFill/>
        </p:spPr>
        <p:txBody>
          <a:bodyPr wrap="square" anchor="t" lIns="0" rIns="0" tIns="0" bIns="0">
            <a:spAutoFit/>
          </a:bodyPr>
          <a:lstStyle/>
          <a:p>
            <a:pPr algn="l">
              <a:lnSpc>
                <a:spcPct val="135000"/>
              </a:lnSpc>
            </a:pPr>
            <a:r>
              <a:rPr sz="1900" b="0" i="0">
                <a:solidFill>
                  <a:srgbClr val="1C2B2B"/>
                </a:solidFill>
                <a:latin typeface="Avenir Next"/>
              </a:rPr>
              <a:t>These models don't simulate two proteins touching. They read evolution — looking across thousands of species for positions that change in step.</a:t>
            </a:r>
          </a:p>
        </p:txBody>
      </p:sp>
      <p:sp>
        <p:nvSpPr>
          <p:cNvPr id="20" name="TextBox 19"/>
          <p:cNvSpPr txBox="1"/>
          <p:nvPr/>
        </p:nvSpPr>
        <p:spPr>
          <a:xfrm>
            <a:off x="6748272" y="3200400"/>
            <a:ext cx="4754880" cy="914400"/>
          </a:xfrm>
          <a:prstGeom prst="rect">
            <a:avLst/>
          </a:prstGeom>
          <a:noFill/>
        </p:spPr>
        <p:txBody>
          <a:bodyPr wrap="square" anchor="t" lIns="0" rIns="0" tIns="0" bIns="0">
            <a:spAutoFit/>
          </a:bodyPr>
          <a:lstStyle/>
          <a:p>
            <a:pPr algn="l">
              <a:lnSpc>
                <a:spcPct val="135000"/>
              </a:lnSpc>
            </a:pPr>
            <a:r>
              <a:rPr sz="1800" b="0" i="0">
                <a:solidFill>
                  <a:srgbClr val="55605F"/>
                </a:solidFill>
                <a:latin typeface="Avenir Next"/>
              </a:rPr>
              <a:t>That signal only exists where two proteins have a shared history of co-adaptation. A phage protein and a bacterial protein have never co-adapted as a pair.</a:t>
            </a:r>
          </a:p>
        </p:txBody>
      </p:sp>
      <p:sp>
        <p:nvSpPr>
          <p:cNvPr id="21" name="Rounded Rectangle 20"/>
          <p:cNvSpPr/>
          <p:nvPr/>
        </p:nvSpPr>
        <p:spPr>
          <a:xfrm>
            <a:off x="6748272" y="4343400"/>
            <a:ext cx="4754880" cy="1280160"/>
          </a:xfrm>
          <a:prstGeom prst="roundRect">
            <a:avLst>
              <a:gd name="adj" fmla="val 6000"/>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TextBox 21"/>
          <p:cNvSpPr txBox="1"/>
          <p:nvPr/>
        </p:nvSpPr>
        <p:spPr>
          <a:xfrm>
            <a:off x="7040880" y="4553712"/>
            <a:ext cx="4169663" cy="914400"/>
          </a:xfrm>
          <a:prstGeom prst="rect">
            <a:avLst/>
          </a:prstGeom>
          <a:noFill/>
        </p:spPr>
        <p:txBody>
          <a:bodyPr wrap="square" anchor="t" lIns="0" rIns="0" tIns="0" bIns="0">
            <a:spAutoFit/>
          </a:bodyPr>
          <a:lstStyle/>
          <a:p>
            <a:pPr algn="l">
              <a:lnSpc>
                <a:spcPct val="130000"/>
              </a:lnSpc>
            </a:pPr>
            <a:r>
              <a:rPr sz="1800" b="0" i="0">
                <a:solidFill>
                  <a:srgbClr val="FBF3EE"/>
                </a:solidFill>
                <a:latin typeface="Avenir Next"/>
              </a:rPr>
              <a:t>There is no history to read, so the interface score returns noise.</a:t>
            </a:r>
          </a:p>
          <a:p>
            <a:pPr algn="l">
              <a:lnSpc>
                <a:spcPct val="130000"/>
              </a:lnSpc>
            </a:pPr>
            <a:r>
              <a:rPr sz="1800" b="0" i="0">
                <a:solidFill>
                  <a:srgbClr val="FBF3EE"/>
                </a:solidFill>
                <a:latin typeface="Avenir Next"/>
              </a:rPr>
              <a:t>More compute doesn't fix it.</a:t>
            </a:r>
          </a:p>
        </p:txBody>
      </p:sp>
      <p:sp>
        <p:nvSpPr>
          <p:cNvPr id="23" name="TextBox 22"/>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B4542E"/>
                </a:solidFill>
                <a:latin typeface="Avenir Next"/>
              </a:rPr>
              <a:t>Nine control folds decided the fate of seven thousand. We never ran the real screen.</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23</a:t>
            </a:r>
          </a:p>
        </p:txBody>
      </p:sp>
      <p:sp>
        <p:nvSpPr>
          <p:cNvPr id="3" name="TextBox 2"/>
          <p:cNvSpPr txBox="1"/>
          <p:nvPr/>
        </p:nvSpPr>
        <p:spPr>
          <a:xfrm>
            <a:off x="713232" y="1600200"/>
            <a:ext cx="10765231" cy="914400"/>
          </a:xfrm>
          <a:prstGeom prst="rect">
            <a:avLst/>
          </a:prstGeom>
          <a:noFill/>
        </p:spPr>
        <p:txBody>
          <a:bodyPr wrap="square" anchor="t" lIns="0" rIns="0" tIns="0" bIns="0">
            <a:spAutoFit/>
          </a:bodyPr>
          <a:lstStyle/>
          <a:p>
            <a:pPr algn="l">
              <a:lnSpc>
                <a:spcPct val="125000"/>
              </a:lnSpc>
            </a:pPr>
            <a:r>
              <a:rPr sz="1400" b="1" i="0">
                <a:solidFill>
                  <a:srgbClr val="8FB3AE"/>
                </a:solidFill>
                <a:latin typeface="Avenir Next"/>
              </a:rPr>
              <a:t>CYCLE 2 OF 4</a:t>
            </a:r>
          </a:p>
        </p:txBody>
      </p:sp>
      <p:sp>
        <p:nvSpPr>
          <p:cNvPr id="4" name="TextBox 3"/>
          <p:cNvSpPr txBox="1"/>
          <p:nvPr/>
        </p:nvSpPr>
        <p:spPr>
          <a:xfrm>
            <a:off x="713232" y="2103120"/>
            <a:ext cx="10765231" cy="914400"/>
          </a:xfrm>
          <a:prstGeom prst="rect">
            <a:avLst/>
          </a:prstGeom>
          <a:noFill/>
        </p:spPr>
        <p:txBody>
          <a:bodyPr wrap="square" anchor="t" lIns="0" rIns="0" tIns="0" bIns="0">
            <a:spAutoFit/>
          </a:bodyPr>
          <a:lstStyle/>
          <a:p>
            <a:pPr algn="l">
              <a:lnSpc>
                <a:spcPct val="105000"/>
              </a:lnSpc>
            </a:pPr>
            <a:r>
              <a:rPr sz="5800" b="0" i="0">
                <a:solidFill>
                  <a:srgbClr val="F7F4EE"/>
                </a:solidFill>
                <a:latin typeface="Georgia"/>
              </a:rPr>
              <a:t>Ask the protein what it is</a:t>
            </a:r>
          </a:p>
        </p:txBody>
      </p:sp>
      <p:sp>
        <p:nvSpPr>
          <p:cNvPr id="5" name="Rounded Rectangle 4"/>
          <p:cNvSpPr/>
          <p:nvPr/>
        </p:nvSpPr>
        <p:spPr>
          <a:xfrm>
            <a:off x="713232"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Design</a:t>
            </a:r>
          </a:p>
        </p:txBody>
      </p:sp>
      <p:sp>
        <p:nvSpPr>
          <p:cNvPr id="6" name="Rounded Rectangle 5"/>
          <p:cNvSpPr/>
          <p:nvPr/>
        </p:nvSpPr>
        <p:spPr>
          <a:xfrm>
            <a:off x="2249424"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Build</a:t>
            </a:r>
          </a:p>
        </p:txBody>
      </p:sp>
      <p:sp>
        <p:nvSpPr>
          <p:cNvPr id="7" name="Rounded Rectangle 6"/>
          <p:cNvSpPr/>
          <p:nvPr/>
        </p:nvSpPr>
        <p:spPr>
          <a:xfrm>
            <a:off x="3785616"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Test</a:t>
            </a:r>
          </a:p>
        </p:txBody>
      </p:sp>
      <p:sp>
        <p:nvSpPr>
          <p:cNvPr id="8" name="Rounded Rectangle 7"/>
          <p:cNvSpPr/>
          <p:nvPr/>
        </p:nvSpPr>
        <p:spPr>
          <a:xfrm>
            <a:off x="5321808"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Learn</a:t>
            </a:r>
          </a:p>
        </p:txBody>
      </p:sp>
      <p:sp>
        <p:nvSpPr>
          <p:cNvPr id="9" name="TextBox 8"/>
          <p:cNvSpPr txBox="1"/>
          <p:nvPr/>
        </p:nvSpPr>
        <p:spPr>
          <a:xfrm>
            <a:off x="713232" y="4846320"/>
            <a:ext cx="8686800" cy="914400"/>
          </a:xfrm>
          <a:prstGeom prst="rect">
            <a:avLst/>
          </a:prstGeom>
          <a:noFill/>
        </p:spPr>
        <p:txBody>
          <a:bodyPr wrap="square" anchor="t" lIns="0" rIns="0" tIns="0" bIns="0">
            <a:spAutoFit/>
          </a:bodyPr>
          <a:lstStyle/>
          <a:p>
            <a:pPr algn="l">
              <a:lnSpc>
                <a:spcPct val="130000"/>
              </a:lnSpc>
            </a:pPr>
            <a:r>
              <a:rPr sz="2000" b="0" i="0">
                <a:solidFill>
                  <a:srgbClr val="C8D8D4"/>
                </a:solidFill>
                <a:latin typeface="Avenir Next"/>
              </a:rPr>
              <a:t>If we couldn't ask what the tail spike binds, we could ask what it is.</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24</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DESIGN AND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Two readouts that don't share a method</a:t>
            </a:r>
          </a:p>
        </p:txBody>
      </p:sp>
      <p:sp>
        <p:nvSpPr>
          <p:cNvPr id="6" name="Rounded Rectangle 5"/>
          <p:cNvSpPr/>
          <p:nvPr/>
        </p:nvSpPr>
        <p:spPr>
          <a:xfrm>
            <a:off x="713232" y="2148840"/>
            <a:ext cx="5212080" cy="141732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87552" y="2368296"/>
            <a:ext cx="466344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1 · Sequence</a:t>
            </a:r>
          </a:p>
        </p:txBody>
      </p:sp>
      <p:sp>
        <p:nvSpPr>
          <p:cNvPr id="8" name="TextBox 7"/>
          <p:cNvSpPr txBox="1"/>
          <p:nvPr/>
        </p:nvSpPr>
        <p:spPr>
          <a:xfrm>
            <a:off x="987552" y="2825496"/>
            <a:ext cx="466344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An open-source classifier over all eighty Φ8 proteins, to pick out the receptor-binding candidates.</a:t>
            </a:r>
          </a:p>
        </p:txBody>
      </p:sp>
      <p:sp>
        <p:nvSpPr>
          <p:cNvPr id="9" name="Rounded Rectangle 8"/>
          <p:cNvSpPr/>
          <p:nvPr/>
        </p:nvSpPr>
        <p:spPr>
          <a:xfrm>
            <a:off x="6318504" y="2148840"/>
            <a:ext cx="5212080" cy="141732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6592824" y="2368296"/>
            <a:ext cx="466344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2 · Geometry</a:t>
            </a:r>
          </a:p>
        </p:txBody>
      </p:sp>
      <p:sp>
        <p:nvSpPr>
          <p:cNvPr id="11" name="TextBox 10"/>
          <p:cNvSpPr txBox="1"/>
          <p:nvPr/>
        </p:nvSpPr>
        <p:spPr>
          <a:xfrm>
            <a:off x="6592824" y="2825496"/>
            <a:ext cx="466344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Take every backbone hydrogen bond, measure how far apart in sequence its two partners sit, and histogram the offsets.</a:t>
            </a:r>
          </a:p>
        </p:txBody>
      </p:sp>
      <p:sp>
        <p:nvSpPr>
          <p:cNvPr id="12" name="Rounded Rectangle 11"/>
          <p:cNvSpPr/>
          <p:nvPr/>
        </p:nvSpPr>
        <p:spPr>
          <a:xfrm>
            <a:off x="713232" y="3840480"/>
            <a:ext cx="3405530" cy="10515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1005840" y="4041648"/>
            <a:ext cx="285689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16–26</a:t>
            </a:r>
          </a:p>
        </p:txBody>
      </p:sp>
      <p:sp>
        <p:nvSpPr>
          <p:cNvPr id="14" name="TextBox 13"/>
          <p:cNvSpPr txBox="1"/>
          <p:nvPr/>
        </p:nvSpPr>
        <p:spPr>
          <a:xfrm>
            <a:off x="1005840" y="4480560"/>
            <a:ext cx="285689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 β-helix peaks at its coil period</a:t>
            </a:r>
          </a:p>
        </p:txBody>
      </p:sp>
      <p:sp>
        <p:nvSpPr>
          <p:cNvPr id="15" name="Rounded Rectangle 14"/>
          <p:cNvSpPr/>
          <p:nvPr/>
        </p:nvSpPr>
        <p:spPr>
          <a:xfrm>
            <a:off x="4393082" y="3840480"/>
            <a:ext cx="3405530" cy="10515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TextBox 15"/>
          <p:cNvSpPr txBox="1"/>
          <p:nvPr/>
        </p:nvSpPr>
        <p:spPr>
          <a:xfrm>
            <a:off x="4685690" y="4041648"/>
            <a:ext cx="285689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4</a:t>
            </a:r>
          </a:p>
        </p:txBody>
      </p:sp>
      <p:sp>
        <p:nvSpPr>
          <p:cNvPr id="17" name="TextBox 16"/>
          <p:cNvSpPr txBox="1"/>
          <p:nvPr/>
        </p:nvSpPr>
        <p:spPr>
          <a:xfrm>
            <a:off x="4685690" y="4480560"/>
            <a:ext cx="285689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an α-helix peaks here</a:t>
            </a:r>
          </a:p>
        </p:txBody>
      </p:sp>
      <p:sp>
        <p:nvSpPr>
          <p:cNvPr id="18" name="Rounded Rectangle 17"/>
          <p:cNvSpPr/>
          <p:nvPr/>
        </p:nvSpPr>
        <p:spPr>
          <a:xfrm>
            <a:off x="8072932" y="3840480"/>
            <a:ext cx="3405530" cy="10515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TextBox 18"/>
          <p:cNvSpPr txBox="1"/>
          <p:nvPr/>
        </p:nvSpPr>
        <p:spPr>
          <a:xfrm>
            <a:off x="8365540" y="4041648"/>
            <a:ext cx="285689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none</a:t>
            </a:r>
          </a:p>
        </p:txBody>
      </p:sp>
      <p:sp>
        <p:nvSpPr>
          <p:cNvPr id="20" name="TextBox 19"/>
          <p:cNvSpPr txBox="1"/>
          <p:nvPr/>
        </p:nvSpPr>
        <p:spPr>
          <a:xfrm>
            <a:off x="8365540" y="4480560"/>
            <a:ext cx="285689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 β-sandwich has no peak at all</a:t>
            </a:r>
          </a:p>
        </p:txBody>
      </p:sp>
      <p:sp>
        <p:nvSpPr>
          <p:cNvPr id="21" name="TextBox 20"/>
          <p:cNvSpPr txBox="1"/>
          <p:nvPr/>
        </p:nvSpPr>
        <p:spPr>
          <a:xfrm>
            <a:off x="713232" y="5166360"/>
            <a:ext cx="10765231" cy="914400"/>
          </a:xfrm>
          <a:prstGeom prst="rect">
            <a:avLst/>
          </a:prstGeom>
          <a:noFill/>
        </p:spPr>
        <p:txBody>
          <a:bodyPr wrap="square" anchor="t" lIns="0" rIns="0" tIns="0" bIns="0">
            <a:spAutoFit/>
          </a:bodyPr>
          <a:lstStyle/>
          <a:p>
            <a:pPr algn="l">
              <a:lnSpc>
                <a:spcPct val="130000"/>
              </a:lnSpc>
            </a:pPr>
            <a:r>
              <a:rPr sz="1800" b="0" i="0">
                <a:solidFill>
                  <a:srgbClr val="1C2B2B"/>
                </a:solidFill>
                <a:latin typeface="Avenir Next"/>
              </a:rPr>
              <a:t>We chose that test rather than fell back on it. On a genome with no close relatives, a database can't contain the answer — and homology annotation had already missed something here.</a:t>
            </a:r>
          </a:p>
        </p:txBody>
      </p:sp>
      <p:sp>
        <p:nvSpPr>
          <p:cNvPr id="22" name="TextBox 21"/>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PhageRBPdetect v4 (ESM-2), open source · the geometry test ships as phagecheck.betahelix, no database required</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700" b="0" i="0">
                <a:solidFill>
                  <a:srgbClr val="1C2B2B"/>
                </a:solidFill>
                <a:latin typeface="Georgia"/>
              </a:rPr>
              <a:t>Eight predicted structures, seven proteins — and the method says no five times</a:t>
            </a:r>
          </a:p>
        </p:txBody>
      </p:sp>
      <p:pic>
        <p:nvPicPr>
          <p:cNvPr id="6" name="Picture 5" descr="folds.png"/>
          <p:cNvPicPr>
            <a:picLocks noChangeAspect="1"/>
          </p:cNvPicPr>
          <p:nvPr/>
        </p:nvPicPr>
        <p:blipFill>
          <a:blip r:embed="rId2"/>
          <a:stretch>
            <a:fillRect/>
          </a:stretch>
        </p:blipFill>
        <p:spPr>
          <a:xfrm>
            <a:off x="3720638" y="1828800"/>
            <a:ext cx="4750419" cy="3246120"/>
          </a:xfrm>
          <a:prstGeom prst="rect">
            <a:avLst/>
          </a:prstGeom>
        </p:spPr>
      </p:pic>
      <p:sp>
        <p:nvSpPr>
          <p:cNvPr id="7" name="Rectangle 6"/>
          <p:cNvSpPr/>
          <p:nvPr/>
        </p:nvSpPr>
        <p:spPr>
          <a:xfrm>
            <a:off x="713232" y="5257800"/>
            <a:ext cx="3222650" cy="32004"/>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TextBox 7"/>
          <p:cNvSpPr txBox="1"/>
          <p:nvPr/>
        </p:nvSpPr>
        <p:spPr>
          <a:xfrm>
            <a:off x="713232" y="5376672"/>
            <a:ext cx="3222650" cy="914400"/>
          </a:xfrm>
          <a:prstGeom prst="rect">
            <a:avLst/>
          </a:prstGeom>
          <a:noFill/>
        </p:spPr>
        <p:txBody>
          <a:bodyPr wrap="square" anchor="t" lIns="0" rIns="0" tIns="0" bIns="0">
            <a:spAutoFit/>
          </a:bodyPr>
          <a:lstStyle/>
          <a:p>
            <a:pPr algn="l">
              <a:lnSpc>
                <a:spcPct val="125000"/>
              </a:lnSpc>
            </a:pPr>
            <a:r>
              <a:rPr sz="1500" b="1" i="0">
                <a:solidFill>
                  <a:srgbClr val="2D6A6A"/>
                </a:solidFill>
                <a:latin typeface="Avenir Next"/>
              </a:rPr>
              <a:t>CDS 11 — the tail spike</a:t>
            </a:r>
          </a:p>
        </p:txBody>
      </p:sp>
      <p:sp>
        <p:nvSpPr>
          <p:cNvPr id="9" name="TextBox 8"/>
          <p:cNvSpPr txBox="1"/>
          <p:nvPr/>
        </p:nvSpPr>
        <p:spPr>
          <a:xfrm>
            <a:off x="713232" y="5715000"/>
            <a:ext cx="322265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Confidence 0.997, coil period 16–17. A right-handed β-helix.</a:t>
            </a:r>
          </a:p>
        </p:txBody>
      </p:sp>
      <p:sp>
        <p:nvSpPr>
          <p:cNvPr id="10" name="Rectangle 9"/>
          <p:cNvSpPr/>
          <p:nvPr/>
        </p:nvSpPr>
        <p:spPr>
          <a:xfrm>
            <a:off x="4393082" y="5257800"/>
            <a:ext cx="3222650" cy="32004"/>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4393082" y="5376672"/>
            <a:ext cx="3222650" cy="914400"/>
          </a:xfrm>
          <a:prstGeom prst="rect">
            <a:avLst/>
          </a:prstGeom>
          <a:noFill/>
        </p:spPr>
        <p:txBody>
          <a:bodyPr wrap="square" anchor="t" lIns="0" rIns="0" tIns="0" bIns="0">
            <a:spAutoFit/>
          </a:bodyPr>
          <a:lstStyle/>
          <a:p>
            <a:pPr algn="l">
              <a:lnSpc>
                <a:spcPct val="125000"/>
              </a:lnSpc>
            </a:pPr>
            <a:r>
              <a:rPr sz="1500" b="1" i="0">
                <a:solidFill>
                  <a:srgbClr val="2D6A6A"/>
                </a:solidFill>
                <a:latin typeface="Avenir Next"/>
              </a:rPr>
              <a:t>CDS 24 — filed as “hypothetical”</a:t>
            </a:r>
          </a:p>
        </p:txBody>
      </p:sp>
      <p:sp>
        <p:nvSpPr>
          <p:cNvPr id="12" name="TextBox 11"/>
          <p:cNvSpPr txBox="1"/>
          <p:nvPr/>
        </p:nvSpPr>
        <p:spPr>
          <a:xfrm>
            <a:off x="4393082" y="5715000"/>
            <a:ext cx="322265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Confidence 0.998 on a different period. A second depolymerase the annotation had missed.</a:t>
            </a:r>
          </a:p>
        </p:txBody>
      </p:sp>
      <p:sp>
        <p:nvSpPr>
          <p:cNvPr id="13" name="Rectangle 12"/>
          <p:cNvSpPr/>
          <p:nvPr/>
        </p:nvSpPr>
        <p:spPr>
          <a:xfrm>
            <a:off x="8072932" y="5257800"/>
            <a:ext cx="3222650" cy="32004"/>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TextBox 13"/>
          <p:cNvSpPr txBox="1"/>
          <p:nvPr/>
        </p:nvSpPr>
        <p:spPr>
          <a:xfrm>
            <a:off x="8072932" y="5376672"/>
            <a:ext cx="3222650" cy="914400"/>
          </a:xfrm>
          <a:prstGeom prst="rect">
            <a:avLst/>
          </a:prstGeom>
          <a:noFill/>
        </p:spPr>
        <p:txBody>
          <a:bodyPr wrap="square" anchor="t" lIns="0" rIns="0" tIns="0" bIns="0">
            <a:spAutoFit/>
          </a:bodyPr>
          <a:lstStyle/>
          <a:p>
            <a:pPr algn="l">
              <a:lnSpc>
                <a:spcPct val="125000"/>
              </a:lnSpc>
            </a:pPr>
            <a:r>
              <a:rPr sz="1500" b="1" i="0">
                <a:solidFill>
                  <a:srgbClr val="B4542E"/>
                </a:solidFill>
                <a:latin typeface="Avenir Next"/>
              </a:rPr>
              <a:t>Five turned down</a:t>
            </a:r>
          </a:p>
        </p:txBody>
      </p:sp>
      <p:sp>
        <p:nvSpPr>
          <p:cNvPr id="15" name="TextBox 14"/>
          <p:cNvSpPr txBox="1"/>
          <p:nvPr/>
        </p:nvSpPr>
        <p:spPr>
          <a:xfrm>
            <a:off x="8072932" y="5715000"/>
            <a:ext cx="322265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An α-helical fibre lands at six. The method says no — which is what makes it worth believing when it says yes.</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26</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WHAT THE FOLD IS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same protein, looked at four ways</a:t>
            </a:r>
          </a:p>
        </p:txBody>
      </p:sp>
      <p:pic>
        <p:nvPicPr>
          <p:cNvPr id="6" name="!!spine" descr="trimer.png"/>
          <p:cNvPicPr>
            <a:picLocks noChangeAspect="1"/>
          </p:cNvPicPr>
          <p:nvPr/>
        </p:nvPicPr>
        <p:blipFill>
          <a:blip r:embed="rId2"/>
          <a:stretch>
            <a:fillRect/>
          </a:stretch>
        </p:blipFill>
        <p:spPr>
          <a:xfrm>
            <a:off x="2233340" y="1874519"/>
            <a:ext cx="2263304" cy="4114800"/>
          </a:xfrm>
          <a:prstGeom prst="rect">
            <a:avLst/>
          </a:prstGeom>
        </p:spPr>
      </p:pic>
      <p:sp>
        <p:nvSpPr>
          <p:cNvPr id="7" name="!!spine-head"/>
          <p:cNvSpPr txBox="1"/>
          <p:nvPr/>
        </p:nvSpPr>
        <p:spPr>
          <a:xfrm>
            <a:off x="6199632" y="2286000"/>
            <a:ext cx="5303520" cy="914400"/>
          </a:xfrm>
          <a:prstGeom prst="rect">
            <a:avLst/>
          </a:prstGeom>
          <a:noFill/>
        </p:spPr>
        <p:txBody>
          <a:bodyPr wrap="square" anchor="t" lIns="0" rIns="0" tIns="0" bIns="0">
            <a:spAutoFit/>
          </a:bodyPr>
          <a:lstStyle/>
          <a:p>
            <a:pPr algn="l">
              <a:lnSpc>
                <a:spcPct val="125000"/>
              </a:lnSpc>
            </a:pPr>
            <a:r>
              <a:rPr sz="2800" b="0" i="0">
                <a:solidFill>
                  <a:srgbClr val="1C2B2B"/>
                </a:solidFill>
                <a:latin typeface="Georgia"/>
              </a:rPr>
              <a:t>The tail spike, whole</a:t>
            </a:r>
          </a:p>
        </p:txBody>
      </p:sp>
      <p:sp>
        <p:nvSpPr>
          <p:cNvPr id="8" name="!!spine-body"/>
          <p:cNvSpPr txBox="1"/>
          <p:nvPr/>
        </p:nvSpPr>
        <p:spPr>
          <a:xfrm>
            <a:off x="6199632" y="3017520"/>
            <a:ext cx="512064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CDS 11 is nine hundred and forty-one residues, and it hangs off the virion base.</a:t>
            </a:r>
          </a:p>
        </p:txBody>
      </p:sp>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27</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WHAT THE FOLD IS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same protein, looked at four ways</a:t>
            </a:r>
          </a:p>
        </p:txBody>
      </p:sp>
      <p:pic>
        <p:nvPicPr>
          <p:cNvPr id="6" name="!!spine" descr="trimer.png"/>
          <p:cNvPicPr>
            <a:picLocks noChangeAspect="1"/>
          </p:cNvPicPr>
          <p:nvPr/>
        </p:nvPicPr>
        <p:blipFill>
          <a:blip r:embed="rId2"/>
          <a:stretch>
            <a:fillRect/>
          </a:stretch>
        </p:blipFill>
        <p:spPr>
          <a:xfrm>
            <a:off x="2233340" y="1874519"/>
            <a:ext cx="2263304" cy="4114800"/>
          </a:xfrm>
          <a:prstGeom prst="rect">
            <a:avLst/>
          </a:prstGeom>
        </p:spPr>
      </p:pic>
      <p:sp>
        <p:nvSpPr>
          <p:cNvPr id="7" name="!!spine-head"/>
          <p:cNvSpPr txBox="1"/>
          <p:nvPr/>
        </p:nvSpPr>
        <p:spPr>
          <a:xfrm>
            <a:off x="6199632" y="2286000"/>
            <a:ext cx="5303520" cy="914400"/>
          </a:xfrm>
          <a:prstGeom prst="rect">
            <a:avLst/>
          </a:prstGeom>
          <a:noFill/>
        </p:spPr>
        <p:txBody>
          <a:bodyPr wrap="square" anchor="t" lIns="0" rIns="0" tIns="0" bIns="0">
            <a:spAutoFit/>
          </a:bodyPr>
          <a:lstStyle/>
          <a:p>
            <a:pPr algn="l">
              <a:lnSpc>
                <a:spcPct val="125000"/>
              </a:lnSpc>
            </a:pPr>
            <a:r>
              <a:rPr sz="2800" b="0" i="0">
                <a:solidFill>
                  <a:srgbClr val="1C2B2B"/>
                </a:solidFill>
                <a:latin typeface="Georgia"/>
              </a:rPr>
              <a:t>Most of it isn't the enzyme</a:t>
            </a:r>
          </a:p>
        </p:txBody>
      </p:sp>
      <p:sp>
        <p:nvSpPr>
          <p:cNvPr id="8" name="!!spine-body"/>
          <p:cNvSpPr txBox="1"/>
          <p:nvPr/>
        </p:nvSpPr>
        <p:spPr>
          <a:xfrm>
            <a:off x="6199632" y="3017520"/>
            <a:ext cx="512064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The first hundred and ten residues anchor it. The next two hundred are a shaft that moves between every model we ran.</a:t>
            </a:r>
          </a:p>
        </p:txBody>
      </p:sp>
      <p:sp>
        <p:nvSpPr>
          <p:cNvPr id="9" name="Rectangle 8"/>
          <p:cNvSpPr/>
          <p:nvPr/>
        </p:nvSpPr>
        <p:spPr>
          <a:xfrm>
            <a:off x="6199632" y="4297680"/>
            <a:ext cx="45720" cy="868680"/>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6473952" y="4343400"/>
            <a:ext cx="4846320" cy="914400"/>
          </a:xfrm>
          <a:prstGeom prst="rect">
            <a:avLst/>
          </a:prstGeom>
          <a:noFill/>
        </p:spPr>
        <p:txBody>
          <a:bodyPr wrap="square" anchor="t" lIns="0" rIns="0" tIns="0" bIns="0">
            <a:spAutoFit/>
          </a:bodyPr>
          <a:lstStyle/>
          <a:p>
            <a:pPr algn="l">
              <a:lnSpc>
                <a:spcPct val="130000"/>
              </a:lnSpc>
            </a:pPr>
            <a:r>
              <a:rPr sz="1700" b="0" i="0">
                <a:solidFill>
                  <a:srgbClr val="B4542E"/>
                </a:solidFill>
                <a:latin typeface="Avenir Next"/>
              </a:rPr>
              <a:t>Calx-β anchor · residues 1–110</a:t>
            </a:r>
          </a:p>
          <a:p>
            <a:pPr algn="l">
              <a:lnSpc>
                <a:spcPct val="130000"/>
              </a:lnSpc>
            </a:pPr>
            <a:r>
              <a:rPr sz="1700" b="0" i="0">
                <a:solidFill>
                  <a:srgbClr val="B4542E"/>
                </a:solidFill>
                <a:latin typeface="Avenir Next"/>
              </a:rPr>
              <a:t>Shaft · residues 111–300</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28</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WHAT THE FOLD IS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same protein, looked at four ways</a:t>
            </a:r>
          </a:p>
        </p:txBody>
      </p:sp>
      <p:pic>
        <p:nvPicPr>
          <p:cNvPr id="6" name="!!spine" descr="body-side.png"/>
          <p:cNvPicPr>
            <a:picLocks noChangeAspect="1"/>
          </p:cNvPicPr>
          <p:nvPr/>
        </p:nvPicPr>
        <p:blipFill>
          <a:blip r:embed="rId2"/>
          <a:stretch>
            <a:fillRect/>
          </a:stretch>
        </p:blipFill>
        <p:spPr>
          <a:xfrm>
            <a:off x="2273747" y="1874519"/>
            <a:ext cx="2182489" cy="4114800"/>
          </a:xfrm>
          <a:prstGeom prst="rect">
            <a:avLst/>
          </a:prstGeom>
        </p:spPr>
      </p:pic>
      <p:sp>
        <p:nvSpPr>
          <p:cNvPr id="7" name="!!spine-head"/>
          <p:cNvSpPr txBox="1"/>
          <p:nvPr/>
        </p:nvSpPr>
        <p:spPr>
          <a:xfrm>
            <a:off x="6199632" y="2286000"/>
            <a:ext cx="5303520" cy="914400"/>
          </a:xfrm>
          <a:prstGeom prst="rect">
            <a:avLst/>
          </a:prstGeom>
          <a:noFill/>
        </p:spPr>
        <p:txBody>
          <a:bodyPr wrap="square" anchor="t" lIns="0" rIns="0" tIns="0" bIns="0">
            <a:spAutoFit/>
          </a:bodyPr>
          <a:lstStyle/>
          <a:p>
            <a:pPr algn="l">
              <a:lnSpc>
                <a:spcPct val="125000"/>
              </a:lnSpc>
            </a:pPr>
            <a:r>
              <a:rPr sz="2800" b="0" i="0">
                <a:solidFill>
                  <a:srgbClr val="1C2B2B"/>
                </a:solidFill>
                <a:latin typeface="Georgia"/>
              </a:rPr>
              <a:t>The rigid trimeric body</a:t>
            </a:r>
          </a:p>
        </p:txBody>
      </p:sp>
      <p:sp>
        <p:nvSpPr>
          <p:cNvPr id="8" name="!!spine-body"/>
          <p:cNvSpPr txBox="1"/>
          <p:nvPr/>
        </p:nvSpPr>
        <p:spPr>
          <a:xfrm>
            <a:off x="6199632" y="3017520"/>
            <a:ext cx="512064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From residue three hundred to the end — agreeing between models to within one ångström. This is the part that carries the chemistry.</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29</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2 · WHAT THE FOLD IS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same protein, looked at four ways</a:t>
            </a:r>
          </a:p>
        </p:txBody>
      </p:sp>
      <p:pic>
        <p:nvPicPr>
          <p:cNvPr id="6" name="!!spine" descr="body-axial.png"/>
          <p:cNvPicPr>
            <a:picLocks noChangeAspect="1"/>
          </p:cNvPicPr>
          <p:nvPr/>
        </p:nvPicPr>
        <p:blipFill>
          <a:blip r:embed="rId2"/>
          <a:stretch>
            <a:fillRect/>
          </a:stretch>
        </p:blipFill>
        <p:spPr>
          <a:xfrm>
            <a:off x="1378205" y="1874519"/>
            <a:ext cx="3973574" cy="4114800"/>
          </a:xfrm>
          <a:prstGeom prst="rect">
            <a:avLst/>
          </a:prstGeom>
        </p:spPr>
      </p:pic>
      <p:sp>
        <p:nvSpPr>
          <p:cNvPr id="7" name="!!spine-head"/>
          <p:cNvSpPr txBox="1"/>
          <p:nvPr/>
        </p:nvSpPr>
        <p:spPr>
          <a:xfrm>
            <a:off x="6199632" y="2286000"/>
            <a:ext cx="5303520" cy="914400"/>
          </a:xfrm>
          <a:prstGeom prst="rect">
            <a:avLst/>
          </a:prstGeom>
          <a:noFill/>
        </p:spPr>
        <p:txBody>
          <a:bodyPr wrap="square" anchor="t" lIns="0" rIns="0" tIns="0" bIns="0">
            <a:spAutoFit/>
          </a:bodyPr>
          <a:lstStyle/>
          <a:p>
            <a:pPr algn="l">
              <a:lnSpc>
                <a:spcPct val="125000"/>
              </a:lnSpc>
            </a:pPr>
            <a:r>
              <a:rPr sz="2800" b="0" i="0">
                <a:solidFill>
                  <a:srgbClr val="1C2B2B"/>
                </a:solidFill>
                <a:latin typeface="Georgia"/>
              </a:rPr>
              <a:t>Down the three-fold axis</a:t>
            </a:r>
          </a:p>
        </p:txBody>
      </p:sp>
      <p:sp>
        <p:nvSpPr>
          <p:cNvPr id="8" name="!!spine-body"/>
          <p:cNvSpPr txBox="1"/>
          <p:nvPr/>
        </p:nvSpPr>
        <p:spPr>
          <a:xfrm>
            <a:off x="6199632" y="3017520"/>
            <a:ext cx="512064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A long triangular prism with a groove running its length: the signature of an enzyme that cuts a sugar chain.</a:t>
            </a:r>
          </a:p>
        </p:txBody>
      </p:sp>
      <p:sp>
        <p:nvSpPr>
          <p:cNvPr id="9" name="Rounded Rectangle 8"/>
          <p:cNvSpPr/>
          <p:nvPr/>
        </p:nvSpPr>
        <p:spPr>
          <a:xfrm>
            <a:off x="6199632" y="4480560"/>
            <a:ext cx="5120640" cy="105156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6492240" y="4663440"/>
            <a:ext cx="4572000" cy="914400"/>
          </a:xfrm>
          <a:prstGeom prst="rect">
            <a:avLst/>
          </a:prstGeom>
          <a:noFill/>
        </p:spPr>
        <p:txBody>
          <a:bodyPr wrap="square" anchor="t" lIns="0" rIns="0" tIns="0" bIns="0">
            <a:spAutoFit/>
          </a:bodyPr>
          <a:lstStyle/>
          <a:p>
            <a:pPr algn="l">
              <a:lnSpc>
                <a:spcPct val="125000"/>
              </a:lnSpc>
            </a:pPr>
            <a:r>
              <a:rPr sz="1800" b="1" i="0">
                <a:solidFill>
                  <a:srgbClr val="2D6A6A"/>
                </a:solidFill>
                <a:latin typeface="Avenir Next"/>
              </a:rPr>
              <a:t>Residues 305–941 → BBa_26DKNAEC</a:t>
            </a:r>
          </a:p>
        </p:txBody>
      </p:sp>
      <p:sp>
        <p:nvSpPr>
          <p:cNvPr id="11" name="TextBox 10"/>
          <p:cNvSpPr txBox="1"/>
          <p:nvPr/>
        </p:nvSpPr>
        <p:spPr>
          <a:xfrm>
            <a:off x="6492240" y="5047488"/>
            <a:ext cx="457200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The fragment we expressed, and the one we submitted to the Registry.</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30</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2 · LEARN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The fold is a signature, and it names the receptor</a:t>
            </a:r>
          </a:p>
        </p:txBody>
      </p:sp>
      <p:pic>
        <p:nvPicPr>
          <p:cNvPr id="6" name="Picture 5" descr="body-axial.png"/>
          <p:cNvPicPr>
            <a:picLocks noChangeAspect="1"/>
          </p:cNvPicPr>
          <p:nvPr/>
        </p:nvPicPr>
        <p:blipFill>
          <a:blip r:embed="rId2"/>
          <a:stretch>
            <a:fillRect/>
          </a:stretch>
        </p:blipFill>
        <p:spPr>
          <a:xfrm>
            <a:off x="1189049" y="1920240"/>
            <a:ext cx="3620366" cy="3749039"/>
          </a:xfrm>
          <a:prstGeom prst="rect">
            <a:avLst/>
          </a:prstGeom>
        </p:spPr>
      </p:pic>
      <p:sp>
        <p:nvSpPr>
          <p:cNvPr id="7" name="TextBox 6"/>
          <p:cNvSpPr txBox="1"/>
          <p:nvPr/>
        </p:nvSpPr>
        <p:spPr>
          <a:xfrm>
            <a:off x="5650992" y="2103120"/>
            <a:ext cx="5852160" cy="914400"/>
          </a:xfrm>
          <a:prstGeom prst="rect">
            <a:avLst/>
          </a:prstGeom>
          <a:noFill/>
        </p:spPr>
        <p:txBody>
          <a:bodyPr wrap="square" anchor="t" lIns="0" rIns="0" tIns="0" bIns="0">
            <a:spAutoFit/>
          </a:bodyPr>
          <a:lstStyle/>
          <a:p>
            <a:pPr algn="l">
              <a:lnSpc>
                <a:spcPct val="135000"/>
              </a:lnSpc>
            </a:pPr>
            <a:r>
              <a:rPr sz="2000" b="0" i="0">
                <a:solidFill>
                  <a:srgbClr val="1C2B2B"/>
                </a:solidFill>
                <a:latin typeface="Avenir Next"/>
              </a:rPr>
              <a:t>Enzymes that chew through long sugar chains look like this, because a sugar chain is a thread and you need something that holds it straight while you cut.</a:t>
            </a:r>
          </a:p>
        </p:txBody>
      </p:sp>
      <p:sp>
        <p:nvSpPr>
          <p:cNvPr id="8" name="TextBox 7"/>
          <p:cNvSpPr txBox="1"/>
          <p:nvPr/>
        </p:nvSpPr>
        <p:spPr>
          <a:xfrm>
            <a:off x="5650992" y="3337560"/>
            <a:ext cx="5852160" cy="914400"/>
          </a:xfrm>
          <a:prstGeom prst="rect">
            <a:avLst/>
          </a:prstGeom>
          <a:noFill/>
        </p:spPr>
        <p:txBody>
          <a:bodyPr wrap="square" anchor="t" lIns="0" rIns="0" tIns="0" bIns="0">
            <a:spAutoFit/>
          </a:bodyPr>
          <a:lstStyle/>
          <a:p>
            <a:pPr algn="l">
              <a:lnSpc>
                <a:spcPct val="135000"/>
              </a:lnSpc>
            </a:pPr>
            <a:r>
              <a:rPr sz="1900" b="0" i="0">
                <a:solidFill>
                  <a:srgbClr val="55605F"/>
                </a:solidFill>
                <a:latin typeface="Avenir Next"/>
              </a:rPr>
              <a:t>You can recognise a wood plane by its shape without being told what it cuts.</a:t>
            </a:r>
          </a:p>
        </p:txBody>
      </p:sp>
      <p:sp>
        <p:nvSpPr>
          <p:cNvPr id="9" name="Rounded Rectangle 8"/>
          <p:cNvSpPr/>
          <p:nvPr/>
        </p:nvSpPr>
        <p:spPr>
          <a:xfrm>
            <a:off x="5650992" y="4114800"/>
            <a:ext cx="5852160" cy="1463040"/>
          </a:xfrm>
          <a:prstGeom prst="roundRect">
            <a:avLst>
              <a:gd name="adj" fmla="val 6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5971032" y="4343400"/>
            <a:ext cx="5212080" cy="914400"/>
          </a:xfrm>
          <a:prstGeom prst="rect">
            <a:avLst/>
          </a:prstGeom>
          <a:noFill/>
        </p:spPr>
        <p:txBody>
          <a:bodyPr wrap="square" anchor="t" lIns="0" rIns="0" tIns="0" bIns="0">
            <a:spAutoFit/>
          </a:bodyPr>
          <a:lstStyle/>
          <a:p>
            <a:pPr algn="l">
              <a:lnSpc>
                <a:spcPct val="125000"/>
              </a:lnSpc>
            </a:pPr>
            <a:r>
              <a:rPr sz="2500" b="0" i="0">
                <a:solidFill>
                  <a:srgbClr val="F7F4EE"/>
                </a:solidFill>
                <a:latin typeface="Georgia"/>
              </a:rPr>
              <a:t>So the tail spike isn't a key. It's a blade.</a:t>
            </a:r>
          </a:p>
        </p:txBody>
      </p:sp>
      <p:sp>
        <p:nvSpPr>
          <p:cNvPr id="11" name="TextBox 10"/>
          <p:cNvSpPr txBox="1"/>
          <p:nvPr/>
        </p:nvSpPr>
        <p:spPr>
          <a:xfrm>
            <a:off x="5971032" y="4956048"/>
            <a:ext cx="5212080" cy="914400"/>
          </a:xfrm>
          <a:prstGeom prst="rect">
            <a:avLst/>
          </a:prstGeom>
          <a:noFill/>
        </p:spPr>
        <p:txBody>
          <a:bodyPr wrap="square" anchor="t" lIns="0" rIns="0" tIns="0" bIns="0">
            <a:spAutoFit/>
          </a:bodyPr>
          <a:lstStyle/>
          <a:p>
            <a:pPr algn="l">
              <a:lnSpc>
                <a:spcPct val="125000"/>
              </a:lnSpc>
            </a:pPr>
            <a:r>
              <a:rPr sz="1600" b="0" i="0">
                <a:solidFill>
                  <a:srgbClr val="C8D8D4"/>
                </a:solidFill>
                <a:latin typeface="Avenir Next"/>
              </a:rPr>
              <a:t>And the lock we had spent months looking for doesn't exist.</a:t>
            </a:r>
          </a:p>
        </p:txBody>
      </p:sp>
      <p:sp>
        <p:nvSpPr>
          <p:cNvPr id="12" name="TextBox 11"/>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Our classifier flagged it, and our PI reached the same conclusion from his own structural search. Between us, we turned it into a hypothesis.</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D6A6A"/>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31</a:t>
            </a:r>
          </a:p>
        </p:txBody>
      </p:sp>
      <p:sp>
        <p:nvSpPr>
          <p:cNvPr id="3" name="TextBox 2"/>
          <p:cNvSpPr txBox="1"/>
          <p:nvPr/>
        </p:nvSpPr>
        <p:spPr>
          <a:xfrm>
            <a:off x="713232" y="1417320"/>
            <a:ext cx="10765231" cy="914400"/>
          </a:xfrm>
          <a:prstGeom prst="rect">
            <a:avLst/>
          </a:prstGeom>
          <a:noFill/>
        </p:spPr>
        <p:txBody>
          <a:bodyPr wrap="square" anchor="t" lIns="0" rIns="0" tIns="0" bIns="0">
            <a:spAutoFit/>
          </a:bodyPr>
          <a:lstStyle/>
          <a:p>
            <a:pPr algn="l">
              <a:lnSpc>
                <a:spcPct val="125000"/>
              </a:lnSpc>
            </a:pPr>
            <a:r>
              <a:rPr sz="1400" b="1" i="0">
                <a:solidFill>
                  <a:srgbClr val="BFD8D5"/>
                </a:solidFill>
                <a:latin typeface="Avenir Next"/>
              </a:rPr>
              <a:t>THE CENTRAL HYPOTHESIS</a:t>
            </a:r>
          </a:p>
        </p:txBody>
      </p:sp>
      <p:sp>
        <p:nvSpPr>
          <p:cNvPr id="4" name="TextBox 3"/>
          <p:cNvSpPr txBox="1"/>
          <p:nvPr/>
        </p:nvSpPr>
        <p:spPr>
          <a:xfrm>
            <a:off x="713232" y="1965960"/>
            <a:ext cx="10765231" cy="914400"/>
          </a:xfrm>
          <a:prstGeom prst="rect">
            <a:avLst/>
          </a:prstGeom>
          <a:noFill/>
        </p:spPr>
        <p:txBody>
          <a:bodyPr wrap="square" anchor="t" lIns="0" rIns="0" tIns="0" bIns="0">
            <a:spAutoFit/>
          </a:bodyPr>
          <a:lstStyle/>
          <a:p>
            <a:pPr algn="l">
              <a:lnSpc>
                <a:spcPct val="120000"/>
              </a:lnSpc>
            </a:pPr>
            <a:r>
              <a:rPr sz="3400" b="0" i="0">
                <a:solidFill>
                  <a:srgbClr val="F7F4EE"/>
                </a:solidFill>
                <a:latin typeface="Georgia"/>
              </a:rPr>
              <a:t>In bacteria that wrap themselves in sugar, the ceiling</a:t>
            </a:r>
          </a:p>
          <a:p>
            <a:pPr algn="l">
              <a:lnSpc>
                <a:spcPct val="120000"/>
              </a:lnSpc>
            </a:pPr>
            <a:r>
              <a:rPr sz="3400" b="0" i="0">
                <a:solidFill>
                  <a:srgbClr val="F7F4EE"/>
                </a:solidFill>
                <a:latin typeface="Georgia"/>
              </a:rPr>
              <a:t>on host range is set by what the depolymerase can digest —</a:t>
            </a:r>
          </a:p>
          <a:p>
            <a:pPr algn="l">
              <a:lnSpc>
                <a:spcPct val="120000"/>
              </a:lnSpc>
            </a:pPr>
            <a:r>
              <a:rPr sz="3400" b="0" i="0">
                <a:solidFill>
                  <a:srgbClr val="F7F4EE"/>
                </a:solidFill>
                <a:latin typeface="Georgia"/>
              </a:rPr>
              <a:t>not by which protein the tail binds.</a:t>
            </a:r>
          </a:p>
        </p:txBody>
      </p:sp>
      <p:sp>
        <p:nvSpPr>
          <p:cNvPr id="5" name="TextBox 4"/>
          <p:cNvSpPr txBox="1"/>
          <p:nvPr/>
        </p:nvSpPr>
        <p:spPr>
          <a:xfrm>
            <a:off x="713232" y="4114800"/>
            <a:ext cx="9601200" cy="914400"/>
          </a:xfrm>
          <a:prstGeom prst="rect">
            <a:avLst/>
          </a:prstGeom>
          <a:noFill/>
        </p:spPr>
        <p:txBody>
          <a:bodyPr wrap="square" anchor="t" lIns="0" rIns="0" tIns="0" bIns="0">
            <a:spAutoFit/>
          </a:bodyPr>
          <a:lstStyle/>
          <a:p>
            <a:pPr algn="l">
              <a:lnSpc>
                <a:spcPct val="130000"/>
              </a:lnSpc>
            </a:pPr>
            <a:r>
              <a:rPr sz="2200" b="0" i="0">
                <a:solidFill>
                  <a:srgbClr val="C8D8D4"/>
                </a:solidFill>
                <a:latin typeface="Avenir Next"/>
              </a:rPr>
              <a:t>And the narrow specificity we see today is a narrowed-down version of something broader further back.</a:t>
            </a:r>
          </a:p>
        </p:txBody>
      </p:sp>
      <p:sp>
        <p:nvSpPr>
          <p:cNvPr id="6" name="TextBox 5"/>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BFD8D5"/>
                </a:solidFill>
                <a:latin typeface="Avenir Next"/>
              </a:rPr>
              <a:t>Developed jointly with Prof. J. Cesar Ignacio Espinoza</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32</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A PREDICTION WE CAN FALSIFY</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If the tail spike reads Strain 2's sugar, Φ8 should fail on the other two</a:t>
            </a:r>
          </a:p>
        </p:txBody>
      </p:sp>
      <p:sp>
        <p:nvSpPr>
          <p:cNvPr id="6" name="Rectangle 5"/>
          <p:cNvSpPr/>
          <p:nvPr/>
        </p:nvSpPr>
        <p:spPr>
          <a:xfrm>
            <a:off x="713232" y="2240280"/>
            <a:ext cx="6492240" cy="621792"/>
          </a:xfrm>
          <a:prstGeom prst="rect">
            <a:avLst/>
          </a:prstGeom>
          <a:solidFill>
            <a:srgbClr val="EAF0EE"/>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50976" y="2423160"/>
            <a:ext cx="1828800" cy="914400"/>
          </a:xfrm>
          <a:prstGeom prst="rect">
            <a:avLst/>
          </a:prstGeom>
          <a:noFill/>
        </p:spPr>
        <p:txBody>
          <a:bodyPr wrap="square" anchor="t" lIns="0" rIns="0" tIns="0" bIns="0">
            <a:spAutoFit/>
          </a:bodyPr>
          <a:lstStyle/>
          <a:p>
            <a:pPr algn="l">
              <a:lnSpc>
                <a:spcPct val="125000"/>
              </a:lnSpc>
            </a:pPr>
            <a:r>
              <a:rPr sz="1500" b="0" i="0">
                <a:solidFill>
                  <a:srgbClr val="1C2B2B"/>
                </a:solidFill>
                <a:latin typeface="Avenir Next"/>
              </a:rPr>
              <a:t>9-2-1 · 9-6-2</a:t>
            </a:r>
          </a:p>
        </p:txBody>
      </p:sp>
      <p:sp>
        <p:nvSpPr>
          <p:cNvPr id="8" name="TextBox 7"/>
          <p:cNvSpPr txBox="1"/>
          <p:nvPr/>
        </p:nvSpPr>
        <p:spPr>
          <a:xfrm>
            <a:off x="2816352" y="2423160"/>
            <a:ext cx="1371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Strain 2</a:t>
            </a:r>
          </a:p>
        </p:txBody>
      </p:sp>
      <p:sp>
        <p:nvSpPr>
          <p:cNvPr id="9" name="TextBox 8"/>
          <p:cNvSpPr txBox="1"/>
          <p:nvPr/>
        </p:nvSpPr>
        <p:spPr>
          <a:xfrm>
            <a:off x="4279392" y="2423160"/>
            <a:ext cx="173736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hosts of record</a:t>
            </a:r>
          </a:p>
        </p:txBody>
      </p:sp>
      <p:sp>
        <p:nvSpPr>
          <p:cNvPr id="10" name="TextBox 9"/>
          <p:cNvSpPr txBox="1"/>
          <p:nvPr/>
        </p:nvSpPr>
        <p:spPr>
          <a:xfrm>
            <a:off x="5833872" y="2423160"/>
            <a:ext cx="146304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infects</a:t>
            </a:r>
          </a:p>
        </p:txBody>
      </p:sp>
      <p:sp>
        <p:nvSpPr>
          <p:cNvPr id="11" name="Rectangle 10"/>
          <p:cNvSpPr/>
          <p:nvPr/>
        </p:nvSpPr>
        <p:spPr>
          <a:xfrm>
            <a:off x="713232" y="2916936"/>
            <a:ext cx="6492240" cy="621792"/>
          </a:xfrm>
          <a:prstGeom prst="rect">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TextBox 11"/>
          <p:cNvSpPr txBox="1"/>
          <p:nvPr/>
        </p:nvSpPr>
        <p:spPr>
          <a:xfrm>
            <a:off x="950976" y="3099816"/>
            <a:ext cx="1828800" cy="914400"/>
          </a:xfrm>
          <a:prstGeom prst="rect">
            <a:avLst/>
          </a:prstGeom>
          <a:noFill/>
        </p:spPr>
        <p:txBody>
          <a:bodyPr wrap="square" anchor="t" lIns="0" rIns="0" tIns="0" bIns="0">
            <a:spAutoFit/>
          </a:bodyPr>
          <a:lstStyle/>
          <a:p>
            <a:pPr algn="l">
              <a:lnSpc>
                <a:spcPct val="125000"/>
              </a:lnSpc>
            </a:pPr>
            <a:r>
              <a:rPr sz="1500" b="0" i="0">
                <a:solidFill>
                  <a:srgbClr val="1C2B2B"/>
                </a:solidFill>
                <a:latin typeface="Avenir Next"/>
              </a:rPr>
              <a:t>10-10-2</a:t>
            </a:r>
          </a:p>
        </p:txBody>
      </p:sp>
      <p:sp>
        <p:nvSpPr>
          <p:cNvPr id="13" name="TextBox 12"/>
          <p:cNvSpPr txBox="1"/>
          <p:nvPr/>
        </p:nvSpPr>
        <p:spPr>
          <a:xfrm>
            <a:off x="2816352" y="3099816"/>
            <a:ext cx="1371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Strain 1</a:t>
            </a:r>
          </a:p>
        </p:txBody>
      </p:sp>
      <p:sp>
        <p:nvSpPr>
          <p:cNvPr id="14" name="TextBox 13"/>
          <p:cNvSpPr txBox="1"/>
          <p:nvPr/>
        </p:nvSpPr>
        <p:spPr>
          <a:xfrm>
            <a:off x="4279392" y="3099816"/>
            <a:ext cx="173736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no plaques</a:t>
            </a:r>
          </a:p>
        </p:txBody>
      </p:sp>
      <p:sp>
        <p:nvSpPr>
          <p:cNvPr id="15" name="TextBox 14"/>
          <p:cNvSpPr txBox="1"/>
          <p:nvPr/>
        </p:nvSpPr>
        <p:spPr>
          <a:xfrm>
            <a:off x="5833872" y="3099816"/>
            <a:ext cx="146304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does not infect</a:t>
            </a:r>
          </a:p>
        </p:txBody>
      </p:sp>
      <p:sp>
        <p:nvSpPr>
          <p:cNvPr id="16" name="Rectangle 15"/>
          <p:cNvSpPr/>
          <p:nvPr/>
        </p:nvSpPr>
        <p:spPr>
          <a:xfrm>
            <a:off x="713232" y="3593592"/>
            <a:ext cx="6492240" cy="621792"/>
          </a:xfrm>
          <a:prstGeom prst="rect">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TextBox 16"/>
          <p:cNvSpPr txBox="1"/>
          <p:nvPr/>
        </p:nvSpPr>
        <p:spPr>
          <a:xfrm>
            <a:off x="950976" y="3776472"/>
            <a:ext cx="1828800" cy="914400"/>
          </a:xfrm>
          <a:prstGeom prst="rect">
            <a:avLst/>
          </a:prstGeom>
          <a:noFill/>
        </p:spPr>
        <p:txBody>
          <a:bodyPr wrap="square" anchor="t" lIns="0" rIns="0" tIns="0" bIns="0">
            <a:spAutoFit/>
          </a:bodyPr>
          <a:lstStyle/>
          <a:p>
            <a:pPr algn="l">
              <a:lnSpc>
                <a:spcPct val="125000"/>
              </a:lnSpc>
            </a:pPr>
            <a:r>
              <a:rPr sz="1500" b="0" i="0">
                <a:solidFill>
                  <a:srgbClr val="1C2B2B"/>
                </a:solidFill>
                <a:latin typeface="Avenir Next"/>
              </a:rPr>
              <a:t>8-10-2</a:t>
            </a:r>
          </a:p>
        </p:txBody>
      </p:sp>
      <p:sp>
        <p:nvSpPr>
          <p:cNvPr id="18" name="TextBox 17"/>
          <p:cNvSpPr txBox="1"/>
          <p:nvPr/>
        </p:nvSpPr>
        <p:spPr>
          <a:xfrm>
            <a:off x="2816352" y="3776472"/>
            <a:ext cx="137160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Strain 3</a:t>
            </a:r>
          </a:p>
        </p:txBody>
      </p:sp>
      <p:sp>
        <p:nvSpPr>
          <p:cNvPr id="19" name="TextBox 18"/>
          <p:cNvSpPr txBox="1"/>
          <p:nvPr/>
        </p:nvSpPr>
        <p:spPr>
          <a:xfrm>
            <a:off x="4279392" y="3776472"/>
            <a:ext cx="173736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no plaques</a:t>
            </a:r>
          </a:p>
        </p:txBody>
      </p:sp>
      <p:sp>
        <p:nvSpPr>
          <p:cNvPr id="20" name="TextBox 19"/>
          <p:cNvSpPr txBox="1"/>
          <p:nvPr/>
        </p:nvSpPr>
        <p:spPr>
          <a:xfrm>
            <a:off x="5833872" y="3776472"/>
            <a:ext cx="1463040" cy="914400"/>
          </a:xfrm>
          <a:prstGeom prst="rect">
            <a:avLst/>
          </a:prstGeom>
          <a:noFill/>
        </p:spPr>
        <p:txBody>
          <a:bodyPr wrap="square" anchor="t" lIns="0" rIns="0" tIns="0" bIns="0">
            <a:spAutoFit/>
          </a:bodyPr>
          <a:lstStyle/>
          <a:p>
            <a:pPr algn="l">
              <a:lnSpc>
                <a:spcPct val="125000"/>
              </a:lnSpc>
            </a:pPr>
            <a:r>
              <a:rPr sz="1500" b="0" i="0">
                <a:solidFill>
                  <a:srgbClr val="55605F"/>
                </a:solidFill>
                <a:latin typeface="Avenir Next"/>
              </a:rPr>
              <a:t>does not infect</a:t>
            </a:r>
          </a:p>
        </p:txBody>
      </p:sp>
      <p:sp>
        <p:nvSpPr>
          <p:cNvPr id="21" name="TextBox 20"/>
          <p:cNvSpPr txBox="1"/>
          <p:nvPr/>
        </p:nvSpPr>
        <p:spPr>
          <a:xfrm>
            <a:off x="713232" y="4453128"/>
            <a:ext cx="6492240" cy="914400"/>
          </a:xfrm>
          <a:prstGeom prst="rect">
            <a:avLst/>
          </a:prstGeom>
          <a:noFill/>
        </p:spPr>
        <p:txBody>
          <a:bodyPr wrap="square" anchor="t" lIns="0" rIns="0" tIns="0" bIns="0">
            <a:spAutoFit/>
          </a:bodyPr>
          <a:lstStyle/>
          <a:p>
            <a:pPr algn="l">
              <a:lnSpc>
                <a:spcPct val="130000"/>
              </a:lnSpc>
            </a:pPr>
            <a:r>
              <a:rPr sz="1600" b="0" i="0">
                <a:solidFill>
                  <a:srgbClr val="55605F"/>
                </a:solidFill>
                <a:latin typeface="Avenir Next"/>
              </a:rPr>
              <a:t>Eighteen host isolates spotted against two pooled lysates, July 2026. That is the direction the prediction makes.</a:t>
            </a:r>
          </a:p>
        </p:txBody>
      </p:sp>
      <p:sp>
        <p:nvSpPr>
          <p:cNvPr id="22" name="Rounded Rectangle 21"/>
          <p:cNvSpPr/>
          <p:nvPr/>
        </p:nvSpPr>
        <p:spPr>
          <a:xfrm>
            <a:off x="7662672" y="2240280"/>
            <a:ext cx="3840480" cy="274320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TextBox 22"/>
          <p:cNvSpPr txBox="1"/>
          <p:nvPr/>
        </p:nvSpPr>
        <p:spPr>
          <a:xfrm>
            <a:off x="7982712" y="2487168"/>
            <a:ext cx="3200400" cy="914400"/>
          </a:xfrm>
          <a:prstGeom prst="rect">
            <a:avLst/>
          </a:prstGeom>
          <a:noFill/>
        </p:spPr>
        <p:txBody>
          <a:bodyPr wrap="square" anchor="t" lIns="0" rIns="0" tIns="0" bIns="0">
            <a:spAutoFit/>
          </a:bodyPr>
          <a:lstStyle/>
          <a:p>
            <a:pPr algn="l">
              <a:lnSpc>
                <a:spcPct val="125000"/>
              </a:lnSpc>
            </a:pPr>
            <a:r>
              <a:rPr sz="1700" b="1" i="0">
                <a:solidFill>
                  <a:srgbClr val="B4542E"/>
                </a:solidFill>
                <a:latin typeface="Avenir Next"/>
              </a:rPr>
              <a:t>Why we aren't calling it confirmed</a:t>
            </a:r>
          </a:p>
        </p:txBody>
      </p:sp>
      <p:sp>
        <p:nvSpPr>
          <p:cNvPr id="24" name="TextBox 23"/>
          <p:cNvSpPr txBox="1"/>
          <p:nvPr/>
        </p:nvSpPr>
        <p:spPr>
          <a:xfrm>
            <a:off x="7982712" y="2971800"/>
            <a:ext cx="3200400" cy="914400"/>
          </a:xfrm>
          <a:prstGeom prst="rect">
            <a:avLst/>
          </a:prstGeom>
          <a:noFill/>
        </p:spPr>
        <p:txBody>
          <a:bodyPr wrap="square" anchor="t" lIns="0" rIns="0" tIns="0" bIns="0">
            <a:spAutoFit/>
          </a:bodyPr>
          <a:lstStyle/>
          <a:p>
            <a:pPr algn="l">
              <a:lnSpc>
                <a:spcPct val="135000"/>
              </a:lnSpc>
            </a:pPr>
            <a:r>
              <a:rPr sz="1500" b="0" i="0">
                <a:solidFill>
                  <a:srgbClr val="1C2B2B"/>
                </a:solidFill>
                <a:latin typeface="Avenir Next"/>
              </a:rPr>
              <a:t>No no-phage control — a margin note on the page says only “need control”.</a:t>
            </a:r>
          </a:p>
          <a:p>
            <a:pPr algn="l">
              <a:lnSpc>
                <a:spcPct val="135000"/>
              </a:lnSpc>
            </a:pPr>
            <a:r>
              <a:rPr sz="1500" b="0" i="0">
                <a:solidFill>
                  <a:srgbClr val="1C2B2B"/>
                </a:solidFill>
                <a:latin typeface="Avenir Next"/>
              </a:rPr>
              <a:t>One isolate was never scored.</a:t>
            </a:r>
          </a:p>
          <a:p>
            <a:pPr algn="l">
              <a:lnSpc>
                <a:spcPct val="135000"/>
              </a:lnSpc>
            </a:pPr>
            <a:r>
              <a:rPr sz="1500" b="0" i="0">
                <a:solidFill>
                  <a:srgbClr val="1C2B2B"/>
                </a:solidFill>
                <a:latin typeface="Avenir Next"/>
              </a:rPr>
              <a:t>Two follow-up readouts were never written down.</a:t>
            </a:r>
          </a:p>
        </p:txBody>
      </p:sp>
      <p:sp>
        <p:nvSpPr>
          <p:cNvPr id="25" name="TextBox 24"/>
          <p:cNvSpPr txBox="1"/>
          <p:nvPr/>
        </p:nvSpPr>
        <p:spPr>
          <a:xfrm>
            <a:off x="7982712" y="4434840"/>
            <a:ext cx="320040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All three come from our own notebook, not from a reviewer.</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33</a:t>
            </a:r>
          </a:p>
        </p:txBody>
      </p:sp>
      <p:sp>
        <p:nvSpPr>
          <p:cNvPr id="3" name="TextBox 2"/>
          <p:cNvSpPr txBox="1"/>
          <p:nvPr/>
        </p:nvSpPr>
        <p:spPr>
          <a:xfrm>
            <a:off x="713232" y="1600200"/>
            <a:ext cx="10765231" cy="914400"/>
          </a:xfrm>
          <a:prstGeom prst="rect">
            <a:avLst/>
          </a:prstGeom>
          <a:noFill/>
        </p:spPr>
        <p:txBody>
          <a:bodyPr wrap="square" anchor="t" lIns="0" rIns="0" tIns="0" bIns="0">
            <a:spAutoFit/>
          </a:bodyPr>
          <a:lstStyle/>
          <a:p>
            <a:pPr algn="l">
              <a:lnSpc>
                <a:spcPct val="125000"/>
              </a:lnSpc>
            </a:pPr>
            <a:r>
              <a:rPr sz="1400" b="1" i="0">
                <a:solidFill>
                  <a:srgbClr val="8FB3AE"/>
                </a:solidFill>
                <a:latin typeface="Avenir Next"/>
              </a:rPr>
              <a:t>CYCLE 3 OF 4</a:t>
            </a:r>
          </a:p>
        </p:txBody>
      </p:sp>
      <p:sp>
        <p:nvSpPr>
          <p:cNvPr id="4" name="TextBox 3"/>
          <p:cNvSpPr txBox="1"/>
          <p:nvPr/>
        </p:nvSpPr>
        <p:spPr>
          <a:xfrm>
            <a:off x="713232" y="2103120"/>
            <a:ext cx="10765231" cy="914400"/>
          </a:xfrm>
          <a:prstGeom prst="rect">
            <a:avLst/>
          </a:prstGeom>
          <a:noFill/>
        </p:spPr>
        <p:txBody>
          <a:bodyPr wrap="square" anchor="t" lIns="0" rIns="0" tIns="0" bIns="0">
            <a:spAutoFit/>
          </a:bodyPr>
          <a:lstStyle/>
          <a:p>
            <a:pPr algn="l">
              <a:lnSpc>
                <a:spcPct val="105000"/>
              </a:lnSpc>
            </a:pPr>
            <a:r>
              <a:rPr sz="5800" b="0" i="0">
                <a:solidFill>
                  <a:srgbClr val="F7F4EE"/>
                </a:solidFill>
                <a:latin typeface="Georgia"/>
              </a:rPr>
              <a:t>Build the enzymes</a:t>
            </a:r>
          </a:p>
        </p:txBody>
      </p:sp>
      <p:sp>
        <p:nvSpPr>
          <p:cNvPr id="5" name="Rounded Rectangle 4"/>
          <p:cNvSpPr/>
          <p:nvPr/>
        </p:nvSpPr>
        <p:spPr>
          <a:xfrm>
            <a:off x="713232"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Design</a:t>
            </a:r>
          </a:p>
        </p:txBody>
      </p:sp>
      <p:sp>
        <p:nvSpPr>
          <p:cNvPr id="6" name="Rounded Rectangle 5"/>
          <p:cNvSpPr/>
          <p:nvPr/>
        </p:nvSpPr>
        <p:spPr>
          <a:xfrm>
            <a:off x="2249424"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Build</a:t>
            </a:r>
          </a:p>
        </p:txBody>
      </p:sp>
      <p:sp>
        <p:nvSpPr>
          <p:cNvPr id="7" name="Rounded Rectangle 6"/>
          <p:cNvSpPr/>
          <p:nvPr/>
        </p:nvSpPr>
        <p:spPr>
          <a:xfrm>
            <a:off x="3785616"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Test</a:t>
            </a:r>
          </a:p>
        </p:txBody>
      </p:sp>
      <p:sp>
        <p:nvSpPr>
          <p:cNvPr id="8" name="Rounded Rectangle 7"/>
          <p:cNvSpPr/>
          <p:nvPr/>
        </p:nvSpPr>
        <p:spPr>
          <a:xfrm>
            <a:off x="5321808"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Learn</a:t>
            </a:r>
          </a:p>
        </p:txBody>
      </p:sp>
      <p:sp>
        <p:nvSpPr>
          <p:cNvPr id="9" name="TextBox 8"/>
          <p:cNvSpPr txBox="1"/>
          <p:nvPr/>
        </p:nvSpPr>
        <p:spPr>
          <a:xfrm>
            <a:off x="713232" y="4846320"/>
            <a:ext cx="8686800" cy="914400"/>
          </a:xfrm>
          <a:prstGeom prst="rect">
            <a:avLst/>
          </a:prstGeom>
          <a:noFill/>
        </p:spPr>
        <p:txBody>
          <a:bodyPr wrap="square" anchor="t" lIns="0" rIns="0" tIns="0" bIns="0">
            <a:spAutoFit/>
          </a:bodyPr>
          <a:lstStyle/>
          <a:p>
            <a:pPr algn="l">
              <a:lnSpc>
                <a:spcPct val="130000"/>
              </a:lnSpc>
            </a:pPr>
            <a:r>
              <a:rPr sz="2000" b="0" i="0">
                <a:solidFill>
                  <a:srgbClr val="C8D8D4"/>
                </a:solidFill>
                <a:latin typeface="Avenir Next"/>
              </a:rPr>
              <a:t>Two lines run through this cycle, and they are two different proteins.</a:t>
            </a:r>
          </a:p>
        </p:txBody>
      </p: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34</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TWO LINES, TWO PROTEINS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700" b="0" i="0">
                <a:solidFill>
                  <a:srgbClr val="1C2B2B"/>
                </a:solidFill>
                <a:latin typeface="Georgia"/>
              </a:rPr>
              <a:t>The enzyme that reads the receptor — and the one we rebuilt ancestors of</a:t>
            </a:r>
          </a:p>
        </p:txBody>
      </p:sp>
      <p:pic>
        <p:nvPicPr>
          <p:cNvPr id="6" name="!!left" descr="body-side.png"/>
          <p:cNvPicPr>
            <a:picLocks noChangeAspect="1"/>
          </p:cNvPicPr>
          <p:nvPr/>
        </p:nvPicPr>
        <p:blipFill>
          <a:blip r:embed="rId2"/>
          <a:stretch>
            <a:fillRect/>
          </a:stretch>
        </p:blipFill>
        <p:spPr>
          <a:xfrm>
            <a:off x="5089697" y="1920240"/>
            <a:ext cx="2036990" cy="3840480"/>
          </a:xfrm>
          <a:prstGeom prst="rect">
            <a:avLst/>
          </a:prstGeom>
        </p:spPr>
      </p:pic>
      <p:sp>
        <p:nvSpPr>
          <p:cNvPr id="7" name="!!leftlab"/>
          <p:cNvSpPr txBox="1"/>
          <p:nvPr/>
        </p:nvSpPr>
        <p:spPr>
          <a:xfrm>
            <a:off x="4005072" y="5806440"/>
            <a:ext cx="4206240" cy="914400"/>
          </a:xfrm>
          <a:prstGeom prst="rect">
            <a:avLst/>
          </a:prstGeom>
          <a:noFill/>
        </p:spPr>
        <p:txBody>
          <a:bodyPr wrap="square" anchor="t" lIns="0" rIns="0" tIns="0" bIns="0">
            <a:spAutoFit/>
          </a:bodyPr>
          <a:lstStyle/>
          <a:p>
            <a:pPr algn="ctr">
              <a:lnSpc>
                <a:spcPct val="125000"/>
              </a:lnSpc>
            </a:pPr>
            <a:r>
              <a:rPr sz="2000" b="1" i="0">
                <a:solidFill>
                  <a:srgbClr val="2D6A6A"/>
                </a:solidFill>
                <a:latin typeface="Avenir Next"/>
              </a:rPr>
              <a:t>CDS 11 — the tail spike</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TWO LINES, TWO PROTEINS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700" b="0" i="0">
                <a:solidFill>
                  <a:srgbClr val="1C2B2B"/>
                </a:solidFill>
                <a:latin typeface="Georgia"/>
              </a:rPr>
              <a:t>The enzyme that reads the receptor — and the one we rebuilt ancestors of</a:t>
            </a:r>
          </a:p>
        </p:txBody>
      </p:sp>
      <p:pic>
        <p:nvPicPr>
          <p:cNvPr id="6" name="!!left" descr="body-side.png"/>
          <p:cNvPicPr>
            <a:picLocks noChangeAspect="1"/>
          </p:cNvPicPr>
          <p:nvPr/>
        </p:nvPicPr>
        <p:blipFill>
          <a:blip r:embed="rId2"/>
          <a:stretch>
            <a:fillRect/>
          </a:stretch>
        </p:blipFill>
        <p:spPr>
          <a:xfrm>
            <a:off x="2059046" y="1920240"/>
            <a:ext cx="1697492" cy="3200400"/>
          </a:xfrm>
          <a:prstGeom prst="rect">
            <a:avLst/>
          </a:prstGeom>
        </p:spPr>
      </p:pic>
      <p:sp>
        <p:nvSpPr>
          <p:cNvPr id="7" name="!!leftlab"/>
          <p:cNvSpPr txBox="1"/>
          <p:nvPr/>
        </p:nvSpPr>
        <p:spPr>
          <a:xfrm>
            <a:off x="987552" y="5212080"/>
            <a:ext cx="3840480" cy="914400"/>
          </a:xfrm>
          <a:prstGeom prst="rect">
            <a:avLst/>
          </a:prstGeom>
          <a:noFill/>
        </p:spPr>
        <p:txBody>
          <a:bodyPr wrap="square" anchor="t" lIns="0" rIns="0" tIns="0" bIns="0">
            <a:spAutoFit/>
          </a:bodyPr>
          <a:lstStyle/>
          <a:p>
            <a:pPr algn="ctr">
              <a:lnSpc>
                <a:spcPct val="125000"/>
              </a:lnSpc>
            </a:pPr>
            <a:r>
              <a:rPr sz="1800" b="1" i="0">
                <a:solidFill>
                  <a:srgbClr val="2D6A6A"/>
                </a:solidFill>
                <a:latin typeface="Avenir Next"/>
              </a:rPr>
              <a:t>CDS 11 — the tail spike</a:t>
            </a:r>
          </a:p>
        </p:txBody>
      </p:sp>
      <p:sp>
        <p:nvSpPr>
          <p:cNvPr id="8" name="TextBox 7"/>
          <p:cNvSpPr txBox="1"/>
          <p:nvPr/>
        </p:nvSpPr>
        <p:spPr>
          <a:xfrm>
            <a:off x="987552" y="5577840"/>
            <a:ext cx="3840480" cy="914400"/>
          </a:xfrm>
          <a:prstGeom prst="rect">
            <a:avLst/>
          </a:prstGeom>
          <a:noFill/>
        </p:spPr>
        <p:txBody>
          <a:bodyPr wrap="square" anchor="t" lIns="0" rIns="0" tIns="0" bIns="0">
            <a:spAutoFit/>
          </a:bodyPr>
          <a:lstStyle/>
          <a:p>
            <a:pPr algn="ctr">
              <a:lnSpc>
                <a:spcPct val="130000"/>
              </a:lnSpc>
            </a:pPr>
            <a:r>
              <a:rPr sz="1400" b="0" i="0">
                <a:solidFill>
                  <a:srgbClr val="55605F"/>
                </a:solidFill>
                <a:latin typeface="Avenir Next"/>
              </a:rPr>
              <a:t>A right-handed β-helix, 941 residues, attached to the virion.</a:t>
            </a:r>
          </a:p>
          <a:p>
            <a:pPr algn="ctr">
              <a:lnSpc>
                <a:spcPct val="130000"/>
              </a:lnSpc>
            </a:pPr>
            <a:r>
              <a:rPr sz="1400" b="0" i="0">
                <a:solidFill>
                  <a:srgbClr val="55605F"/>
                </a:solidFill>
                <a:latin typeface="Avenir Next"/>
              </a:rPr>
              <a:t>This is the one that reads the host surface.</a:t>
            </a:r>
          </a:p>
        </p:txBody>
      </p:sp>
      <p:pic>
        <p:nvPicPr>
          <p:cNvPr id="9" name="!!right" descr="gh5.png"/>
          <p:cNvPicPr>
            <a:picLocks noChangeAspect="1"/>
          </p:cNvPicPr>
          <p:nvPr/>
        </p:nvPicPr>
        <p:blipFill>
          <a:blip r:embed="rId3"/>
          <a:stretch>
            <a:fillRect/>
          </a:stretch>
        </p:blipFill>
        <p:spPr>
          <a:xfrm>
            <a:off x="6473952" y="2232066"/>
            <a:ext cx="4389120" cy="2576748"/>
          </a:xfrm>
          <a:prstGeom prst="rect">
            <a:avLst/>
          </a:prstGeom>
        </p:spPr>
      </p:pic>
      <p:sp>
        <p:nvSpPr>
          <p:cNvPr id="10" name="TextBox 9"/>
          <p:cNvSpPr txBox="1"/>
          <p:nvPr/>
        </p:nvSpPr>
        <p:spPr>
          <a:xfrm>
            <a:off x="6473952" y="5029200"/>
            <a:ext cx="4389120" cy="914400"/>
          </a:xfrm>
          <a:prstGeom prst="rect">
            <a:avLst/>
          </a:prstGeom>
          <a:noFill/>
        </p:spPr>
        <p:txBody>
          <a:bodyPr wrap="square" anchor="t" lIns="0" rIns="0" tIns="0" bIns="0">
            <a:spAutoFit/>
          </a:bodyPr>
          <a:lstStyle/>
          <a:p>
            <a:pPr algn="ctr">
              <a:lnSpc>
                <a:spcPct val="125000"/>
              </a:lnSpc>
            </a:pPr>
            <a:r>
              <a:rPr sz="1800" b="1" i="0">
                <a:solidFill>
                  <a:srgbClr val="B4542E"/>
                </a:solidFill>
                <a:latin typeface="Avenir Next"/>
              </a:rPr>
              <a:t>CDS 12 — a GH5 hydrolase</a:t>
            </a:r>
          </a:p>
        </p:txBody>
      </p:sp>
      <p:sp>
        <p:nvSpPr>
          <p:cNvPr id="11" name="TextBox 10"/>
          <p:cNvSpPr txBox="1"/>
          <p:nvPr/>
        </p:nvSpPr>
        <p:spPr>
          <a:xfrm>
            <a:off x="6473952" y="5394960"/>
            <a:ext cx="4389120" cy="914400"/>
          </a:xfrm>
          <a:prstGeom prst="rect">
            <a:avLst/>
          </a:prstGeom>
          <a:noFill/>
        </p:spPr>
        <p:txBody>
          <a:bodyPr wrap="square" anchor="t" lIns="0" rIns="0" tIns="0" bIns="0">
            <a:spAutoFit/>
          </a:bodyPr>
          <a:lstStyle/>
          <a:p>
            <a:pPr algn="ctr">
              <a:lnSpc>
                <a:spcPct val="130000"/>
              </a:lnSpc>
            </a:pPr>
            <a:r>
              <a:rPr sz="1400" b="0" i="0">
                <a:solidFill>
                  <a:srgbClr val="55605F"/>
                </a:solidFill>
                <a:latin typeface="Avenir Next"/>
              </a:rPr>
              <a:t>A TIM barrel, not a β-helix. Its closest structural match is an endoglucanase caught with a short cellulose chain.</a:t>
            </a:r>
          </a:p>
          <a:p>
            <a:pPr algn="ctr">
              <a:lnSpc>
                <a:spcPct val="130000"/>
              </a:lnSpc>
            </a:pPr>
            <a:r>
              <a:rPr sz="1400" b="0" i="0">
                <a:solidFill>
                  <a:srgbClr val="55605F"/>
                </a:solidFill>
                <a:latin typeface="Avenir Next"/>
              </a:rPr>
              <a:t>A separate protein — not a domain of the tail spike.</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36</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THE QUESTION A JUDGE WILL ASK</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So why reconstruct ancestors of that one, and not of the tail spike?</a:t>
            </a:r>
          </a:p>
        </p:txBody>
      </p:sp>
      <p:sp>
        <p:nvSpPr>
          <p:cNvPr id="6" name="Rounded Rectangle 5"/>
          <p:cNvSpPr/>
          <p:nvPr/>
        </p:nvSpPr>
        <p:spPr>
          <a:xfrm>
            <a:off x="713232" y="2194560"/>
            <a:ext cx="3405530" cy="169164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87552" y="2414016"/>
            <a:ext cx="285689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A tree to reconstruct along</a:t>
            </a:r>
          </a:p>
        </p:txBody>
      </p:sp>
      <p:sp>
        <p:nvSpPr>
          <p:cNvPr id="8" name="TextBox 7"/>
          <p:cNvSpPr txBox="1"/>
          <p:nvPr/>
        </p:nvSpPr>
        <p:spPr>
          <a:xfrm>
            <a:off x="987552" y="2871216"/>
            <a:ext cx="285689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CDS 12 has a thousand homologues in the databases. The tail spike is novel enough that we had no such tree.</a:t>
            </a:r>
          </a:p>
        </p:txBody>
      </p:sp>
      <p:sp>
        <p:nvSpPr>
          <p:cNvPr id="9" name="Rounded Rectangle 8"/>
          <p:cNvSpPr/>
          <p:nvPr/>
        </p:nvSpPr>
        <p:spPr>
          <a:xfrm>
            <a:off x="4393082" y="2194560"/>
            <a:ext cx="3405530" cy="169164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4667402" y="2414016"/>
            <a:ext cx="285689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A third of the size</a:t>
            </a:r>
          </a:p>
        </p:txBody>
      </p:sp>
      <p:sp>
        <p:nvSpPr>
          <p:cNvPr id="11" name="TextBox 10"/>
          <p:cNvSpPr txBox="1"/>
          <p:nvPr/>
        </p:nvSpPr>
        <p:spPr>
          <a:xfrm>
            <a:off x="4667402" y="2871216"/>
            <a:ext cx="285689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362 residues against 941. We judged it the far better bet to express.</a:t>
            </a:r>
          </a:p>
        </p:txBody>
      </p:sp>
      <p:sp>
        <p:nvSpPr>
          <p:cNvPr id="12" name="Rounded Rectangle 11"/>
          <p:cNvSpPr/>
          <p:nvPr/>
        </p:nvSpPr>
        <p:spPr>
          <a:xfrm>
            <a:off x="8072932" y="2194560"/>
            <a:ext cx="3405530" cy="169164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8347252" y="2414016"/>
            <a:ext cx="2856890" cy="914400"/>
          </a:xfrm>
          <a:prstGeom prst="rect">
            <a:avLst/>
          </a:prstGeom>
          <a:noFill/>
        </p:spPr>
        <p:txBody>
          <a:bodyPr wrap="square" anchor="t" lIns="0" rIns="0" tIns="0" bIns="0">
            <a:spAutoFit/>
          </a:bodyPr>
          <a:lstStyle/>
          <a:p>
            <a:pPr algn="l">
              <a:lnSpc>
                <a:spcPct val="125000"/>
              </a:lnSpc>
            </a:pPr>
            <a:r>
              <a:rPr sz="1700" b="1" i="0">
                <a:solidFill>
                  <a:srgbClr val="2D6A6A"/>
                </a:solidFill>
                <a:latin typeface="Avenir Next"/>
              </a:rPr>
              <a:t>A synthesis allowance</a:t>
            </a:r>
          </a:p>
        </p:txBody>
      </p:sp>
      <p:sp>
        <p:nvSpPr>
          <p:cNvPr id="14" name="TextBox 13"/>
          <p:cNvSpPr txBox="1"/>
          <p:nvPr/>
        </p:nvSpPr>
        <p:spPr>
          <a:xfrm>
            <a:off x="8347252" y="2871216"/>
            <a:ext cx="285689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Four short constructs were affordable inside our sponsored allowance. Four long ones were not.</a:t>
            </a:r>
          </a:p>
        </p:txBody>
      </p:sp>
      <p:sp>
        <p:nvSpPr>
          <p:cNvPr id="15" name="Rounded Rectangle 14"/>
          <p:cNvSpPr/>
          <p:nvPr/>
        </p:nvSpPr>
        <p:spPr>
          <a:xfrm>
            <a:off x="713232" y="4206240"/>
            <a:ext cx="10765231" cy="1783080"/>
          </a:xfrm>
          <a:prstGeom prst="roundRect">
            <a:avLst>
              <a:gd name="adj" fmla="val 6000"/>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TextBox 15"/>
          <p:cNvSpPr txBox="1"/>
          <p:nvPr/>
        </p:nvSpPr>
        <p:spPr>
          <a:xfrm>
            <a:off x="1078992" y="4434840"/>
            <a:ext cx="10033711" cy="914400"/>
          </a:xfrm>
          <a:prstGeom prst="rect">
            <a:avLst/>
          </a:prstGeom>
          <a:noFill/>
        </p:spPr>
        <p:txBody>
          <a:bodyPr wrap="square" anchor="t" lIns="0" rIns="0" tIns="0" bIns="0">
            <a:spAutoFit/>
          </a:bodyPr>
          <a:lstStyle/>
          <a:p>
            <a:pPr algn="l">
              <a:lnSpc>
                <a:spcPct val="130000"/>
              </a:lnSpc>
            </a:pPr>
            <a:r>
              <a:rPr sz="1900" b="0" i="0">
                <a:solidFill>
                  <a:srgbClr val="FBF3EE"/>
                </a:solidFill>
                <a:latin typeface="Avenir Next"/>
              </a:rPr>
              <a:t>So the ancestral panel tests the shape of the hypothesis — whether an ancestral glycoside hydrolase has a broader substrate range than its descendant — on an enzyme we could actually build, rather than on the one that reads the receptor.</a:t>
            </a:r>
          </a:p>
        </p:txBody>
      </p:sp>
      <p:sp>
        <p:nvSpPr>
          <p:cNvPr id="17" name="TextBox 16"/>
          <p:cNvSpPr txBox="1"/>
          <p:nvPr/>
        </p:nvSpPr>
        <p:spPr>
          <a:xfrm>
            <a:off x="1078992" y="5532120"/>
            <a:ext cx="10033711" cy="914400"/>
          </a:xfrm>
          <a:prstGeom prst="rect">
            <a:avLst/>
          </a:prstGeom>
          <a:noFill/>
        </p:spPr>
        <p:txBody>
          <a:bodyPr wrap="square" anchor="t" lIns="0" rIns="0" tIns="0" bIns="0">
            <a:spAutoFit/>
          </a:bodyPr>
          <a:lstStyle/>
          <a:p>
            <a:pPr algn="l">
              <a:lnSpc>
                <a:spcPct val="125000"/>
              </a:lnSpc>
            </a:pPr>
            <a:r>
              <a:rPr sz="1700" b="0" i="0">
                <a:solidFill>
                  <a:srgbClr val="F3D6C8"/>
                </a:solidFill>
                <a:latin typeface="Avenir Next"/>
              </a:rPr>
              <a:t>That's a real limitation, and it's ours, not a reviewer's.</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37</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Walking back up the tree, one node at a time</a:t>
            </a:r>
          </a:p>
        </p:txBody>
      </p:sp>
      <p:pic>
        <p:nvPicPr>
          <p:cNvPr id="6" name="!!anc0" descr="anc-wt.png"/>
          <p:cNvPicPr>
            <a:picLocks noChangeAspect="1"/>
          </p:cNvPicPr>
          <p:nvPr/>
        </p:nvPicPr>
        <p:blipFill>
          <a:blip r:embed="rId2"/>
          <a:stretch>
            <a:fillRect/>
          </a:stretch>
        </p:blipFill>
        <p:spPr>
          <a:xfrm>
            <a:off x="804672" y="2279389"/>
            <a:ext cx="2514600" cy="1476262"/>
          </a:xfrm>
          <a:prstGeom prst="rect">
            <a:avLst/>
          </a:prstGeom>
        </p:spPr>
      </p:pic>
      <p:sp>
        <p:nvSpPr>
          <p:cNvPr id="7" name="!!anchead0"/>
          <p:cNvSpPr txBox="1"/>
          <p:nvPr/>
        </p:nvSpPr>
        <p:spPr>
          <a:xfrm>
            <a:off x="804672" y="4069080"/>
            <a:ext cx="2514600" cy="914400"/>
          </a:xfrm>
          <a:prstGeom prst="rect">
            <a:avLst/>
          </a:prstGeom>
          <a:noFill/>
        </p:spPr>
        <p:txBody>
          <a:bodyPr wrap="square" anchor="t" lIns="0" rIns="0" tIns="0" bIns="0">
            <a:spAutoFit/>
          </a:bodyPr>
          <a:lstStyle/>
          <a:p>
            <a:pPr algn="ctr">
              <a:lnSpc>
                <a:spcPct val="125000"/>
              </a:lnSpc>
            </a:pPr>
            <a:r>
              <a:rPr sz="1600" b="1" i="0">
                <a:solidFill>
                  <a:srgbClr val="1C2B2B"/>
                </a:solidFill>
                <a:latin typeface="Avenir Next"/>
              </a:rPr>
              <a:t>CDS 12, the modern enzyme</a:t>
            </a:r>
          </a:p>
        </p:txBody>
      </p:sp>
      <p:sp>
        <p:nvSpPr>
          <p:cNvPr id="8" name="!!ancbody0"/>
          <p:cNvSpPr txBox="1"/>
          <p:nvPr/>
        </p:nvSpPr>
        <p:spPr>
          <a:xfrm>
            <a:off x="8046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The GH5 as Φ8 carries it today.</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38</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Walking back up the tree, one node at a time</a:t>
            </a:r>
          </a:p>
        </p:txBody>
      </p:sp>
      <p:pic>
        <p:nvPicPr>
          <p:cNvPr id="6" name="!!anc0" descr="anc-wt.png"/>
          <p:cNvPicPr>
            <a:picLocks noChangeAspect="1"/>
          </p:cNvPicPr>
          <p:nvPr/>
        </p:nvPicPr>
        <p:blipFill>
          <a:blip r:embed="rId2"/>
          <a:stretch>
            <a:fillRect/>
          </a:stretch>
        </p:blipFill>
        <p:spPr>
          <a:xfrm>
            <a:off x="804672" y="2279389"/>
            <a:ext cx="2514600" cy="1476262"/>
          </a:xfrm>
          <a:prstGeom prst="rect">
            <a:avLst/>
          </a:prstGeom>
        </p:spPr>
      </p:pic>
      <p:sp>
        <p:nvSpPr>
          <p:cNvPr id="7" name="!!anchead0"/>
          <p:cNvSpPr txBox="1"/>
          <p:nvPr/>
        </p:nvSpPr>
        <p:spPr>
          <a:xfrm>
            <a:off x="804672" y="4069080"/>
            <a:ext cx="2514600" cy="914400"/>
          </a:xfrm>
          <a:prstGeom prst="rect">
            <a:avLst/>
          </a:prstGeom>
          <a:noFill/>
        </p:spPr>
        <p:txBody>
          <a:bodyPr wrap="square" anchor="t" lIns="0" rIns="0" tIns="0" bIns="0">
            <a:spAutoFit/>
          </a:bodyPr>
          <a:lstStyle/>
          <a:p>
            <a:pPr algn="ctr">
              <a:lnSpc>
                <a:spcPct val="125000"/>
              </a:lnSpc>
            </a:pPr>
            <a:r>
              <a:rPr sz="1600" b="1" i="0">
                <a:solidFill>
                  <a:srgbClr val="1C2B2B"/>
                </a:solidFill>
                <a:latin typeface="Avenir Next"/>
              </a:rPr>
              <a:t>CDS 12, the modern enzyme</a:t>
            </a:r>
          </a:p>
        </p:txBody>
      </p:sp>
      <p:sp>
        <p:nvSpPr>
          <p:cNvPr id="8" name="!!ancbody0"/>
          <p:cNvSpPr txBox="1"/>
          <p:nvPr/>
        </p:nvSpPr>
        <p:spPr>
          <a:xfrm>
            <a:off x="8046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The GH5 as Φ8 carries it today.</a:t>
            </a:r>
          </a:p>
        </p:txBody>
      </p:sp>
      <p:pic>
        <p:nvPicPr>
          <p:cNvPr id="9" name="!!anc1" descr="anc-n1.png"/>
          <p:cNvPicPr>
            <a:picLocks noChangeAspect="1"/>
          </p:cNvPicPr>
          <p:nvPr/>
        </p:nvPicPr>
        <p:blipFill>
          <a:blip r:embed="rId3"/>
          <a:stretch>
            <a:fillRect/>
          </a:stretch>
        </p:blipFill>
        <p:spPr>
          <a:xfrm>
            <a:off x="3589765" y="2103120"/>
            <a:ext cx="2430814" cy="1828800"/>
          </a:xfrm>
          <a:prstGeom prst="rect">
            <a:avLst/>
          </a:prstGeom>
        </p:spPr>
      </p:pic>
      <p:sp>
        <p:nvSpPr>
          <p:cNvPr id="10" name="!!anchead1"/>
          <p:cNvSpPr txBox="1"/>
          <p:nvPr/>
        </p:nvSpPr>
        <p:spPr>
          <a:xfrm>
            <a:off x="35478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1</a:t>
            </a:r>
          </a:p>
        </p:txBody>
      </p:sp>
      <p:sp>
        <p:nvSpPr>
          <p:cNvPr id="11" name="!!ancbody1"/>
          <p:cNvSpPr txBox="1"/>
          <p:nvPr/>
        </p:nvSpPr>
        <p:spPr>
          <a:xfrm>
            <a:off x="35478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78 % identical to the modern enzyme — the closest of the three.</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39</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Walking back up the tree, one node at a time</a:t>
            </a:r>
          </a:p>
        </p:txBody>
      </p:sp>
      <p:pic>
        <p:nvPicPr>
          <p:cNvPr id="6" name="!!anc0" descr="anc-wt.png"/>
          <p:cNvPicPr>
            <a:picLocks noChangeAspect="1"/>
          </p:cNvPicPr>
          <p:nvPr/>
        </p:nvPicPr>
        <p:blipFill>
          <a:blip r:embed="rId2"/>
          <a:stretch>
            <a:fillRect/>
          </a:stretch>
        </p:blipFill>
        <p:spPr>
          <a:xfrm>
            <a:off x="804672" y="2279389"/>
            <a:ext cx="2514600" cy="1476262"/>
          </a:xfrm>
          <a:prstGeom prst="rect">
            <a:avLst/>
          </a:prstGeom>
        </p:spPr>
      </p:pic>
      <p:sp>
        <p:nvSpPr>
          <p:cNvPr id="7" name="!!anchead0"/>
          <p:cNvSpPr txBox="1"/>
          <p:nvPr/>
        </p:nvSpPr>
        <p:spPr>
          <a:xfrm>
            <a:off x="804672" y="4069080"/>
            <a:ext cx="2514600" cy="914400"/>
          </a:xfrm>
          <a:prstGeom prst="rect">
            <a:avLst/>
          </a:prstGeom>
          <a:noFill/>
        </p:spPr>
        <p:txBody>
          <a:bodyPr wrap="square" anchor="t" lIns="0" rIns="0" tIns="0" bIns="0">
            <a:spAutoFit/>
          </a:bodyPr>
          <a:lstStyle/>
          <a:p>
            <a:pPr algn="ctr">
              <a:lnSpc>
                <a:spcPct val="125000"/>
              </a:lnSpc>
            </a:pPr>
            <a:r>
              <a:rPr sz="1600" b="1" i="0">
                <a:solidFill>
                  <a:srgbClr val="1C2B2B"/>
                </a:solidFill>
                <a:latin typeface="Avenir Next"/>
              </a:rPr>
              <a:t>CDS 12, the modern enzyme</a:t>
            </a:r>
          </a:p>
        </p:txBody>
      </p:sp>
      <p:sp>
        <p:nvSpPr>
          <p:cNvPr id="8" name="!!ancbody0"/>
          <p:cNvSpPr txBox="1"/>
          <p:nvPr/>
        </p:nvSpPr>
        <p:spPr>
          <a:xfrm>
            <a:off x="8046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The GH5 as Φ8 carries it today.</a:t>
            </a:r>
          </a:p>
        </p:txBody>
      </p:sp>
      <p:pic>
        <p:nvPicPr>
          <p:cNvPr id="9" name="!!anc1" descr="anc-n1.png"/>
          <p:cNvPicPr>
            <a:picLocks noChangeAspect="1"/>
          </p:cNvPicPr>
          <p:nvPr/>
        </p:nvPicPr>
        <p:blipFill>
          <a:blip r:embed="rId3"/>
          <a:stretch>
            <a:fillRect/>
          </a:stretch>
        </p:blipFill>
        <p:spPr>
          <a:xfrm>
            <a:off x="3589765" y="2103120"/>
            <a:ext cx="2430814" cy="1828800"/>
          </a:xfrm>
          <a:prstGeom prst="rect">
            <a:avLst/>
          </a:prstGeom>
        </p:spPr>
      </p:pic>
      <p:sp>
        <p:nvSpPr>
          <p:cNvPr id="10" name="!!anchead1"/>
          <p:cNvSpPr txBox="1"/>
          <p:nvPr/>
        </p:nvSpPr>
        <p:spPr>
          <a:xfrm>
            <a:off x="35478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1</a:t>
            </a:r>
          </a:p>
        </p:txBody>
      </p:sp>
      <p:sp>
        <p:nvSpPr>
          <p:cNvPr id="11" name="!!ancbody1"/>
          <p:cNvSpPr txBox="1"/>
          <p:nvPr/>
        </p:nvSpPr>
        <p:spPr>
          <a:xfrm>
            <a:off x="35478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78 % identical to the modern enzyme — the closest of the three.</a:t>
            </a:r>
          </a:p>
        </p:txBody>
      </p:sp>
      <p:pic>
        <p:nvPicPr>
          <p:cNvPr id="12" name="!!anc2" descr="anc-n40.png"/>
          <p:cNvPicPr>
            <a:picLocks noChangeAspect="1"/>
          </p:cNvPicPr>
          <p:nvPr/>
        </p:nvPicPr>
        <p:blipFill>
          <a:blip r:embed="rId4"/>
          <a:stretch>
            <a:fillRect/>
          </a:stretch>
        </p:blipFill>
        <p:spPr>
          <a:xfrm>
            <a:off x="6492240" y="2103120"/>
            <a:ext cx="2112264" cy="1828800"/>
          </a:xfrm>
          <a:prstGeom prst="rect">
            <a:avLst/>
          </a:prstGeom>
        </p:spPr>
      </p:pic>
      <p:sp>
        <p:nvSpPr>
          <p:cNvPr id="13" name="!!anchead2"/>
          <p:cNvSpPr txBox="1"/>
          <p:nvPr/>
        </p:nvSpPr>
        <p:spPr>
          <a:xfrm>
            <a:off x="62910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40</a:t>
            </a:r>
          </a:p>
        </p:txBody>
      </p:sp>
      <p:sp>
        <p:nvSpPr>
          <p:cNvPr id="14" name="!!ancbody2"/>
          <p:cNvSpPr txBox="1"/>
          <p:nvPr/>
        </p:nvSpPr>
        <p:spPr>
          <a:xfrm>
            <a:off x="62910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53 % identical to the modern enzyme, 87 % to Node 281.</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40</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Walking back up the tree, one node at a time</a:t>
            </a:r>
          </a:p>
        </p:txBody>
      </p:sp>
      <p:pic>
        <p:nvPicPr>
          <p:cNvPr id="6" name="!!anc0" descr="anc-wt.png"/>
          <p:cNvPicPr>
            <a:picLocks noChangeAspect="1"/>
          </p:cNvPicPr>
          <p:nvPr/>
        </p:nvPicPr>
        <p:blipFill>
          <a:blip r:embed="rId2"/>
          <a:stretch>
            <a:fillRect/>
          </a:stretch>
        </p:blipFill>
        <p:spPr>
          <a:xfrm>
            <a:off x="804672" y="2279389"/>
            <a:ext cx="2514600" cy="1476262"/>
          </a:xfrm>
          <a:prstGeom prst="rect">
            <a:avLst/>
          </a:prstGeom>
        </p:spPr>
      </p:pic>
      <p:sp>
        <p:nvSpPr>
          <p:cNvPr id="7" name="!!anchead0"/>
          <p:cNvSpPr txBox="1"/>
          <p:nvPr/>
        </p:nvSpPr>
        <p:spPr>
          <a:xfrm>
            <a:off x="804672" y="4069080"/>
            <a:ext cx="2514600" cy="914400"/>
          </a:xfrm>
          <a:prstGeom prst="rect">
            <a:avLst/>
          </a:prstGeom>
          <a:noFill/>
        </p:spPr>
        <p:txBody>
          <a:bodyPr wrap="square" anchor="t" lIns="0" rIns="0" tIns="0" bIns="0">
            <a:spAutoFit/>
          </a:bodyPr>
          <a:lstStyle/>
          <a:p>
            <a:pPr algn="ctr">
              <a:lnSpc>
                <a:spcPct val="125000"/>
              </a:lnSpc>
            </a:pPr>
            <a:r>
              <a:rPr sz="1600" b="1" i="0">
                <a:solidFill>
                  <a:srgbClr val="1C2B2B"/>
                </a:solidFill>
                <a:latin typeface="Avenir Next"/>
              </a:rPr>
              <a:t>CDS 12, the modern enzyme</a:t>
            </a:r>
          </a:p>
        </p:txBody>
      </p:sp>
      <p:sp>
        <p:nvSpPr>
          <p:cNvPr id="8" name="!!ancbody0"/>
          <p:cNvSpPr txBox="1"/>
          <p:nvPr/>
        </p:nvSpPr>
        <p:spPr>
          <a:xfrm>
            <a:off x="8046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The GH5 as Φ8 carries it today.</a:t>
            </a:r>
          </a:p>
        </p:txBody>
      </p:sp>
      <p:pic>
        <p:nvPicPr>
          <p:cNvPr id="9" name="!!anc1" descr="anc-n1.png"/>
          <p:cNvPicPr>
            <a:picLocks noChangeAspect="1"/>
          </p:cNvPicPr>
          <p:nvPr/>
        </p:nvPicPr>
        <p:blipFill>
          <a:blip r:embed="rId3"/>
          <a:stretch>
            <a:fillRect/>
          </a:stretch>
        </p:blipFill>
        <p:spPr>
          <a:xfrm>
            <a:off x="3589765" y="2103120"/>
            <a:ext cx="2430814" cy="1828800"/>
          </a:xfrm>
          <a:prstGeom prst="rect">
            <a:avLst/>
          </a:prstGeom>
        </p:spPr>
      </p:pic>
      <p:sp>
        <p:nvSpPr>
          <p:cNvPr id="10" name="!!anchead1"/>
          <p:cNvSpPr txBox="1"/>
          <p:nvPr/>
        </p:nvSpPr>
        <p:spPr>
          <a:xfrm>
            <a:off x="35478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1</a:t>
            </a:r>
          </a:p>
        </p:txBody>
      </p:sp>
      <p:sp>
        <p:nvSpPr>
          <p:cNvPr id="11" name="!!ancbody1"/>
          <p:cNvSpPr txBox="1"/>
          <p:nvPr/>
        </p:nvSpPr>
        <p:spPr>
          <a:xfrm>
            <a:off x="35478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78 % identical to the modern enzyme — the closest of the three.</a:t>
            </a:r>
          </a:p>
        </p:txBody>
      </p:sp>
      <p:pic>
        <p:nvPicPr>
          <p:cNvPr id="12" name="!!anc2" descr="anc-n40.png"/>
          <p:cNvPicPr>
            <a:picLocks noChangeAspect="1"/>
          </p:cNvPicPr>
          <p:nvPr/>
        </p:nvPicPr>
        <p:blipFill>
          <a:blip r:embed="rId4"/>
          <a:stretch>
            <a:fillRect/>
          </a:stretch>
        </p:blipFill>
        <p:spPr>
          <a:xfrm>
            <a:off x="6492240" y="2103120"/>
            <a:ext cx="2112264" cy="1828800"/>
          </a:xfrm>
          <a:prstGeom prst="rect">
            <a:avLst/>
          </a:prstGeom>
        </p:spPr>
      </p:pic>
      <p:sp>
        <p:nvSpPr>
          <p:cNvPr id="13" name="!!anchead2"/>
          <p:cNvSpPr txBox="1"/>
          <p:nvPr/>
        </p:nvSpPr>
        <p:spPr>
          <a:xfrm>
            <a:off x="62910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40</a:t>
            </a:r>
          </a:p>
        </p:txBody>
      </p:sp>
      <p:sp>
        <p:nvSpPr>
          <p:cNvPr id="14" name="!!ancbody2"/>
          <p:cNvSpPr txBox="1"/>
          <p:nvPr/>
        </p:nvSpPr>
        <p:spPr>
          <a:xfrm>
            <a:off x="62910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53 % identical to the modern enzyme, 87 % to Node 281.</a:t>
            </a:r>
          </a:p>
        </p:txBody>
      </p:sp>
      <p:pic>
        <p:nvPicPr>
          <p:cNvPr id="15" name="!!anc3" descr="anc-n281.png"/>
          <p:cNvPicPr>
            <a:picLocks noChangeAspect="1"/>
          </p:cNvPicPr>
          <p:nvPr/>
        </p:nvPicPr>
        <p:blipFill>
          <a:blip r:embed="rId5"/>
          <a:stretch>
            <a:fillRect/>
          </a:stretch>
        </p:blipFill>
        <p:spPr>
          <a:xfrm>
            <a:off x="9220908" y="2103120"/>
            <a:ext cx="2141327" cy="1828800"/>
          </a:xfrm>
          <a:prstGeom prst="rect">
            <a:avLst/>
          </a:prstGeom>
        </p:spPr>
      </p:pic>
      <p:sp>
        <p:nvSpPr>
          <p:cNvPr id="16" name="!!anchead3"/>
          <p:cNvSpPr txBox="1"/>
          <p:nvPr/>
        </p:nvSpPr>
        <p:spPr>
          <a:xfrm>
            <a:off x="9034272" y="4069080"/>
            <a:ext cx="2514600" cy="914400"/>
          </a:xfrm>
          <a:prstGeom prst="rect">
            <a:avLst/>
          </a:prstGeom>
          <a:noFill/>
        </p:spPr>
        <p:txBody>
          <a:bodyPr wrap="square" anchor="t" lIns="0" rIns="0" tIns="0" bIns="0">
            <a:spAutoFit/>
          </a:bodyPr>
          <a:lstStyle/>
          <a:p>
            <a:pPr algn="ctr">
              <a:lnSpc>
                <a:spcPct val="125000"/>
              </a:lnSpc>
            </a:pPr>
            <a:r>
              <a:rPr sz="1600" b="1" i="0">
                <a:solidFill>
                  <a:srgbClr val="2D6A6A"/>
                </a:solidFill>
                <a:latin typeface="Avenir Next"/>
              </a:rPr>
              <a:t>Node 281</a:t>
            </a:r>
          </a:p>
        </p:txBody>
      </p:sp>
      <p:sp>
        <p:nvSpPr>
          <p:cNvPr id="17" name="!!ancbody3"/>
          <p:cNvSpPr txBox="1"/>
          <p:nvPr/>
        </p:nvSpPr>
        <p:spPr>
          <a:xfrm>
            <a:off x="9034272" y="4407408"/>
            <a:ext cx="2514600" cy="914400"/>
          </a:xfrm>
          <a:prstGeom prst="rect">
            <a:avLst/>
          </a:prstGeom>
          <a:noFill/>
        </p:spPr>
        <p:txBody>
          <a:bodyPr wrap="square" anchor="t" lIns="0" rIns="0" tIns="0" bIns="0">
            <a:spAutoFit/>
          </a:bodyPr>
          <a:lstStyle/>
          <a:p>
            <a:pPr algn="ctr">
              <a:lnSpc>
                <a:spcPct val="130000"/>
              </a:lnSpc>
            </a:pPr>
            <a:r>
              <a:rPr sz="1300" b="0" i="0">
                <a:solidFill>
                  <a:srgbClr val="55605F"/>
                </a:solidFill>
                <a:latin typeface="Avenir Next"/>
              </a:rPr>
              <a:t>51 % identical to the modern enzyme, 87 % to Node 40.</a:t>
            </a:r>
          </a:p>
        </p:txBody>
      </p:sp>
      <p:sp>
        <p:nvSpPr>
          <p:cNvPr id="18" name="TextBox 17"/>
          <p:cNvSpPr txBox="1"/>
          <p:nvPr/>
        </p:nvSpPr>
        <p:spPr>
          <a:xfrm>
            <a:off x="713232" y="5486400"/>
            <a:ext cx="10765231" cy="914400"/>
          </a:xfrm>
          <a:prstGeom prst="rect">
            <a:avLst/>
          </a:prstGeom>
          <a:noFill/>
        </p:spPr>
        <p:txBody>
          <a:bodyPr wrap="square" anchor="t" lIns="0" rIns="0" tIns="0" bIns="0">
            <a:spAutoFit/>
          </a:bodyPr>
          <a:lstStyle/>
          <a:p>
            <a:pPr algn="l">
              <a:lnSpc>
                <a:spcPct val="130000"/>
              </a:lnSpc>
            </a:pPr>
            <a:r>
              <a:rPr sz="1800" b="0" i="0">
                <a:solidFill>
                  <a:srgbClr val="1C2B2B"/>
                </a:solidFill>
                <a:latin typeface="Avenir Next"/>
              </a:rPr>
              <a:t>Our PI ran the alignment, the tree and the reconstruction on sequences we prepared — every node on the path from CDS 12 back to the root, 998 of them. We picked three to order as DNA.</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41</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BUILD</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All four fold to the same TIM barrel</a:t>
            </a:r>
          </a:p>
        </p:txBody>
      </p:sp>
      <p:pic>
        <p:nvPicPr>
          <p:cNvPr id="6" name="!!anc0" descr="anc-overlay.png"/>
          <p:cNvPicPr>
            <a:picLocks noChangeAspect="1"/>
          </p:cNvPicPr>
          <p:nvPr/>
        </p:nvPicPr>
        <p:blipFill>
          <a:blip r:embed="rId2"/>
          <a:stretch>
            <a:fillRect/>
          </a:stretch>
        </p:blipFill>
        <p:spPr>
          <a:xfrm>
            <a:off x="1225533" y="1920240"/>
            <a:ext cx="4827558" cy="3840480"/>
          </a:xfrm>
          <a:prstGeom prst="rect">
            <a:avLst/>
          </a:prstGeom>
        </p:spPr>
      </p:pic>
      <p:sp>
        <p:nvSpPr>
          <p:cNvPr id="7" name="Rounded Rectangle 6"/>
          <p:cNvSpPr/>
          <p:nvPr/>
        </p:nvSpPr>
        <p:spPr>
          <a:xfrm>
            <a:off x="6748272" y="2103120"/>
            <a:ext cx="4754880" cy="86868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TextBox 7"/>
          <p:cNvSpPr txBox="1"/>
          <p:nvPr/>
        </p:nvSpPr>
        <p:spPr>
          <a:xfrm>
            <a:off x="7040880" y="2304288"/>
            <a:ext cx="100584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6</a:t>
            </a:r>
          </a:p>
        </p:txBody>
      </p:sp>
      <p:sp>
        <p:nvSpPr>
          <p:cNvPr id="9" name="TextBox 8"/>
          <p:cNvSpPr txBox="1"/>
          <p:nvPr/>
        </p:nvSpPr>
        <p:spPr>
          <a:xfrm>
            <a:off x="8211312" y="2340864"/>
            <a:ext cx="301752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parts published on the Registry, under CC0</a:t>
            </a:r>
          </a:p>
        </p:txBody>
      </p:sp>
      <p:sp>
        <p:nvSpPr>
          <p:cNvPr id="10" name="Rounded Rectangle 9"/>
          <p:cNvSpPr/>
          <p:nvPr/>
        </p:nvSpPr>
        <p:spPr>
          <a:xfrm>
            <a:off x="6748272" y="3090672"/>
            <a:ext cx="4754880" cy="86868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7040880" y="3291840"/>
            <a:ext cx="100584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3</a:t>
            </a:r>
          </a:p>
        </p:txBody>
      </p:sp>
      <p:sp>
        <p:nvSpPr>
          <p:cNvPr id="12" name="TextBox 11"/>
          <p:cNvSpPr txBox="1"/>
          <p:nvPr/>
        </p:nvSpPr>
        <p:spPr>
          <a:xfrm>
            <a:off x="8211312" y="3328416"/>
            <a:ext cx="301752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of them reconstructed ancestors — sequences that exist nowhere in nature</a:t>
            </a:r>
          </a:p>
        </p:txBody>
      </p:sp>
      <p:sp>
        <p:nvSpPr>
          <p:cNvPr id="13" name="Rounded Rectangle 12"/>
          <p:cNvSpPr/>
          <p:nvPr/>
        </p:nvSpPr>
        <p:spPr>
          <a:xfrm>
            <a:off x="6748272" y="4078224"/>
            <a:ext cx="4754880" cy="86868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TextBox 13"/>
          <p:cNvSpPr txBox="1"/>
          <p:nvPr/>
        </p:nvSpPr>
        <p:spPr>
          <a:xfrm>
            <a:off x="7040880" y="4279392"/>
            <a:ext cx="1005840" cy="914400"/>
          </a:xfrm>
          <a:prstGeom prst="rect">
            <a:avLst/>
          </a:prstGeom>
          <a:noFill/>
        </p:spPr>
        <p:txBody>
          <a:bodyPr wrap="square" anchor="t" lIns="0" rIns="0" tIns="0" bIns="0">
            <a:spAutoFit/>
          </a:bodyPr>
          <a:lstStyle/>
          <a:p>
            <a:pPr algn="l">
              <a:lnSpc>
                <a:spcPct val="125000"/>
              </a:lnSpc>
            </a:pPr>
            <a:r>
              <a:rPr sz="2600" b="1" i="0">
                <a:solidFill>
                  <a:srgbClr val="2D6A6A"/>
                </a:solidFill>
                <a:latin typeface="Georgia"/>
              </a:rPr>
              <a:t>998</a:t>
            </a:r>
          </a:p>
        </p:txBody>
      </p:sp>
      <p:sp>
        <p:nvSpPr>
          <p:cNvPr id="15" name="TextBox 14"/>
          <p:cNvSpPr txBox="1"/>
          <p:nvPr/>
        </p:nvSpPr>
        <p:spPr>
          <a:xfrm>
            <a:off x="8211312" y="4315968"/>
            <a:ext cx="3017520" cy="914400"/>
          </a:xfrm>
          <a:prstGeom prst="rect">
            <a:avLst/>
          </a:prstGeom>
          <a:noFill/>
        </p:spPr>
        <p:txBody>
          <a:bodyPr wrap="square" anchor="t" lIns="0" rIns="0" tIns="0" bIns="0">
            <a:spAutoFit/>
          </a:bodyPr>
          <a:lstStyle/>
          <a:p>
            <a:pPr algn="l">
              <a:lnSpc>
                <a:spcPct val="125000"/>
              </a:lnSpc>
            </a:pPr>
            <a:r>
              <a:rPr sz="1400" b="0" i="0">
                <a:solidFill>
                  <a:srgbClr val="55605F"/>
                </a:solidFill>
                <a:latin typeface="Avenir Next"/>
              </a:rPr>
              <a:t>nodes reconstructed in total</a:t>
            </a:r>
          </a:p>
        </p:txBody>
      </p:sp>
      <p:sp>
        <p:nvSpPr>
          <p:cNvPr id="16" name="Rounded Rectangle 15"/>
          <p:cNvSpPr/>
          <p:nvPr/>
        </p:nvSpPr>
        <p:spPr>
          <a:xfrm>
            <a:off x="6748272" y="5166360"/>
            <a:ext cx="4754880" cy="105156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TextBox 16"/>
          <p:cNvSpPr txBox="1"/>
          <p:nvPr/>
        </p:nvSpPr>
        <p:spPr>
          <a:xfrm>
            <a:off x="7040880" y="5349240"/>
            <a:ext cx="4169663" cy="914400"/>
          </a:xfrm>
          <a:prstGeom prst="rect">
            <a:avLst/>
          </a:prstGeom>
          <a:noFill/>
        </p:spPr>
        <p:txBody>
          <a:bodyPr wrap="square" anchor="t" lIns="0" rIns="0" tIns="0" bIns="0">
            <a:spAutoFit/>
          </a:bodyPr>
          <a:lstStyle/>
          <a:p>
            <a:pPr algn="l">
              <a:lnSpc>
                <a:spcPct val="130000"/>
              </a:lnSpc>
            </a:pPr>
            <a:r>
              <a:rPr sz="1400" b="0" i="0">
                <a:solidFill>
                  <a:srgbClr val="1C2B2B"/>
                </a:solidFill>
                <a:latin typeface="Avenir Next"/>
              </a:rPr>
              <a:t>One warning we'd pass on: our first order was codon-optimised and our second wasn't. In an E. coli host that bias is the first thing to suspect when a band doesn't appear.</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42</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WHAT THE MODEL SAID, AND ITS OWN CONTROL</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Along the path to the root, the score improves steadily</a:t>
            </a:r>
          </a:p>
        </p:txBody>
      </p:sp>
      <p:pic>
        <p:nvPicPr>
          <p:cNvPr id="6" name="Picture 5" descr="zymctrl.png"/>
          <p:cNvPicPr>
            <a:picLocks noChangeAspect="1"/>
          </p:cNvPicPr>
          <p:nvPr/>
        </p:nvPicPr>
        <p:blipFill>
          <a:blip r:embed="rId2"/>
          <a:stretch>
            <a:fillRect/>
          </a:stretch>
        </p:blipFill>
        <p:spPr>
          <a:xfrm>
            <a:off x="850392" y="1965960"/>
            <a:ext cx="5943600" cy="3566160"/>
          </a:xfrm>
          <a:prstGeom prst="rect">
            <a:avLst/>
          </a:prstGeom>
        </p:spPr>
      </p:pic>
      <p:sp>
        <p:nvSpPr>
          <p:cNvPr id="7" name="TextBox 6"/>
          <p:cNvSpPr txBox="1"/>
          <p:nvPr/>
        </p:nvSpPr>
        <p:spPr>
          <a:xfrm>
            <a:off x="7388352" y="2057400"/>
            <a:ext cx="4114800" cy="914400"/>
          </a:xfrm>
          <a:prstGeom prst="rect">
            <a:avLst/>
          </a:prstGeom>
          <a:noFill/>
        </p:spPr>
        <p:txBody>
          <a:bodyPr wrap="square" anchor="t" lIns="0" rIns="0" tIns="0" bIns="0">
            <a:spAutoFit/>
          </a:bodyPr>
          <a:lstStyle/>
          <a:p>
            <a:pPr algn="l">
              <a:lnSpc>
                <a:spcPct val="135000"/>
              </a:lnSpc>
            </a:pPr>
            <a:r>
              <a:rPr sz="1700" b="0" i="0">
                <a:solidFill>
                  <a:srgbClr val="1C2B2B"/>
                </a:solidFill>
                <a:latin typeface="Avenir Next"/>
              </a:rPr>
              <a:t>Scored against twenty-four glycoside-hydrolase classes, the label the model likes best is endo-1,4-β-glucanase — the same chemistry the structure points at.</a:t>
            </a:r>
          </a:p>
        </p:txBody>
      </p:sp>
      <p:sp>
        <p:nvSpPr>
          <p:cNvPr id="8" name="Rounded Rectangle 7"/>
          <p:cNvSpPr/>
          <p:nvPr/>
        </p:nvSpPr>
        <p:spPr>
          <a:xfrm>
            <a:off x="7388352" y="3291840"/>
            <a:ext cx="4114800" cy="192024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TextBox 8"/>
          <p:cNvSpPr txBox="1"/>
          <p:nvPr/>
        </p:nvSpPr>
        <p:spPr>
          <a:xfrm>
            <a:off x="7662672" y="3474720"/>
            <a:ext cx="3566160" cy="914400"/>
          </a:xfrm>
          <a:prstGeom prst="rect">
            <a:avLst/>
          </a:prstGeom>
          <a:noFill/>
        </p:spPr>
        <p:txBody>
          <a:bodyPr wrap="square" anchor="t" lIns="0" rIns="0" tIns="0" bIns="0">
            <a:spAutoFit/>
          </a:bodyPr>
          <a:lstStyle/>
          <a:p>
            <a:pPr algn="l">
              <a:lnSpc>
                <a:spcPct val="125000"/>
              </a:lnSpc>
            </a:pPr>
            <a:r>
              <a:rPr sz="1600" b="1" i="0">
                <a:solidFill>
                  <a:srgbClr val="B4542E"/>
                </a:solidFill>
                <a:latin typeface="Avenir Next"/>
              </a:rPr>
              <a:t>Except it doesn't survive its own control</a:t>
            </a:r>
          </a:p>
        </p:txBody>
      </p:sp>
      <p:sp>
        <p:nvSpPr>
          <p:cNvPr id="10" name="TextBox 9"/>
          <p:cNvSpPr txBox="1"/>
          <p:nvPr/>
        </p:nvSpPr>
        <p:spPr>
          <a:xfrm>
            <a:off x="7662672" y="3840480"/>
            <a:ext cx="3566160" cy="914400"/>
          </a:xfrm>
          <a:prstGeom prst="rect">
            <a:avLst/>
          </a:prstGeom>
          <a:noFill/>
        </p:spPr>
        <p:txBody>
          <a:bodyPr wrap="square" anchor="t" lIns="0" rIns="0" tIns="0" bIns="0">
            <a:spAutoFit/>
          </a:bodyPr>
          <a:lstStyle/>
          <a:p>
            <a:pPr algn="l">
              <a:lnSpc>
                <a:spcPct val="130000"/>
              </a:lnSpc>
            </a:pPr>
            <a:r>
              <a:rPr sz="1400" b="0" i="0">
                <a:solidFill>
                  <a:srgbClr val="1C2B2B"/>
                </a:solidFill>
                <a:latin typeface="Avenir Next"/>
              </a:rPr>
              <a:t>A reconstructed ancestor is consensus-like by construction, so it scores better under almost any label — and it does, in 21 of the 24 classes. Direction alone proves nothing.</a:t>
            </a:r>
          </a:p>
        </p:txBody>
      </p:sp>
      <p:sp>
        <p:nvSpPr>
          <p:cNvPr id="11" name="TextBox 10"/>
          <p:cNvSpPr txBox="1"/>
          <p:nvPr/>
        </p:nvSpPr>
        <p:spPr>
          <a:xfrm>
            <a:off x="7388352" y="5440680"/>
            <a:ext cx="4114800" cy="914400"/>
          </a:xfrm>
          <a:prstGeom prst="rect">
            <a:avLst/>
          </a:prstGeom>
          <a:noFill/>
        </p:spPr>
        <p:txBody>
          <a:bodyPr wrap="square" anchor="t" lIns="0" rIns="0" tIns="0" bIns="0">
            <a:spAutoFit/>
          </a:bodyPr>
          <a:lstStyle/>
          <a:p>
            <a:pPr algn="l">
              <a:lnSpc>
                <a:spcPct val="130000"/>
              </a:lnSpc>
            </a:pPr>
            <a:r>
              <a:rPr sz="1600" b="1" i="0">
                <a:solidFill>
                  <a:srgbClr val="1C2B2B"/>
                </a:solidFill>
                <a:latin typeface="Avenir Next"/>
              </a:rPr>
              <a:t>And perplexity isn't activity. Nothing here measures substrate range — which is the whole point of the panel.</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43</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Four rounds at the bench, and they didn't line up neatly</a:t>
            </a:r>
          </a:p>
        </p:txBody>
      </p:sp>
      <p:sp>
        <p:nvSpPr>
          <p:cNvPr id="6" name="Rectangle 5"/>
          <p:cNvSpPr/>
          <p:nvPr/>
        </p:nvSpPr>
        <p:spPr>
          <a:xfrm>
            <a:off x="713232" y="2103120"/>
            <a:ext cx="6400800" cy="841248"/>
          </a:xfrm>
          <a:prstGeom prst="rect">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50976" y="2359152"/>
            <a:ext cx="1005840" cy="914400"/>
          </a:xfrm>
          <a:prstGeom prst="rect">
            <a:avLst/>
          </a:prstGeom>
          <a:noFill/>
        </p:spPr>
        <p:txBody>
          <a:bodyPr wrap="square" anchor="t" lIns="0" rIns="0" tIns="0" bIns="0">
            <a:spAutoFit/>
          </a:bodyPr>
          <a:lstStyle/>
          <a:p>
            <a:pPr algn="l">
              <a:lnSpc>
                <a:spcPct val="125000"/>
              </a:lnSpc>
            </a:pPr>
            <a:r>
              <a:rPr sz="1500" b="1" i="0">
                <a:solidFill>
                  <a:srgbClr val="1C2B2B"/>
                </a:solidFill>
                <a:latin typeface="Avenir Next"/>
              </a:rPr>
              <a:t>15 Sep</a:t>
            </a:r>
          </a:p>
        </p:txBody>
      </p:sp>
      <p:sp>
        <p:nvSpPr>
          <p:cNvPr id="8" name="TextBox 7"/>
          <p:cNvSpPr txBox="1"/>
          <p:nvPr/>
        </p:nvSpPr>
        <p:spPr>
          <a:xfrm>
            <a:off x="2084832" y="2249424"/>
            <a:ext cx="484632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Two gels, four constructs, induced against uninduced — no detectable induction on either. The tail spike lane essentially blank.</a:t>
            </a:r>
          </a:p>
        </p:txBody>
      </p:sp>
      <p:sp>
        <p:nvSpPr>
          <p:cNvPr id="9" name="Rectangle 8"/>
          <p:cNvSpPr/>
          <p:nvPr/>
        </p:nvSpPr>
        <p:spPr>
          <a:xfrm>
            <a:off x="713232" y="2999232"/>
            <a:ext cx="6400800" cy="841248"/>
          </a:xfrm>
          <a:prstGeom prst="rect">
            <a:avLst/>
          </a:prstGeom>
          <a:solidFill>
            <a:srgbClr val="EAF0EE"/>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950976" y="3255264"/>
            <a:ext cx="1005840" cy="914400"/>
          </a:xfrm>
          <a:prstGeom prst="rect">
            <a:avLst/>
          </a:prstGeom>
          <a:noFill/>
        </p:spPr>
        <p:txBody>
          <a:bodyPr wrap="square" anchor="t" lIns="0" rIns="0" tIns="0" bIns="0">
            <a:spAutoFit/>
          </a:bodyPr>
          <a:lstStyle/>
          <a:p>
            <a:pPr algn="l">
              <a:lnSpc>
                <a:spcPct val="125000"/>
              </a:lnSpc>
            </a:pPr>
            <a:r>
              <a:rPr sz="1500" b="1" i="0">
                <a:solidFill>
                  <a:srgbClr val="1C2B2B"/>
                </a:solidFill>
                <a:latin typeface="Avenir Next"/>
              </a:rPr>
              <a:t>29 Sep</a:t>
            </a:r>
          </a:p>
        </p:txBody>
      </p:sp>
      <p:sp>
        <p:nvSpPr>
          <p:cNvPr id="11" name="TextBox 10"/>
          <p:cNvSpPr txBox="1"/>
          <p:nvPr/>
        </p:nvSpPr>
        <p:spPr>
          <a:xfrm>
            <a:off x="2084832" y="3145536"/>
            <a:ext cx="484632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CDS 12 gives the first induction-dependent band at the right size.</a:t>
            </a:r>
          </a:p>
        </p:txBody>
      </p:sp>
      <p:sp>
        <p:nvSpPr>
          <p:cNvPr id="12" name="Rectangle 11"/>
          <p:cNvSpPr/>
          <p:nvPr/>
        </p:nvSpPr>
        <p:spPr>
          <a:xfrm>
            <a:off x="713232" y="3895344"/>
            <a:ext cx="6400800" cy="841248"/>
          </a:xfrm>
          <a:prstGeom prst="rect">
            <a:avLst/>
          </a:prstGeom>
          <a:solidFill>
            <a:srgbClr val="EAF0EE"/>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950976" y="4151376"/>
            <a:ext cx="1005840" cy="914400"/>
          </a:xfrm>
          <a:prstGeom prst="rect">
            <a:avLst/>
          </a:prstGeom>
          <a:noFill/>
        </p:spPr>
        <p:txBody>
          <a:bodyPr wrap="square" anchor="t" lIns="0" rIns="0" tIns="0" bIns="0">
            <a:spAutoFit/>
          </a:bodyPr>
          <a:lstStyle/>
          <a:p>
            <a:pPr algn="l">
              <a:lnSpc>
                <a:spcPct val="125000"/>
              </a:lnSpc>
            </a:pPr>
            <a:r>
              <a:rPr sz="1500" b="1" i="0">
                <a:solidFill>
                  <a:srgbClr val="1C2B2B"/>
                </a:solidFill>
                <a:latin typeface="Avenir Next"/>
              </a:rPr>
              <a:t>1 Oct</a:t>
            </a:r>
          </a:p>
        </p:txBody>
      </p:sp>
      <p:sp>
        <p:nvSpPr>
          <p:cNvPr id="14" name="TextBox 13"/>
          <p:cNvSpPr txBox="1"/>
          <p:nvPr/>
        </p:nvSpPr>
        <p:spPr>
          <a:xfrm>
            <a:off x="2084832" y="4041648"/>
            <a:ext cx="484632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Nickel columns on six constructs. The first ancestor eluted at its predicted mass — the only construct that did. The tail spike eluted something, 29 kDa short.</a:t>
            </a:r>
          </a:p>
        </p:txBody>
      </p:sp>
      <p:sp>
        <p:nvSpPr>
          <p:cNvPr id="15" name="Rectangle 14"/>
          <p:cNvSpPr/>
          <p:nvPr/>
        </p:nvSpPr>
        <p:spPr>
          <a:xfrm>
            <a:off x="713232" y="4791456"/>
            <a:ext cx="6400800" cy="841248"/>
          </a:xfrm>
          <a:prstGeom prst="rect">
            <a:avLst/>
          </a:prstGeom>
          <a:solidFill>
            <a:srgbClr val="F6E7E0"/>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TextBox 15"/>
          <p:cNvSpPr txBox="1"/>
          <p:nvPr/>
        </p:nvSpPr>
        <p:spPr>
          <a:xfrm>
            <a:off x="950976" y="5047488"/>
            <a:ext cx="1005840" cy="914400"/>
          </a:xfrm>
          <a:prstGeom prst="rect">
            <a:avLst/>
          </a:prstGeom>
          <a:noFill/>
        </p:spPr>
        <p:txBody>
          <a:bodyPr wrap="square" anchor="t" lIns="0" rIns="0" tIns="0" bIns="0">
            <a:spAutoFit/>
          </a:bodyPr>
          <a:lstStyle/>
          <a:p>
            <a:pPr algn="l">
              <a:lnSpc>
                <a:spcPct val="125000"/>
              </a:lnSpc>
            </a:pPr>
            <a:r>
              <a:rPr sz="1500" b="1" i="0">
                <a:solidFill>
                  <a:srgbClr val="1C2B2B"/>
                </a:solidFill>
                <a:latin typeface="Avenir Next"/>
              </a:rPr>
              <a:t>10 Oct</a:t>
            </a:r>
          </a:p>
        </p:txBody>
      </p:sp>
      <p:sp>
        <p:nvSpPr>
          <p:cNvPr id="17" name="TextBox 16"/>
          <p:cNvSpPr txBox="1"/>
          <p:nvPr/>
        </p:nvSpPr>
        <p:spPr>
          <a:xfrm>
            <a:off x="2084832" y="4937760"/>
            <a:ext cx="484632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Same column, second ancestor. Both elutions blank; the load and the flow-through carried the same band.</a:t>
            </a:r>
          </a:p>
        </p:txBody>
      </p:sp>
      <p:pic>
        <p:nvPicPr>
          <p:cNvPr id="18" name="Picture 17" descr="gel0929.png"/>
          <p:cNvPicPr>
            <a:picLocks noChangeAspect="1"/>
          </p:cNvPicPr>
          <p:nvPr/>
        </p:nvPicPr>
        <p:blipFill>
          <a:blip r:embed="rId2"/>
          <a:stretch>
            <a:fillRect/>
          </a:stretch>
        </p:blipFill>
        <p:spPr>
          <a:xfrm>
            <a:off x="8619880" y="2103120"/>
            <a:ext cx="1834624" cy="1600200"/>
          </a:xfrm>
          <a:prstGeom prst="rect">
            <a:avLst/>
          </a:prstGeom>
        </p:spPr>
      </p:pic>
      <p:pic>
        <p:nvPicPr>
          <p:cNvPr id="19" name="Picture 18" descr="gel1010.png"/>
          <p:cNvPicPr>
            <a:picLocks noChangeAspect="1"/>
          </p:cNvPicPr>
          <p:nvPr/>
        </p:nvPicPr>
        <p:blipFill>
          <a:blip r:embed="rId3"/>
          <a:stretch>
            <a:fillRect/>
          </a:stretch>
        </p:blipFill>
        <p:spPr>
          <a:xfrm>
            <a:off x="8469601" y="3840480"/>
            <a:ext cx="2135181" cy="1600200"/>
          </a:xfrm>
          <a:prstGeom prst="rect">
            <a:avLst/>
          </a:prstGeom>
        </p:spPr>
      </p:pic>
      <p:sp>
        <p:nvSpPr>
          <p:cNvPr id="20" name="TextBox 19"/>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B4542E"/>
                </a:solidFill>
                <a:latin typeface="Avenir Next"/>
              </a:rPr>
              <a:t>Empty-vector BL21 lane: absent in all eight protein assays</a:t>
            </a:r>
          </a:p>
        </p:txBody>
      </p:sp>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44</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3 · LEARN — HUMAN PRACTICES</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What stopped us wasn't an experiment. It was a conversation.</a:t>
            </a:r>
          </a:p>
        </p:txBody>
      </p:sp>
      <p:sp>
        <p:nvSpPr>
          <p:cNvPr id="6" name="Rectangle 5"/>
          <p:cNvSpPr/>
          <p:nvPr/>
        </p:nvSpPr>
        <p:spPr>
          <a:xfrm>
            <a:off x="713232" y="2103120"/>
            <a:ext cx="54864" cy="14173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1033272" y="2194560"/>
            <a:ext cx="5760720" cy="914400"/>
          </a:xfrm>
          <a:prstGeom prst="rect">
            <a:avLst/>
          </a:prstGeom>
          <a:noFill/>
        </p:spPr>
        <p:txBody>
          <a:bodyPr wrap="square" anchor="t" lIns="0" rIns="0" tIns="0" bIns="0">
            <a:spAutoFit/>
          </a:bodyPr>
          <a:lstStyle/>
          <a:p>
            <a:pPr algn="l">
              <a:lnSpc>
                <a:spcPct val="130000"/>
              </a:lnSpc>
            </a:pPr>
            <a:r>
              <a:rPr sz="2000" b="0" i="1">
                <a:solidFill>
                  <a:srgbClr val="1C2B2B"/>
                </a:solidFill>
                <a:latin typeface="Avenir Next"/>
              </a:rPr>
              <a:t>He changed the question. Not why is nothing eluting, but is there anything there to elute.</a:t>
            </a:r>
          </a:p>
        </p:txBody>
      </p:sp>
      <p:sp>
        <p:nvSpPr>
          <p:cNvPr id="8" name="TextBox 7"/>
          <p:cNvSpPr txBox="1"/>
          <p:nvPr/>
        </p:nvSpPr>
        <p:spPr>
          <a:xfrm>
            <a:off x="1033272" y="3017520"/>
            <a:ext cx="5760720" cy="914400"/>
          </a:xfrm>
          <a:prstGeom prst="rect">
            <a:avLst/>
          </a:prstGeom>
          <a:noFill/>
        </p:spPr>
        <p:txBody>
          <a:bodyPr wrap="square" anchor="t" lIns="0" rIns="0" tIns="0" bIns="0">
            <a:spAutoFit/>
          </a:bodyPr>
          <a:lstStyle/>
          <a:p>
            <a:pPr algn="l">
              <a:lnSpc>
                <a:spcPct val="130000"/>
              </a:lnSpc>
            </a:pPr>
            <a:r>
              <a:rPr sz="1400" b="0" i="0">
                <a:solidFill>
                  <a:srgbClr val="55605F"/>
                </a:solidFill>
                <a:latin typeface="Avenir Next"/>
              </a:rPr>
              <a:t>Prof. Ilya Tolstorukov, Keck Graduate Institute · 13 October 2026. He wrote back before we met to say expression was his field and purification wasn't — and met us anyway.</a:t>
            </a:r>
          </a:p>
        </p:txBody>
      </p:sp>
      <p:sp>
        <p:nvSpPr>
          <p:cNvPr id="9" name="TextBox 8"/>
          <p:cNvSpPr txBox="1"/>
          <p:nvPr/>
        </p:nvSpPr>
        <p:spPr>
          <a:xfrm>
            <a:off x="713232" y="3840480"/>
            <a:ext cx="6035040" cy="914400"/>
          </a:xfrm>
          <a:prstGeom prst="rect">
            <a:avLst/>
          </a:prstGeom>
          <a:noFill/>
        </p:spPr>
        <p:txBody>
          <a:bodyPr wrap="square" anchor="t" lIns="0" rIns="0" tIns="0" bIns="0">
            <a:spAutoFit/>
          </a:bodyPr>
          <a:lstStyle/>
          <a:p>
            <a:pPr algn="l">
              <a:lnSpc>
                <a:spcPct val="135000"/>
              </a:lnSpc>
            </a:pPr>
            <a:r>
              <a:rPr sz="1600" b="0" i="0">
                <a:solidFill>
                  <a:srgbClr val="1C2B2B"/>
                </a:solidFill>
                <a:latin typeface="Avenir Next"/>
              </a:rPr>
              <a:t>Check whether the protein is being made at all — an anti-His dot blot — before touching the column again. Run uninduced controls. Standardise what goes onto a membrane before comparing spots on it.</a:t>
            </a:r>
          </a:p>
        </p:txBody>
      </p:sp>
      <p:sp>
        <p:nvSpPr>
          <p:cNvPr id="10" name="Rounded Rectangle 9"/>
          <p:cNvSpPr/>
          <p:nvPr/>
        </p:nvSpPr>
        <p:spPr>
          <a:xfrm>
            <a:off x="713232" y="4937760"/>
            <a:ext cx="6035040" cy="1188720"/>
          </a:xfrm>
          <a:prstGeom prst="roundRect">
            <a:avLst>
              <a:gd name="adj" fmla="val 6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1033272" y="5120640"/>
            <a:ext cx="5394960" cy="914400"/>
          </a:xfrm>
          <a:prstGeom prst="rect">
            <a:avLst/>
          </a:prstGeom>
          <a:noFill/>
        </p:spPr>
        <p:txBody>
          <a:bodyPr wrap="square" anchor="t" lIns="0" rIns="0" tIns="0" bIns="0">
            <a:spAutoFit/>
          </a:bodyPr>
          <a:lstStyle/>
          <a:p>
            <a:pPr algn="l">
              <a:lnSpc>
                <a:spcPct val="125000"/>
              </a:lnSpc>
            </a:pPr>
            <a:r>
              <a:rPr sz="1900" b="0" i="0">
                <a:solidFill>
                  <a:srgbClr val="F7F4EE"/>
                </a:solidFill>
                <a:latin typeface="Avenir Next"/>
              </a:rPr>
              <a:t>Six days later: the flow-through read 2.9× the negative control.</a:t>
            </a:r>
          </a:p>
        </p:txBody>
      </p:sp>
      <p:sp>
        <p:nvSpPr>
          <p:cNvPr id="12" name="TextBox 11"/>
          <p:cNvSpPr txBox="1"/>
          <p:nvPr/>
        </p:nvSpPr>
        <p:spPr>
          <a:xfrm>
            <a:off x="1033272" y="5650992"/>
            <a:ext cx="5394960" cy="914400"/>
          </a:xfrm>
          <a:prstGeom prst="rect">
            <a:avLst/>
          </a:prstGeom>
          <a:noFill/>
        </p:spPr>
        <p:txBody>
          <a:bodyPr wrap="square" anchor="t" lIns="0" rIns="0" tIns="0" bIns="0">
            <a:spAutoFit/>
          </a:bodyPr>
          <a:lstStyle/>
          <a:p>
            <a:pPr algn="l">
              <a:lnSpc>
                <a:spcPct val="125000"/>
              </a:lnSpc>
            </a:pPr>
            <a:r>
              <a:rPr sz="1400" b="0" i="0">
                <a:solidFill>
                  <a:srgbClr val="C8D8D4"/>
                </a:solidFill>
                <a:latin typeface="Avenir Next"/>
              </a:rPr>
              <a:t>The protein had been there all along. The run failed at capture — not at expression.</a:t>
            </a:r>
          </a:p>
        </p:txBody>
      </p:sp>
      <p:pic>
        <p:nvPicPr>
          <p:cNvPr id="13" name="Picture 12" descr="dotblot.png"/>
          <p:cNvPicPr>
            <a:picLocks noChangeAspect="1"/>
          </p:cNvPicPr>
          <p:nvPr/>
        </p:nvPicPr>
        <p:blipFill>
          <a:blip r:embed="rId2"/>
          <a:stretch>
            <a:fillRect/>
          </a:stretch>
        </p:blipFill>
        <p:spPr>
          <a:xfrm>
            <a:off x="7205472" y="2292274"/>
            <a:ext cx="4297680" cy="1907692"/>
          </a:xfrm>
          <a:prstGeom prst="rect">
            <a:avLst/>
          </a:prstGeom>
        </p:spPr>
      </p:pic>
      <p:sp>
        <p:nvSpPr>
          <p:cNvPr id="14" name="TextBox 13"/>
          <p:cNvSpPr txBox="1"/>
          <p:nvPr/>
        </p:nvSpPr>
        <p:spPr>
          <a:xfrm>
            <a:off x="7205472" y="4480560"/>
            <a:ext cx="429768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A gel can't tell them apart: no expression, insoluble protein, and a column that didn't bind all look identical. One cheap assay separates them — and pointed our fix at the column instead of the construct.</a:t>
            </a:r>
          </a:p>
        </p:txBody>
      </p:sp>
      <p:sp>
        <p:nvSpPr>
          <p:cNvPr id="15" name="TextBox 14"/>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We debugged the last step of a workflow for a week without checking the first step worked. One meeting fixed it.</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3 · THE ASSAY THE WHOLE PROJECT POINTS AT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Does an enzyme, on its own, do anything to the sugar?</a:t>
            </a:r>
          </a:p>
        </p:txBody>
      </p:sp>
      <p:pic>
        <p:nvPicPr>
          <p:cNvPr id="6" name="Picture 5" descr="spottest.png"/>
          <p:cNvPicPr>
            <a:picLocks noChangeAspect="1"/>
          </p:cNvPicPr>
          <p:nvPr/>
        </p:nvPicPr>
        <p:blipFill>
          <a:blip r:embed="rId2"/>
          <a:stretch>
            <a:fillRect/>
          </a:stretch>
        </p:blipFill>
        <p:spPr>
          <a:xfrm>
            <a:off x="1127387" y="2011680"/>
            <a:ext cx="5115290" cy="3108960"/>
          </a:xfrm>
          <a:prstGeom prst="rect">
            <a:avLst/>
          </a:prstGeom>
        </p:spPr>
      </p:pic>
      <p:sp>
        <p:nvSpPr>
          <p:cNvPr id="7" name="Rounded Rectangle 6"/>
          <p:cNvSpPr/>
          <p:nvPr/>
        </p:nvSpPr>
        <p:spPr>
          <a:xfrm>
            <a:off x="7205472" y="2057400"/>
            <a:ext cx="2057400" cy="137160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TextBox 7"/>
          <p:cNvSpPr txBox="1"/>
          <p:nvPr/>
        </p:nvSpPr>
        <p:spPr>
          <a:xfrm>
            <a:off x="7461504" y="2240280"/>
            <a:ext cx="1554480" cy="914400"/>
          </a:xfrm>
          <a:prstGeom prst="rect">
            <a:avLst/>
          </a:prstGeom>
          <a:noFill/>
        </p:spPr>
        <p:txBody>
          <a:bodyPr wrap="square" anchor="t" lIns="0" rIns="0" tIns="0" bIns="0">
            <a:spAutoFit/>
          </a:bodyPr>
          <a:lstStyle/>
          <a:p>
            <a:pPr algn="l">
              <a:lnSpc>
                <a:spcPct val="125000"/>
              </a:lnSpc>
            </a:pPr>
            <a:r>
              <a:rPr sz="2800" b="1" i="0">
                <a:solidFill>
                  <a:srgbClr val="2D6A6A"/>
                </a:solidFill>
                <a:latin typeface="Georgia"/>
              </a:rPr>
              <a:t>12 %</a:t>
            </a:r>
          </a:p>
        </p:txBody>
      </p:sp>
      <p:sp>
        <p:nvSpPr>
          <p:cNvPr id="9" name="TextBox 8"/>
          <p:cNvSpPr txBox="1"/>
          <p:nvPr/>
        </p:nvSpPr>
        <p:spPr>
          <a:xfrm>
            <a:off x="7461504" y="2697480"/>
            <a:ext cx="1554480" cy="914400"/>
          </a:xfrm>
          <a:prstGeom prst="rect">
            <a:avLst/>
          </a:prstGeom>
          <a:noFill/>
        </p:spPr>
        <p:txBody>
          <a:bodyPr wrap="square" anchor="t" lIns="0" rIns="0" tIns="0" bIns="0">
            <a:spAutoFit/>
          </a:bodyPr>
          <a:lstStyle/>
          <a:p>
            <a:pPr algn="l">
              <a:lnSpc>
                <a:spcPct val="125000"/>
              </a:lnSpc>
            </a:pPr>
            <a:r>
              <a:rPr sz="1200" b="0" i="0">
                <a:solidFill>
                  <a:srgbClr val="55605F"/>
                </a:solidFill>
                <a:latin typeface="Avenir Next"/>
              </a:rPr>
              <a:t>median colony count under the first ancestor, against the plate's PBS control</a:t>
            </a:r>
          </a:p>
        </p:txBody>
      </p:sp>
      <p:sp>
        <p:nvSpPr>
          <p:cNvPr id="10" name="Rounded Rectangle 9"/>
          <p:cNvSpPr/>
          <p:nvPr/>
        </p:nvSpPr>
        <p:spPr>
          <a:xfrm>
            <a:off x="9445752" y="2057400"/>
            <a:ext cx="2057400" cy="137160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TextBox 10"/>
          <p:cNvSpPr txBox="1"/>
          <p:nvPr/>
        </p:nvSpPr>
        <p:spPr>
          <a:xfrm>
            <a:off x="9701784" y="2240280"/>
            <a:ext cx="1554480" cy="914400"/>
          </a:xfrm>
          <a:prstGeom prst="rect">
            <a:avLst/>
          </a:prstGeom>
          <a:noFill/>
        </p:spPr>
        <p:txBody>
          <a:bodyPr wrap="square" anchor="t" lIns="0" rIns="0" tIns="0" bIns="0">
            <a:spAutoFit/>
          </a:bodyPr>
          <a:lstStyle/>
          <a:p>
            <a:pPr algn="l">
              <a:lnSpc>
                <a:spcPct val="125000"/>
              </a:lnSpc>
            </a:pPr>
            <a:r>
              <a:rPr sz="2800" b="1" i="0">
                <a:solidFill>
                  <a:srgbClr val="2D6A6A"/>
                </a:solidFill>
                <a:latin typeface="Georgia"/>
              </a:rPr>
              <a:t>0 %</a:t>
            </a:r>
          </a:p>
        </p:txBody>
      </p:sp>
      <p:sp>
        <p:nvSpPr>
          <p:cNvPr id="12" name="TextBox 11"/>
          <p:cNvSpPr txBox="1"/>
          <p:nvPr/>
        </p:nvSpPr>
        <p:spPr>
          <a:xfrm>
            <a:off x="9701784" y="2697480"/>
            <a:ext cx="1554480" cy="914400"/>
          </a:xfrm>
          <a:prstGeom prst="rect">
            <a:avLst/>
          </a:prstGeom>
          <a:noFill/>
        </p:spPr>
        <p:txBody>
          <a:bodyPr wrap="square" anchor="t" lIns="0" rIns="0" tIns="0" bIns="0">
            <a:spAutoFit/>
          </a:bodyPr>
          <a:lstStyle/>
          <a:p>
            <a:pPr algn="l">
              <a:lnSpc>
                <a:spcPct val="125000"/>
              </a:lnSpc>
            </a:pPr>
            <a:r>
              <a:rPr sz="1200" b="0" i="0">
                <a:solidFill>
                  <a:srgbClr val="55605F"/>
                </a:solidFill>
                <a:latin typeface="Avenir Next"/>
              </a:rPr>
              <a:t>Φ8's own median, over the same seven strains</a:t>
            </a:r>
          </a:p>
        </p:txBody>
      </p:sp>
      <p:sp>
        <p:nvSpPr>
          <p:cNvPr id="13" name="TextBox 12"/>
          <p:cNvSpPr txBox="1"/>
          <p:nvPr/>
        </p:nvSpPr>
        <p:spPr>
          <a:xfrm>
            <a:off x="7205472" y="3611880"/>
            <a:ext cx="4297680" cy="914400"/>
          </a:xfrm>
          <a:prstGeom prst="rect">
            <a:avLst/>
          </a:prstGeom>
          <a:noFill/>
        </p:spPr>
        <p:txBody>
          <a:bodyPr wrap="square" anchor="t" lIns="0" rIns="0" tIns="0" bIns="0">
            <a:spAutoFit/>
          </a:bodyPr>
          <a:lstStyle/>
          <a:p>
            <a:pPr algn="l">
              <a:lnSpc>
                <a:spcPct val="130000"/>
              </a:lnSpc>
            </a:pPr>
            <a:r>
              <a:rPr sz="1500" b="0" i="0">
                <a:solidFill>
                  <a:srgbClr val="55605F"/>
                </a:solidFill>
                <a:latin typeface="Avenir Next"/>
              </a:rPr>
              <a:t>No visible lysis on any plate — including Φ8 on its own hosts — so the assay was never reading clearing. Counting colonies inside the drops gives a number.</a:t>
            </a:r>
          </a:p>
        </p:txBody>
      </p:sp>
      <p:sp>
        <p:nvSpPr>
          <p:cNvPr id="14" name="Rounded Rectangle 13"/>
          <p:cNvSpPr/>
          <p:nvPr/>
        </p:nvSpPr>
        <p:spPr>
          <a:xfrm>
            <a:off x="7205472" y="4480560"/>
            <a:ext cx="4297680" cy="150876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TextBox 14"/>
          <p:cNvSpPr txBox="1"/>
          <p:nvPr/>
        </p:nvSpPr>
        <p:spPr>
          <a:xfrm>
            <a:off x="7479792" y="4645152"/>
            <a:ext cx="3749039" cy="914400"/>
          </a:xfrm>
          <a:prstGeom prst="rect">
            <a:avLst/>
          </a:prstGeom>
          <a:noFill/>
        </p:spPr>
        <p:txBody>
          <a:bodyPr wrap="square" anchor="t" lIns="0" rIns="0" tIns="0" bIns="0">
            <a:spAutoFit/>
          </a:bodyPr>
          <a:lstStyle/>
          <a:p>
            <a:pPr algn="l">
              <a:lnSpc>
                <a:spcPct val="125000"/>
              </a:lnSpc>
            </a:pPr>
            <a:r>
              <a:rPr sz="1400" b="1" i="0">
                <a:solidFill>
                  <a:srgbClr val="B4542E"/>
                </a:solidFill>
                <a:latin typeface="Avenir Next"/>
              </a:rPr>
              <a:t>Our PI reads that as enzyme activity. Before we call it that ourselves:</a:t>
            </a:r>
          </a:p>
        </p:txBody>
      </p:sp>
      <p:sp>
        <p:nvSpPr>
          <p:cNvPr id="16" name="TextBox 15"/>
          <p:cNvSpPr txBox="1"/>
          <p:nvPr/>
        </p:nvSpPr>
        <p:spPr>
          <a:xfrm>
            <a:off x="7479792" y="5029200"/>
            <a:ext cx="3749039" cy="914400"/>
          </a:xfrm>
          <a:prstGeom prst="rect">
            <a:avLst/>
          </a:prstGeom>
          <a:noFill/>
        </p:spPr>
        <p:txBody>
          <a:bodyPr wrap="square" anchor="t" lIns="0" rIns="0" tIns="0" bIns="0">
            <a:spAutoFit/>
          </a:bodyPr>
          <a:lstStyle/>
          <a:p>
            <a:pPr algn="l">
              <a:lnSpc>
                <a:spcPct val="130000"/>
              </a:lnSpc>
            </a:pPr>
            <a:r>
              <a:rPr sz="1300" b="0" i="0">
                <a:solidFill>
                  <a:srgbClr val="1C2B2B"/>
                </a:solidFill>
                <a:latin typeface="Avenir Next"/>
              </a:rPr>
              <a:t>The carry-over control was not run.</a:t>
            </a:r>
          </a:p>
          <a:p>
            <a:pPr algn="l">
              <a:lnSpc>
                <a:spcPct val="130000"/>
              </a:lnSpc>
            </a:pPr>
            <a:r>
              <a:rPr sz="1300" b="0" i="0">
                <a:solidFill>
                  <a:srgbClr val="1C2B2B"/>
                </a:solidFill>
                <a:latin typeface="Avenir Next"/>
              </a:rPr>
              <a:t>Those dilutions later read at or below our own dot blot's detection floor.</a:t>
            </a:r>
          </a:p>
        </p:txBody>
      </p:sp>
      <p:sp>
        <p:nvSpPr>
          <p:cNvPr id="17" name="TextBox 16"/>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The strongest activity signal we have — and it is one plate.</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B4542E"/>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46</a:t>
            </a:r>
          </a:p>
        </p:txBody>
      </p:sp>
      <p:sp>
        <p:nvSpPr>
          <p:cNvPr id="3" name="TextBox 2"/>
          <p:cNvSpPr txBox="1"/>
          <p:nvPr/>
        </p:nvSpPr>
        <p:spPr>
          <a:xfrm>
            <a:off x="713232" y="1828800"/>
            <a:ext cx="10765231" cy="914400"/>
          </a:xfrm>
          <a:prstGeom prst="rect">
            <a:avLst/>
          </a:prstGeom>
          <a:noFill/>
        </p:spPr>
        <p:txBody>
          <a:bodyPr wrap="square" anchor="t" lIns="0" rIns="0" tIns="0" bIns="0">
            <a:spAutoFit/>
          </a:bodyPr>
          <a:lstStyle/>
          <a:p>
            <a:pPr algn="l">
              <a:lnSpc>
                <a:spcPct val="125000"/>
              </a:lnSpc>
            </a:pPr>
            <a:r>
              <a:rPr sz="1400" b="1" i="0">
                <a:solidFill>
                  <a:srgbClr val="F3D6C8"/>
                </a:solidFill>
                <a:latin typeface="Avenir Next"/>
              </a:rPr>
              <a:t>ONE GAP RUNS THROUGH ALL OF IT</a:t>
            </a:r>
          </a:p>
        </p:txBody>
      </p:sp>
      <p:sp>
        <p:nvSpPr>
          <p:cNvPr id="4" name="TextBox 3"/>
          <p:cNvSpPr txBox="1"/>
          <p:nvPr/>
        </p:nvSpPr>
        <p:spPr>
          <a:xfrm>
            <a:off x="713232" y="2377440"/>
            <a:ext cx="10765231" cy="914400"/>
          </a:xfrm>
          <a:prstGeom prst="rect">
            <a:avLst/>
          </a:prstGeom>
          <a:noFill/>
        </p:spPr>
        <p:txBody>
          <a:bodyPr wrap="square" anchor="t" lIns="0" rIns="0" tIns="0" bIns="0">
            <a:spAutoFit/>
          </a:bodyPr>
          <a:lstStyle/>
          <a:p>
            <a:pPr algn="l">
              <a:lnSpc>
                <a:spcPct val="120000"/>
              </a:lnSpc>
            </a:pPr>
            <a:r>
              <a:rPr sz="3600" b="0" i="0">
                <a:solidFill>
                  <a:srgbClr val="FBF3EE"/>
                </a:solidFill>
                <a:latin typeface="Georgia"/>
              </a:rPr>
              <a:t>Eight protein assays — seven gels and a dot blot —</a:t>
            </a:r>
          </a:p>
          <a:p>
            <a:pPr algn="l">
              <a:lnSpc>
                <a:spcPct val="120000"/>
              </a:lnSpc>
            </a:pPr>
            <a:r>
              <a:rPr sz="3600" b="0" i="0">
                <a:solidFill>
                  <a:srgbClr val="FBF3EE"/>
                </a:solidFill>
                <a:latin typeface="Georgia"/>
              </a:rPr>
              <a:t>and not one of them carries a lane of untransformed BL21.</a:t>
            </a:r>
          </a:p>
        </p:txBody>
      </p:sp>
      <p:sp>
        <p:nvSpPr>
          <p:cNvPr id="5" name="TextBox 4"/>
          <p:cNvSpPr txBox="1"/>
          <p:nvPr/>
        </p:nvSpPr>
        <p:spPr>
          <a:xfrm>
            <a:off x="713232" y="4297680"/>
            <a:ext cx="9144000" cy="914400"/>
          </a:xfrm>
          <a:prstGeom prst="rect">
            <a:avLst/>
          </a:prstGeom>
          <a:noFill/>
        </p:spPr>
        <p:txBody>
          <a:bodyPr wrap="square" anchor="t" lIns="0" rIns="0" tIns="0" bIns="0">
            <a:spAutoFit/>
          </a:bodyPr>
          <a:lstStyle/>
          <a:p>
            <a:pPr algn="l">
              <a:lnSpc>
                <a:spcPct val="130000"/>
              </a:lnSpc>
            </a:pPr>
            <a:r>
              <a:rPr sz="2000" b="0" i="0">
                <a:solidFill>
                  <a:srgbClr val="F3D6C8"/>
                </a:solidFill>
                <a:latin typeface="Avenir Next"/>
              </a:rPr>
              <a:t>We designed every round around a different variable instead.</a:t>
            </a:r>
          </a:p>
          <a:p>
            <a:pPr algn="l">
              <a:lnSpc>
                <a:spcPct val="130000"/>
              </a:lnSpc>
            </a:pPr>
            <a:r>
              <a:rPr sz="2000" b="0" i="0">
                <a:solidFill>
                  <a:srgbClr val="F3D6C8"/>
                </a:solidFill>
                <a:latin typeface="Avenir Next"/>
              </a:rPr>
              <a:t>That control is on the bench now.</a:t>
            </a:r>
          </a:p>
        </p:txBody>
      </p:sp>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47</a:t>
            </a:r>
          </a:p>
        </p:txBody>
      </p:sp>
      <p:sp>
        <p:nvSpPr>
          <p:cNvPr id="3" name="TextBox 2"/>
          <p:cNvSpPr txBox="1"/>
          <p:nvPr/>
        </p:nvSpPr>
        <p:spPr>
          <a:xfrm>
            <a:off x="713232" y="1600200"/>
            <a:ext cx="10765231" cy="914400"/>
          </a:xfrm>
          <a:prstGeom prst="rect">
            <a:avLst/>
          </a:prstGeom>
          <a:noFill/>
        </p:spPr>
        <p:txBody>
          <a:bodyPr wrap="square" anchor="t" lIns="0" rIns="0" tIns="0" bIns="0">
            <a:spAutoFit/>
          </a:bodyPr>
          <a:lstStyle/>
          <a:p>
            <a:pPr algn="l">
              <a:lnSpc>
                <a:spcPct val="125000"/>
              </a:lnSpc>
            </a:pPr>
            <a:r>
              <a:rPr sz="1400" b="1" i="0">
                <a:solidFill>
                  <a:srgbClr val="8FB3AE"/>
                </a:solidFill>
                <a:latin typeface="Avenir Next"/>
              </a:rPr>
              <a:t>CYCLE 4 OF 4</a:t>
            </a:r>
          </a:p>
        </p:txBody>
      </p:sp>
      <p:sp>
        <p:nvSpPr>
          <p:cNvPr id="4" name="TextBox 3"/>
          <p:cNvSpPr txBox="1"/>
          <p:nvPr/>
        </p:nvSpPr>
        <p:spPr>
          <a:xfrm>
            <a:off x="713232" y="2103120"/>
            <a:ext cx="10765231" cy="914400"/>
          </a:xfrm>
          <a:prstGeom prst="rect">
            <a:avLst/>
          </a:prstGeom>
          <a:noFill/>
        </p:spPr>
        <p:txBody>
          <a:bodyPr wrap="square" anchor="t" lIns="0" rIns="0" tIns="0" bIns="0">
            <a:spAutoFit/>
          </a:bodyPr>
          <a:lstStyle/>
          <a:p>
            <a:pPr algn="l">
              <a:lnSpc>
                <a:spcPct val="105000"/>
              </a:lnSpc>
            </a:pPr>
            <a:r>
              <a:rPr sz="5800" b="0" i="0">
                <a:solidFill>
                  <a:srgbClr val="F7F4EE"/>
                </a:solidFill>
                <a:latin typeface="Georgia"/>
              </a:rPr>
              <a:t>Let the bacteria answer</a:t>
            </a:r>
          </a:p>
        </p:txBody>
      </p:sp>
      <p:sp>
        <p:nvSpPr>
          <p:cNvPr id="5" name="Rounded Rectangle 4"/>
          <p:cNvSpPr/>
          <p:nvPr/>
        </p:nvSpPr>
        <p:spPr>
          <a:xfrm>
            <a:off x="713232"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Design</a:t>
            </a:r>
          </a:p>
        </p:txBody>
      </p:sp>
      <p:sp>
        <p:nvSpPr>
          <p:cNvPr id="6" name="Rounded Rectangle 5"/>
          <p:cNvSpPr/>
          <p:nvPr/>
        </p:nvSpPr>
        <p:spPr>
          <a:xfrm>
            <a:off x="2249424"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Build</a:t>
            </a:r>
          </a:p>
        </p:txBody>
      </p:sp>
      <p:sp>
        <p:nvSpPr>
          <p:cNvPr id="7" name="Rounded Rectangle 6"/>
          <p:cNvSpPr/>
          <p:nvPr/>
        </p:nvSpPr>
        <p:spPr>
          <a:xfrm>
            <a:off x="3785616"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Test</a:t>
            </a:r>
          </a:p>
        </p:txBody>
      </p:sp>
      <p:sp>
        <p:nvSpPr>
          <p:cNvPr id="8" name="Rounded Rectangle 7"/>
          <p:cNvSpPr/>
          <p:nvPr/>
        </p:nvSpPr>
        <p:spPr>
          <a:xfrm>
            <a:off x="5321808" y="3886200"/>
            <a:ext cx="1371600" cy="457200"/>
          </a:xfrm>
          <a:prstGeom prst="roundRect">
            <a:avLst>
              <a:gd name="adj" fmla="val 6000"/>
            </a:avLst>
          </a:prstGeom>
          <a:solidFill>
            <a:srgbClr val="C8D8D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r>
              <a:rPr sz="1500" b="1">
                <a:solidFill>
                  <a:srgbClr val="2D6A6A"/>
                </a:solidFill>
                <a:latin typeface="Avenir Next"/>
              </a:rPr>
              <a:t>Learn</a:t>
            </a:r>
          </a:p>
        </p:txBody>
      </p:sp>
      <p:sp>
        <p:nvSpPr>
          <p:cNvPr id="9" name="TextBox 8"/>
          <p:cNvSpPr txBox="1"/>
          <p:nvPr/>
        </p:nvSpPr>
        <p:spPr>
          <a:xfrm>
            <a:off x="713232" y="4846320"/>
            <a:ext cx="8686800" cy="914400"/>
          </a:xfrm>
          <a:prstGeom prst="rect">
            <a:avLst/>
          </a:prstGeom>
          <a:noFill/>
        </p:spPr>
        <p:txBody>
          <a:bodyPr wrap="square" anchor="t" lIns="0" rIns="0" tIns="0" bIns="0">
            <a:spAutoFit/>
          </a:bodyPr>
          <a:lstStyle/>
          <a:p>
            <a:pPr algn="l">
              <a:lnSpc>
                <a:spcPct val="130000"/>
              </a:lnSpc>
            </a:pPr>
            <a:r>
              <a:rPr sz="2000" b="0" i="0">
                <a:solidFill>
                  <a:srgbClr val="C8D8D4"/>
                </a:solidFill>
                <a:latin typeface="Avenir Next"/>
              </a:rPr>
              <a:t>Three cycles in, every guess about the receptor had come from the phage's side. No structure prediction anywhere in this loop.</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48</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CYCLE 4 · DESIGN AND TEST</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Seventy candidate sites, checked against the raw reads. One survived.</a:t>
            </a:r>
          </a:p>
        </p:txBody>
      </p:sp>
      <p:sp>
        <p:nvSpPr>
          <p:cNvPr id="6" name="TextBox 5"/>
          <p:cNvSpPr txBox="1"/>
          <p:nvPr/>
        </p:nvSpPr>
        <p:spPr>
          <a:xfrm>
            <a:off x="713232" y="2148840"/>
            <a:ext cx="6126480" cy="914400"/>
          </a:xfrm>
          <a:prstGeom prst="rect">
            <a:avLst/>
          </a:prstGeom>
          <a:noFill/>
        </p:spPr>
        <p:txBody>
          <a:bodyPr wrap="square" anchor="t" lIns="0" rIns="0" tIns="0" bIns="0">
            <a:spAutoFit/>
          </a:bodyPr>
          <a:lstStyle/>
          <a:p>
            <a:pPr algn="l">
              <a:lnSpc>
                <a:spcPct val="135000"/>
              </a:lnSpc>
            </a:pPr>
            <a:r>
              <a:rPr sz="1800" b="0" i="0">
                <a:solidFill>
                  <a:srgbClr val="1C2B2B"/>
                </a:solidFill>
                <a:latin typeface="Avenir Next"/>
              </a:rPr>
              <a:t>In July we picked colonies from inside the plaque zone — cells still growing where the phage should have killed them — and in October we sequenced one from each host against its parent.</a:t>
            </a:r>
          </a:p>
        </p:txBody>
      </p:sp>
      <p:sp>
        <p:nvSpPr>
          <p:cNvPr id="7" name="TextBox 6"/>
          <p:cNvSpPr txBox="1"/>
          <p:nvPr/>
        </p:nvSpPr>
        <p:spPr>
          <a:xfrm>
            <a:off x="713232" y="3291840"/>
            <a:ext cx="6126480" cy="914400"/>
          </a:xfrm>
          <a:prstGeom prst="rect">
            <a:avLst/>
          </a:prstGeom>
          <a:noFill/>
        </p:spPr>
        <p:txBody>
          <a:bodyPr wrap="square" anchor="t" lIns="0" rIns="0" tIns="0" bIns="0">
            <a:spAutoFit/>
          </a:bodyPr>
          <a:lstStyle/>
          <a:p>
            <a:pPr algn="l">
              <a:lnSpc>
                <a:spcPct val="135000"/>
              </a:lnSpc>
            </a:pPr>
            <a:r>
              <a:rPr sz="1600" b="0" i="0">
                <a:solidFill>
                  <a:srgbClr val="55605F"/>
                </a:solidFill>
                <a:latin typeface="Avenir Next"/>
              </a:rPr>
              <a:t>Both picks were the parent strain, intact, with no phage sequence in them, so neither had simply become a lysogen. A naive assembly comparison gave sixteen to twenty-one differing sites — which means nothing on its own, because two sequencing runs of the same clone already differ by more.</a:t>
            </a:r>
          </a:p>
        </p:txBody>
      </p:sp>
      <p:sp>
        <p:nvSpPr>
          <p:cNvPr id="8" name="Rounded Rectangle 7"/>
          <p:cNvSpPr/>
          <p:nvPr/>
        </p:nvSpPr>
        <p:spPr>
          <a:xfrm>
            <a:off x="713232" y="4663440"/>
            <a:ext cx="2926080" cy="91440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TextBox 8"/>
          <p:cNvSpPr txBox="1"/>
          <p:nvPr/>
        </p:nvSpPr>
        <p:spPr>
          <a:xfrm>
            <a:off x="987552" y="4828032"/>
            <a:ext cx="2377440" cy="914400"/>
          </a:xfrm>
          <a:prstGeom prst="rect">
            <a:avLst/>
          </a:prstGeom>
          <a:noFill/>
        </p:spPr>
        <p:txBody>
          <a:bodyPr wrap="square" anchor="t" lIns="0" rIns="0" tIns="0" bIns="0">
            <a:spAutoFit/>
          </a:bodyPr>
          <a:lstStyle/>
          <a:p>
            <a:pPr algn="l">
              <a:lnSpc>
                <a:spcPct val="125000"/>
              </a:lnSpc>
            </a:pPr>
            <a:r>
              <a:rPr sz="2400" b="1" i="0">
                <a:solidFill>
                  <a:srgbClr val="2D6A6A"/>
                </a:solidFill>
                <a:latin typeface="Georgia"/>
              </a:rPr>
              <a:t>263 / 264</a:t>
            </a:r>
          </a:p>
        </p:txBody>
      </p:sp>
      <p:sp>
        <p:nvSpPr>
          <p:cNvPr id="10" name="TextBox 9"/>
          <p:cNvSpPr txBox="1"/>
          <p:nvPr/>
        </p:nvSpPr>
        <p:spPr>
          <a:xfrm>
            <a:off x="987552" y="5230368"/>
            <a:ext cx="237744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mutant reads carry the change</a:t>
            </a:r>
          </a:p>
        </p:txBody>
      </p:sp>
      <p:sp>
        <p:nvSpPr>
          <p:cNvPr id="11" name="Rounded Rectangle 10"/>
          <p:cNvSpPr/>
          <p:nvPr/>
        </p:nvSpPr>
        <p:spPr>
          <a:xfrm>
            <a:off x="3913632" y="4663440"/>
            <a:ext cx="2926080" cy="914400"/>
          </a:xfrm>
          <a:prstGeom prst="roundRect">
            <a:avLst>
              <a:gd name="adj" fmla="val 6000"/>
            </a:avLst>
          </a:prstGeom>
          <a:solidFill>
            <a:srgbClr val="EAF0E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TextBox 11"/>
          <p:cNvSpPr txBox="1"/>
          <p:nvPr/>
        </p:nvSpPr>
        <p:spPr>
          <a:xfrm>
            <a:off x="4187952" y="4828032"/>
            <a:ext cx="2377440" cy="914400"/>
          </a:xfrm>
          <a:prstGeom prst="rect">
            <a:avLst/>
          </a:prstGeom>
          <a:noFill/>
        </p:spPr>
        <p:txBody>
          <a:bodyPr wrap="square" anchor="t" lIns="0" rIns="0" tIns="0" bIns="0">
            <a:spAutoFit/>
          </a:bodyPr>
          <a:lstStyle/>
          <a:p>
            <a:pPr algn="l">
              <a:lnSpc>
                <a:spcPct val="125000"/>
              </a:lnSpc>
            </a:pPr>
            <a:r>
              <a:rPr sz="2400" b="1" i="0">
                <a:solidFill>
                  <a:srgbClr val="2D6A6A"/>
                </a:solidFill>
                <a:latin typeface="Georgia"/>
              </a:rPr>
              <a:t>0 / 658</a:t>
            </a:r>
          </a:p>
        </p:txBody>
      </p:sp>
      <p:sp>
        <p:nvSpPr>
          <p:cNvPr id="13" name="TextBox 12"/>
          <p:cNvSpPr txBox="1"/>
          <p:nvPr/>
        </p:nvSpPr>
        <p:spPr>
          <a:xfrm>
            <a:off x="4187952" y="5230368"/>
            <a:ext cx="2377440" cy="914400"/>
          </a:xfrm>
          <a:prstGeom prst="rect">
            <a:avLst/>
          </a:prstGeom>
          <a:noFill/>
        </p:spPr>
        <p:txBody>
          <a:bodyPr wrap="square" anchor="t" lIns="0" rIns="0" tIns="0" bIns="0">
            <a:spAutoFit/>
          </a:bodyPr>
          <a:lstStyle/>
          <a:p>
            <a:pPr algn="l">
              <a:lnSpc>
                <a:spcPct val="125000"/>
              </a:lnSpc>
            </a:pPr>
            <a:r>
              <a:rPr sz="1300" b="0" i="0">
                <a:solidFill>
                  <a:srgbClr val="55605F"/>
                </a:solidFill>
                <a:latin typeface="Avenir Next"/>
              </a:rPr>
              <a:t>parent and other-pick reads do</a:t>
            </a:r>
          </a:p>
        </p:txBody>
      </p:sp>
      <p:sp>
        <p:nvSpPr>
          <p:cNvPr id="14" name="TextBox 13"/>
          <p:cNvSpPr txBox="1"/>
          <p:nvPr/>
        </p:nvSpPr>
        <p:spPr>
          <a:xfrm>
            <a:off x="713232" y="5760720"/>
            <a:ext cx="6126480" cy="914400"/>
          </a:xfrm>
          <a:prstGeom prst="rect">
            <a:avLst/>
          </a:prstGeom>
          <a:noFill/>
        </p:spPr>
        <p:txBody>
          <a:bodyPr wrap="square" anchor="t" lIns="0" rIns="0" tIns="0" bIns="0">
            <a:spAutoFit/>
          </a:bodyPr>
          <a:lstStyle/>
          <a:p>
            <a:pPr algn="l">
              <a:lnSpc>
                <a:spcPct val="130000"/>
              </a:lnSpc>
            </a:pPr>
            <a:r>
              <a:rPr sz="1500" b="0" i="0">
                <a:solidFill>
                  <a:srgbClr val="1C2B2B"/>
                </a:solidFill>
                <a:latin typeface="Avenir Next"/>
              </a:rPr>
              <a:t>A missense change in a Stealth-family sugar phosphotransferase, inside a 30 kb cluster that builds and exports capsular polysaccharide. The other pick has no confirmed mutation at all.</a:t>
            </a:r>
          </a:p>
        </p:txBody>
      </p:sp>
      <p:pic>
        <p:nvPicPr>
          <p:cNvPr id="15" name="Picture 14" descr="mutation.png"/>
          <p:cNvPicPr>
            <a:picLocks noChangeAspect="1"/>
          </p:cNvPicPr>
          <p:nvPr/>
        </p:nvPicPr>
        <p:blipFill>
          <a:blip r:embed="rId2"/>
          <a:stretch>
            <a:fillRect/>
          </a:stretch>
        </p:blipFill>
        <p:spPr>
          <a:xfrm>
            <a:off x="7296912" y="3099560"/>
            <a:ext cx="4206240" cy="1847600"/>
          </a:xfrm>
          <a:prstGeom prst="rect">
            <a:avLst/>
          </a:prstGeom>
        </p:spPr>
      </p:pic>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49</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4 · LEARN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It disagrees with Cycle 2 — which is the whole reason we did it this way round</a:t>
            </a:r>
          </a:p>
        </p:txBody>
      </p:sp>
      <p:sp>
        <p:nvSpPr>
          <p:cNvPr id="6" name="!!mem-outer"/>
          <p:cNvSpPr/>
          <p:nvPr/>
        </p:nvSpPr>
        <p:spPr>
          <a:xfrm>
            <a:off x="1170432" y="5330952"/>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170432" y="5129784"/>
            <a:ext cx="566928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170432" y="4928616"/>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399032"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367028"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1920240"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1888236"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441448"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409444"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2962656"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2930652"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483864"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451860"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005072"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3973068"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526280"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494276"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047488"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015484"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568696"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536692"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089904"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057900"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6611112"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6579108"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mask-head"/>
          <p:cNvSpPr txBox="1"/>
          <p:nvPr/>
        </p:nvSpPr>
        <p:spPr>
          <a:xfrm>
            <a:off x="7571232" y="2377440"/>
            <a:ext cx="4023360" cy="914400"/>
          </a:xfrm>
          <a:prstGeom prst="rect">
            <a:avLst/>
          </a:prstGeom>
          <a:noFill/>
        </p:spPr>
        <p:txBody>
          <a:bodyPr wrap="square" anchor="t" lIns="0" rIns="0" tIns="0" bIns="0">
            <a:spAutoFit/>
          </a:bodyPr>
          <a:lstStyle/>
          <a:p>
            <a:pPr algn="l">
              <a:lnSpc>
                <a:spcPct val="115000"/>
              </a:lnSpc>
            </a:pPr>
            <a:r>
              <a:rPr sz="2400" b="0" i="0">
                <a:solidFill>
                  <a:srgbClr val="1C2B2B"/>
                </a:solidFill>
                <a:latin typeface="Georgia"/>
              </a:rPr>
              <a:t>Cycle 2 said the receptor is a sugar</a:t>
            </a:r>
          </a:p>
        </p:txBody>
      </p:sp>
      <p:sp>
        <p:nvSpPr>
          <p:cNvPr id="32" name="!!mask-body"/>
          <p:cNvSpPr txBox="1"/>
          <p:nvPr/>
        </p:nvSpPr>
        <p:spPr>
          <a:xfrm>
            <a:off x="7571232" y="3566160"/>
            <a:ext cx="402336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The tail spike's fold points at the O-antigen — the long chains anchored in the outer membrane.</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50</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4 · LEARN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It disagrees with Cycle 2 — which is the whole reason we did it this way round</a:t>
            </a:r>
          </a:p>
        </p:txBody>
      </p:sp>
      <p:sp>
        <p:nvSpPr>
          <p:cNvPr id="6" name="!!mem-outer"/>
          <p:cNvSpPr/>
          <p:nvPr/>
        </p:nvSpPr>
        <p:spPr>
          <a:xfrm>
            <a:off x="1170432" y="5330952"/>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170432" y="5129784"/>
            <a:ext cx="566928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170432" y="4928616"/>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399032"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367028"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1920240"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1888236"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441448"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409444"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2962656"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2930652"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483864"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451860"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005072"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3973068"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526280"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494276"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047488"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015484"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568696"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536692"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089904"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057900"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6611112"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6579108"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capsule"/>
          <p:cNvSpPr/>
          <p:nvPr/>
        </p:nvSpPr>
        <p:spPr>
          <a:xfrm>
            <a:off x="1170432" y="3008376"/>
            <a:ext cx="5669280" cy="566928"/>
          </a:xfrm>
          <a:prstGeom prst="roundRect">
            <a:avLst>
              <a:gd name="adj" fmla="val 50000"/>
            </a:avLst>
          </a:prstGeom>
          <a:solidFill>
            <a:srgbClr val="B4542E">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2" name="!!mask-head"/>
          <p:cNvSpPr txBox="1"/>
          <p:nvPr/>
        </p:nvSpPr>
        <p:spPr>
          <a:xfrm>
            <a:off x="7571232" y="2377440"/>
            <a:ext cx="4023360" cy="914400"/>
          </a:xfrm>
          <a:prstGeom prst="rect">
            <a:avLst/>
          </a:prstGeom>
          <a:noFill/>
        </p:spPr>
        <p:txBody>
          <a:bodyPr wrap="square" anchor="t" lIns="0" rIns="0" tIns="0" bIns="0">
            <a:spAutoFit/>
          </a:bodyPr>
          <a:lstStyle/>
          <a:p>
            <a:pPr algn="l">
              <a:lnSpc>
                <a:spcPct val="115000"/>
              </a:lnSpc>
            </a:pPr>
            <a:r>
              <a:rPr sz="2400" b="0" i="0">
                <a:solidFill>
                  <a:srgbClr val="1C2B2B"/>
                </a:solidFill>
                <a:latin typeface="Georgia"/>
              </a:rPr>
              <a:t>Cycle 4 agrees, and disagrees about which one</a:t>
            </a:r>
          </a:p>
        </p:txBody>
      </p:sp>
      <p:sp>
        <p:nvSpPr>
          <p:cNvPr id="33" name="!!mask-body"/>
          <p:cNvSpPr txBox="1"/>
          <p:nvPr/>
        </p:nvSpPr>
        <p:spPr>
          <a:xfrm>
            <a:off x="7571232" y="3566160"/>
            <a:ext cx="402336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The one confirmed mutation sits in the capsule cluster, with the O-antigen cassette intact.</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51</a:t>
            </a:r>
          </a:p>
        </p:txBody>
      </p:sp>
      <p:sp>
        <p:nvSpPr>
          <p:cNvPr id="3" name="!!bar"/>
          <p:cNvSpPr/>
          <p:nvPr/>
        </p:nvSpPr>
        <p:spPr>
          <a:xfrm>
            <a:off x="713232" y="475488"/>
            <a:ext cx="146304" cy="310896"/>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B4542E"/>
                </a:solidFill>
                <a:latin typeface="Avenir Next"/>
              </a:rPr>
              <a:t>CYCLE 4 · LEARN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It disagrees with Cycle 2 — which is the whole reason we did it this way round</a:t>
            </a:r>
          </a:p>
        </p:txBody>
      </p:sp>
      <p:sp>
        <p:nvSpPr>
          <p:cNvPr id="6" name="!!mem-outer"/>
          <p:cNvSpPr/>
          <p:nvPr/>
        </p:nvSpPr>
        <p:spPr>
          <a:xfrm>
            <a:off x="1170432" y="5330952"/>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mem-wall"/>
          <p:cNvSpPr/>
          <p:nvPr/>
        </p:nvSpPr>
        <p:spPr>
          <a:xfrm>
            <a:off x="1170432" y="5129784"/>
            <a:ext cx="5669280" cy="155448"/>
          </a:xfrm>
          <a:prstGeom prst="rect">
            <a:avLst/>
          </a:prstGeom>
          <a:solidFill>
            <a:srgbClr val="C2CFC6"/>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8" name="!!mem-inner"/>
          <p:cNvSpPr/>
          <p:nvPr/>
        </p:nvSpPr>
        <p:spPr>
          <a:xfrm>
            <a:off x="1170432" y="4928616"/>
            <a:ext cx="5669280" cy="155448"/>
          </a:xfrm>
          <a:prstGeom prst="rect">
            <a:avLst/>
          </a:prstGeom>
          <a:solidFill>
            <a:srgbClr val="8FA7A4"/>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9" name="!!chain0"/>
          <p:cNvSpPr/>
          <p:nvPr/>
        </p:nvSpPr>
        <p:spPr>
          <a:xfrm>
            <a:off x="1399032"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cap0"/>
          <p:cNvSpPr/>
          <p:nvPr/>
        </p:nvSpPr>
        <p:spPr>
          <a:xfrm>
            <a:off x="1367028"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1" name="!!chain1"/>
          <p:cNvSpPr/>
          <p:nvPr/>
        </p:nvSpPr>
        <p:spPr>
          <a:xfrm>
            <a:off x="1920240"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2" name="!!cap1"/>
          <p:cNvSpPr/>
          <p:nvPr/>
        </p:nvSpPr>
        <p:spPr>
          <a:xfrm>
            <a:off x="1888236"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chain2"/>
          <p:cNvSpPr/>
          <p:nvPr/>
        </p:nvSpPr>
        <p:spPr>
          <a:xfrm>
            <a:off x="2441448"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4" name="!!cap2"/>
          <p:cNvSpPr/>
          <p:nvPr/>
        </p:nvSpPr>
        <p:spPr>
          <a:xfrm>
            <a:off x="2409444"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5" name="!!chain3"/>
          <p:cNvSpPr/>
          <p:nvPr/>
        </p:nvSpPr>
        <p:spPr>
          <a:xfrm>
            <a:off x="2962656"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cap3"/>
          <p:cNvSpPr/>
          <p:nvPr/>
        </p:nvSpPr>
        <p:spPr>
          <a:xfrm>
            <a:off x="2930652"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7" name="!!chain4"/>
          <p:cNvSpPr/>
          <p:nvPr/>
        </p:nvSpPr>
        <p:spPr>
          <a:xfrm>
            <a:off x="3483864"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8" name="!!cap4"/>
          <p:cNvSpPr/>
          <p:nvPr/>
        </p:nvSpPr>
        <p:spPr>
          <a:xfrm>
            <a:off x="3451860"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9" name="!!chain5"/>
          <p:cNvSpPr/>
          <p:nvPr/>
        </p:nvSpPr>
        <p:spPr>
          <a:xfrm>
            <a:off x="4005072"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0" name="!!cap5"/>
          <p:cNvSpPr/>
          <p:nvPr/>
        </p:nvSpPr>
        <p:spPr>
          <a:xfrm>
            <a:off x="3973068"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1" name="!!chain6"/>
          <p:cNvSpPr/>
          <p:nvPr/>
        </p:nvSpPr>
        <p:spPr>
          <a:xfrm>
            <a:off x="4526280"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2" name="!!cap6"/>
          <p:cNvSpPr/>
          <p:nvPr/>
        </p:nvSpPr>
        <p:spPr>
          <a:xfrm>
            <a:off x="4494276"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3" name="!!chain7"/>
          <p:cNvSpPr/>
          <p:nvPr/>
        </p:nvSpPr>
        <p:spPr>
          <a:xfrm>
            <a:off x="5047488"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4" name="!!cap7"/>
          <p:cNvSpPr/>
          <p:nvPr/>
        </p:nvSpPr>
        <p:spPr>
          <a:xfrm>
            <a:off x="5015484"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5" name="!!chain8"/>
          <p:cNvSpPr/>
          <p:nvPr/>
        </p:nvSpPr>
        <p:spPr>
          <a:xfrm>
            <a:off x="5568696" y="3749040"/>
            <a:ext cx="50292" cy="117957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6" name="!!cap8"/>
          <p:cNvSpPr/>
          <p:nvPr/>
        </p:nvSpPr>
        <p:spPr>
          <a:xfrm>
            <a:off x="5536692" y="3666744"/>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7" name="!!chain9"/>
          <p:cNvSpPr/>
          <p:nvPr/>
        </p:nvSpPr>
        <p:spPr>
          <a:xfrm>
            <a:off x="6089904" y="3968496"/>
            <a:ext cx="50292" cy="9601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8" name="!!cap9"/>
          <p:cNvSpPr/>
          <p:nvPr/>
        </p:nvSpPr>
        <p:spPr>
          <a:xfrm>
            <a:off x="6057900" y="3886200"/>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29" name="!!chain10"/>
          <p:cNvSpPr/>
          <p:nvPr/>
        </p:nvSpPr>
        <p:spPr>
          <a:xfrm>
            <a:off x="6611112" y="3858768"/>
            <a:ext cx="50292" cy="1069848"/>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0" name="!!cap10"/>
          <p:cNvSpPr/>
          <p:nvPr/>
        </p:nvSpPr>
        <p:spPr>
          <a:xfrm>
            <a:off x="6579108" y="3776472"/>
            <a:ext cx="114300" cy="114300"/>
          </a:xfrm>
          <a:prstGeom prst="ellipse">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1" name="!!capsule"/>
          <p:cNvSpPr/>
          <p:nvPr/>
        </p:nvSpPr>
        <p:spPr>
          <a:xfrm>
            <a:off x="1170432" y="3008376"/>
            <a:ext cx="5669280" cy="566928"/>
          </a:xfrm>
          <a:prstGeom prst="roundRect">
            <a:avLst>
              <a:gd name="adj" fmla="val 50000"/>
            </a:avLst>
          </a:prstGeom>
          <a:solidFill>
            <a:srgbClr val="B4542E">
              <a:alpha val="3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32" name="!!mask-head"/>
          <p:cNvSpPr txBox="1"/>
          <p:nvPr/>
        </p:nvSpPr>
        <p:spPr>
          <a:xfrm>
            <a:off x="7571232" y="2377440"/>
            <a:ext cx="4023360" cy="914400"/>
          </a:xfrm>
          <a:prstGeom prst="rect">
            <a:avLst/>
          </a:prstGeom>
          <a:noFill/>
        </p:spPr>
        <p:txBody>
          <a:bodyPr wrap="square" anchor="t" lIns="0" rIns="0" tIns="0" bIns="0">
            <a:spAutoFit/>
          </a:bodyPr>
          <a:lstStyle/>
          <a:p>
            <a:pPr algn="l">
              <a:lnSpc>
                <a:spcPct val="115000"/>
              </a:lnSpc>
            </a:pPr>
            <a:r>
              <a:rPr sz="2400" b="0" i="0">
                <a:solidFill>
                  <a:srgbClr val="1C2B2B"/>
                </a:solidFill>
                <a:latin typeface="Georgia"/>
              </a:rPr>
              <a:t>Both can be true at once</a:t>
            </a:r>
          </a:p>
        </p:txBody>
      </p:sp>
      <p:sp>
        <p:nvSpPr>
          <p:cNvPr id="33" name="!!mask-body"/>
          <p:cNvSpPr txBox="1"/>
          <p:nvPr/>
        </p:nvSpPr>
        <p:spPr>
          <a:xfrm>
            <a:off x="7571232" y="3566160"/>
            <a:ext cx="4023360" cy="914400"/>
          </a:xfrm>
          <a:prstGeom prst="rect">
            <a:avLst/>
          </a:prstGeom>
          <a:noFill/>
        </p:spPr>
        <p:txBody>
          <a:bodyPr wrap="square" anchor="t" lIns="0" rIns="0" tIns="0" bIns="0">
            <a:spAutoFit/>
          </a:bodyPr>
          <a:lstStyle/>
          <a:p>
            <a:pPr algn="l">
              <a:lnSpc>
                <a:spcPct val="135000"/>
              </a:lnSpc>
            </a:pPr>
            <a:r>
              <a:rPr sz="1700" b="0" i="0">
                <a:solidFill>
                  <a:srgbClr val="55605F"/>
                </a:solidFill>
                <a:latin typeface="Avenir Next"/>
              </a:rPr>
              <a:t>A capsule sits on top and can hide an intact O-antigen underneath it. We don't know which surface Φ8 reads — so wherever the distinction matters we say surface polysaccharide and leave it there.</a:t>
            </a:r>
          </a:p>
        </p:txBody>
      </p:sp>
      <p:sp>
        <p:nvSpPr>
          <p:cNvPr id="34" name="TextBox 33"/>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B4542E"/>
                </a:solidFill>
                <a:latin typeface="Avenir Next"/>
              </a:rPr>
              <a:t>The honest gap: we never confirmed those colonies were resistant. They were colonies in a plaque zone, which is suggestive and isn't the same thing.</a:t>
            </a:r>
          </a:p>
        </p:txBody>
      </p:sp>
    </p:spTree>
  </p:cSld>
  <p:clrMapOvr>
    <a:masterClrMapping/>
  </p:clrMapOvr>
  <mc:AlternateContent xmlns:mc="http://schemas.openxmlformats.org/markup-compatibility/2006">
    <mc:Choice xmlns:p14="http://schemas.microsoft.com/office/powerpoint/2010/main" Requires="p14">
      <p:transition spd="slow" p14:dur="900">
        <p159:morph xmlns:p159="http://schemas.microsoft.com/office/powerpoint/2015/09/main" option="byObject"/>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52</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CONTRIBUTION</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Four things we're leaving behind — one of them is a failure</a:t>
            </a:r>
          </a:p>
        </p:txBody>
      </p:sp>
      <p:sp>
        <p:nvSpPr>
          <p:cNvPr id="6" name="Rounded Rectangle 5"/>
          <p:cNvSpPr/>
          <p:nvPr/>
        </p:nvSpPr>
        <p:spPr>
          <a:xfrm>
            <a:off x="713232" y="2103120"/>
            <a:ext cx="5199735" cy="178308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1024128" y="2322576"/>
            <a:ext cx="4559655" cy="914400"/>
          </a:xfrm>
          <a:prstGeom prst="rect">
            <a:avLst/>
          </a:prstGeom>
          <a:noFill/>
        </p:spPr>
        <p:txBody>
          <a:bodyPr wrap="square" anchor="t" lIns="0" rIns="0" tIns="0" bIns="0">
            <a:spAutoFit/>
          </a:bodyPr>
          <a:lstStyle/>
          <a:p>
            <a:pPr algn="l">
              <a:lnSpc>
                <a:spcPct val="125000"/>
              </a:lnSpc>
            </a:pPr>
            <a:r>
              <a:rPr sz="1800" b="1" i="0">
                <a:solidFill>
                  <a:srgbClr val="2D6A6A"/>
                </a:solidFill>
                <a:latin typeface="Avenir Next"/>
              </a:rPr>
              <a:t>Two packaged tools</a:t>
            </a:r>
          </a:p>
        </p:txBody>
      </p:sp>
      <p:sp>
        <p:nvSpPr>
          <p:cNvPr id="8" name="TextBox 7"/>
          <p:cNvSpPr txBox="1"/>
          <p:nvPr/>
        </p:nvSpPr>
        <p:spPr>
          <a:xfrm>
            <a:off x="1024128" y="2724912"/>
            <a:ext cx="4559655" cy="914400"/>
          </a:xfrm>
          <a:prstGeom prst="rect">
            <a:avLst/>
          </a:prstGeom>
          <a:noFill/>
        </p:spPr>
        <p:txBody>
          <a:bodyPr wrap="square" anchor="t" lIns="0" rIns="0" tIns="0" bIns="0">
            <a:spAutoFit/>
          </a:bodyPr>
          <a:lstStyle/>
          <a:p>
            <a:pPr algn="l">
              <a:lnSpc>
                <a:spcPct val="130000"/>
              </a:lnSpc>
            </a:pPr>
            <a:r>
              <a:rPr sz="1300" b="0" i="0">
                <a:solidFill>
                  <a:srgbClr val="55605F"/>
                </a:solidFill>
                <a:latin typeface="Avenir Next"/>
              </a:rPr>
              <a:t>MIT licensed, on iGEM's GitLab. Gel densitometry — we re-typed that code three times before generalising it. And the fold test from Cycle 2, which also told a terminal repeat from a circular join and changed our own answer: this wiki used to say the genome was linear.</a:t>
            </a:r>
          </a:p>
        </p:txBody>
      </p:sp>
      <p:sp>
        <p:nvSpPr>
          <p:cNvPr id="9" name="Rounded Rectangle 8"/>
          <p:cNvSpPr/>
          <p:nvPr/>
        </p:nvSpPr>
        <p:spPr>
          <a:xfrm>
            <a:off x="6278727" y="2103120"/>
            <a:ext cx="5199735" cy="178308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6589623" y="2322576"/>
            <a:ext cx="4559655" cy="914400"/>
          </a:xfrm>
          <a:prstGeom prst="rect">
            <a:avLst/>
          </a:prstGeom>
          <a:noFill/>
        </p:spPr>
        <p:txBody>
          <a:bodyPr wrap="square" anchor="t" lIns="0" rIns="0" tIns="0" bIns="0">
            <a:spAutoFit/>
          </a:bodyPr>
          <a:lstStyle/>
          <a:p>
            <a:pPr algn="l">
              <a:lnSpc>
                <a:spcPct val="125000"/>
              </a:lnSpc>
            </a:pPr>
            <a:r>
              <a:rPr sz="1800" b="1" i="0">
                <a:solidFill>
                  <a:srgbClr val="2D6A6A"/>
                </a:solidFill>
                <a:latin typeface="Avenir Next"/>
              </a:rPr>
              <a:t>Six registered parts</a:t>
            </a:r>
          </a:p>
        </p:txBody>
      </p:sp>
      <p:sp>
        <p:nvSpPr>
          <p:cNvPr id="11" name="TextBox 10"/>
          <p:cNvSpPr txBox="1"/>
          <p:nvPr/>
        </p:nvSpPr>
        <p:spPr>
          <a:xfrm>
            <a:off x="6589623" y="2724912"/>
            <a:ext cx="4559655" cy="914400"/>
          </a:xfrm>
          <a:prstGeom prst="rect">
            <a:avLst/>
          </a:prstGeom>
          <a:noFill/>
        </p:spPr>
        <p:txBody>
          <a:bodyPr wrap="square" anchor="t" lIns="0" rIns="0" tIns="0" bIns="0">
            <a:spAutoFit/>
          </a:bodyPr>
          <a:lstStyle/>
          <a:p>
            <a:pPr algn="l">
              <a:lnSpc>
                <a:spcPct val="130000"/>
              </a:lnSpc>
            </a:pPr>
            <a:r>
              <a:rPr sz="1300" b="0" i="0">
                <a:solidFill>
                  <a:srgbClr val="55605F"/>
                </a:solidFill>
                <a:latin typeface="Avenir Next"/>
              </a:rPr>
              <a:t>Published under CC0 — three of them sequences that never existed, reconstructed from an alignment and a tree and ordered as DNA.</a:t>
            </a:r>
          </a:p>
        </p:txBody>
      </p:sp>
      <p:sp>
        <p:nvSpPr>
          <p:cNvPr id="12" name="Rounded Rectangle 11"/>
          <p:cNvSpPr/>
          <p:nvPr/>
        </p:nvSpPr>
        <p:spPr>
          <a:xfrm>
            <a:off x="713232" y="4069080"/>
            <a:ext cx="5199735" cy="178308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1024128" y="4288536"/>
            <a:ext cx="4559655" cy="914400"/>
          </a:xfrm>
          <a:prstGeom prst="rect">
            <a:avLst/>
          </a:prstGeom>
          <a:noFill/>
        </p:spPr>
        <p:txBody>
          <a:bodyPr wrap="square" anchor="t" lIns="0" rIns="0" tIns="0" bIns="0">
            <a:spAutoFit/>
          </a:bodyPr>
          <a:lstStyle/>
          <a:p>
            <a:pPr algn="l">
              <a:lnSpc>
                <a:spcPct val="125000"/>
              </a:lnSpc>
            </a:pPr>
            <a:r>
              <a:rPr sz="1800" b="1" i="0">
                <a:solidFill>
                  <a:srgbClr val="2D6A6A"/>
                </a:solidFill>
                <a:latin typeface="Avenir Next"/>
              </a:rPr>
              <a:t>A benchmark</a:t>
            </a:r>
          </a:p>
        </p:txBody>
      </p:sp>
      <p:sp>
        <p:nvSpPr>
          <p:cNvPr id="14" name="TextBox 13"/>
          <p:cNvSpPr txBox="1"/>
          <p:nvPr/>
        </p:nvSpPr>
        <p:spPr>
          <a:xfrm>
            <a:off x="1024128" y="4690872"/>
            <a:ext cx="4559655" cy="914400"/>
          </a:xfrm>
          <a:prstGeom prst="rect">
            <a:avLst/>
          </a:prstGeom>
          <a:noFill/>
        </p:spPr>
        <p:txBody>
          <a:bodyPr wrap="square" anchor="t" lIns="0" rIns="0" tIns="0" bIns="0">
            <a:spAutoFit/>
          </a:bodyPr>
          <a:lstStyle/>
          <a:p>
            <a:pPr algn="l">
              <a:lnSpc>
                <a:spcPct val="130000"/>
              </a:lnSpc>
            </a:pPr>
            <a:r>
              <a:rPr sz="1300" b="0" i="0">
                <a:solidFill>
                  <a:srgbClr val="55605F"/>
                </a:solidFill>
                <a:latin typeface="Avenir Next"/>
              </a:rPr>
              <a:t>On a genome with no close relatives, a machine-learning classifier found a depolymerase that homology annotation had filed as hypothetical. For novel phage genomes: run both, and reconcile the disagreements.</a:t>
            </a:r>
          </a:p>
        </p:txBody>
      </p:sp>
      <p:sp>
        <p:nvSpPr>
          <p:cNvPr id="15" name="Rounded Rectangle 14"/>
          <p:cNvSpPr/>
          <p:nvPr/>
        </p:nvSpPr>
        <p:spPr>
          <a:xfrm>
            <a:off x="6278727" y="4069080"/>
            <a:ext cx="5199735" cy="1783080"/>
          </a:xfrm>
          <a:prstGeom prst="roundRect">
            <a:avLst>
              <a:gd name="adj" fmla="val 6000"/>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6" name="TextBox 15"/>
          <p:cNvSpPr txBox="1"/>
          <p:nvPr/>
        </p:nvSpPr>
        <p:spPr>
          <a:xfrm>
            <a:off x="6589623" y="4288536"/>
            <a:ext cx="4559655" cy="914400"/>
          </a:xfrm>
          <a:prstGeom prst="rect">
            <a:avLst/>
          </a:prstGeom>
          <a:noFill/>
        </p:spPr>
        <p:txBody>
          <a:bodyPr wrap="square" anchor="t" lIns="0" rIns="0" tIns="0" bIns="0">
            <a:spAutoFit/>
          </a:bodyPr>
          <a:lstStyle/>
          <a:p>
            <a:pPr algn="l">
              <a:lnSpc>
                <a:spcPct val="125000"/>
              </a:lnSpc>
            </a:pPr>
            <a:r>
              <a:rPr sz="1800" b="1" i="0">
                <a:solidFill>
                  <a:srgbClr val="F3D6C8"/>
                </a:solidFill>
                <a:latin typeface="Avenir Next"/>
              </a:rPr>
              <a:t>The screen that failed</a:t>
            </a:r>
          </a:p>
        </p:txBody>
      </p:sp>
      <p:sp>
        <p:nvSpPr>
          <p:cNvPr id="17" name="TextBox 16"/>
          <p:cNvSpPr txBox="1"/>
          <p:nvPr/>
        </p:nvSpPr>
        <p:spPr>
          <a:xfrm>
            <a:off x="6589623" y="4690872"/>
            <a:ext cx="4559655" cy="914400"/>
          </a:xfrm>
          <a:prstGeom prst="rect">
            <a:avLst/>
          </a:prstGeom>
          <a:noFill/>
        </p:spPr>
        <p:txBody>
          <a:bodyPr wrap="square" anchor="t" lIns="0" rIns="0" tIns="0" bIns="0">
            <a:spAutoFit/>
          </a:bodyPr>
          <a:lstStyle/>
          <a:p>
            <a:pPr algn="l">
              <a:lnSpc>
                <a:spcPct val="130000"/>
              </a:lnSpc>
            </a:pPr>
            <a:r>
              <a:rPr sz="1300" b="0" i="0">
                <a:solidFill>
                  <a:srgbClr val="FBF3EE"/>
                </a:solidFill>
                <a:latin typeface="Avenir Next"/>
              </a:rPr>
              <a:t>Published with the controls that caught it and the reason it could never have worked. Don't use interface scores to screen phage–host protein pairs, and run a positive control with a solved co-structure before you scale to thousands.</a:t>
            </a:r>
          </a:p>
        </p:txBody>
      </p:sp>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53</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HUMAN PRACTICES · CALIFORNIA BOTANIC GARDEN · 19 OCTOBER 2026</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We went back and asked whether any of this would be useful.</a:t>
            </a:r>
          </a:p>
          <a:p>
            <a:pPr algn="l">
              <a:lnSpc>
                <a:spcPct val="108000"/>
              </a:lnSpc>
            </a:pPr>
            <a:r>
              <a:rPr sz="2800" b="0" i="0">
                <a:solidFill>
                  <a:srgbClr val="1C2B2B"/>
                </a:solidFill>
                <a:latin typeface="Georgia"/>
              </a:rPr>
              <a:t>Most of what we'd assumed was wrong.</a:t>
            </a:r>
          </a:p>
        </p:txBody>
      </p:sp>
      <p:sp>
        <p:nvSpPr>
          <p:cNvPr id="6" name="Rounded Rectangle 5"/>
          <p:cNvSpPr/>
          <p:nvPr/>
        </p:nvSpPr>
        <p:spPr>
          <a:xfrm>
            <a:off x="713232" y="2514600"/>
            <a:ext cx="3405530" cy="210312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87552" y="2724912"/>
            <a:ext cx="2856890" cy="914400"/>
          </a:xfrm>
          <a:prstGeom prst="rect">
            <a:avLst/>
          </a:prstGeom>
          <a:noFill/>
        </p:spPr>
        <p:txBody>
          <a:bodyPr wrap="square" anchor="t" lIns="0" rIns="0" tIns="0" bIns="0">
            <a:spAutoFit/>
          </a:bodyPr>
          <a:lstStyle/>
          <a:p>
            <a:pPr algn="l">
              <a:lnSpc>
                <a:spcPct val="125000"/>
              </a:lnSpc>
            </a:pPr>
            <a:r>
              <a:rPr sz="1500" b="1" i="0">
                <a:solidFill>
                  <a:srgbClr val="55605F"/>
                </a:solidFill>
                <a:latin typeface="Avenir Next"/>
              </a:rPr>
              <a:t>We expected to argue for biological control</a:t>
            </a:r>
          </a:p>
        </p:txBody>
      </p:sp>
      <p:sp>
        <p:nvSpPr>
          <p:cNvPr id="8" name="TextBox 7"/>
          <p:cNvSpPr txBox="1"/>
          <p:nvPr/>
        </p:nvSpPr>
        <p:spPr>
          <a:xfrm>
            <a:off x="987552" y="3364992"/>
            <a:ext cx="2856890" cy="914400"/>
          </a:xfrm>
          <a:prstGeom prst="rect">
            <a:avLst/>
          </a:prstGeom>
          <a:noFill/>
        </p:spPr>
        <p:txBody>
          <a:bodyPr wrap="square" anchor="t" lIns="0" rIns="0" tIns="0" bIns="0">
            <a:spAutoFit/>
          </a:bodyPr>
          <a:lstStyle/>
          <a:p>
            <a:pPr algn="l">
              <a:lnSpc>
                <a:spcPct val="130000"/>
              </a:lnSpc>
            </a:pPr>
            <a:r>
              <a:rPr sz="1400" b="0" i="0">
                <a:solidFill>
                  <a:srgbClr val="1C2B2B"/>
                </a:solidFill>
                <a:latin typeface="Avenir Next"/>
              </a:rPr>
              <a:t>We didn't have to. They already suppress soil fungi by mulching.</a:t>
            </a:r>
          </a:p>
        </p:txBody>
      </p:sp>
      <p:sp>
        <p:nvSpPr>
          <p:cNvPr id="9" name="Rounded Rectangle 8"/>
          <p:cNvSpPr/>
          <p:nvPr/>
        </p:nvSpPr>
        <p:spPr>
          <a:xfrm>
            <a:off x="4393082" y="2514600"/>
            <a:ext cx="3405530" cy="210312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4667402" y="2724912"/>
            <a:ext cx="2856890" cy="914400"/>
          </a:xfrm>
          <a:prstGeom prst="rect">
            <a:avLst/>
          </a:prstGeom>
          <a:noFill/>
        </p:spPr>
        <p:txBody>
          <a:bodyPr wrap="square" anchor="t" lIns="0" rIns="0" tIns="0" bIns="0">
            <a:spAutoFit/>
          </a:bodyPr>
          <a:lstStyle/>
          <a:p>
            <a:pPr algn="l">
              <a:lnSpc>
                <a:spcPct val="125000"/>
              </a:lnSpc>
            </a:pPr>
            <a:r>
              <a:rPr sz="1500" b="1" i="0">
                <a:solidFill>
                  <a:srgbClr val="55605F"/>
                </a:solidFill>
                <a:latin typeface="Avenir Next"/>
              </a:rPr>
              <a:t>We expected the objection to be ecological risk</a:t>
            </a:r>
          </a:p>
        </p:txBody>
      </p:sp>
      <p:sp>
        <p:nvSpPr>
          <p:cNvPr id="11" name="TextBox 10"/>
          <p:cNvSpPr txBox="1"/>
          <p:nvPr/>
        </p:nvSpPr>
        <p:spPr>
          <a:xfrm>
            <a:off x="4667402" y="3364992"/>
            <a:ext cx="2856890" cy="914400"/>
          </a:xfrm>
          <a:prstGeom prst="rect">
            <a:avLst/>
          </a:prstGeom>
          <a:noFill/>
        </p:spPr>
        <p:txBody>
          <a:bodyPr wrap="square" anchor="t" lIns="0" rIns="0" tIns="0" bIns="0">
            <a:spAutoFit/>
          </a:bodyPr>
          <a:lstStyle/>
          <a:p>
            <a:pPr algn="l">
              <a:lnSpc>
                <a:spcPct val="130000"/>
              </a:lnSpc>
            </a:pPr>
            <a:r>
              <a:rPr sz="1400" b="0" i="0">
                <a:solidFill>
                  <a:srgbClr val="1C2B2B"/>
                </a:solidFill>
                <a:latin typeface="Avenir Next"/>
              </a:rPr>
              <a:t>It was whether the thing works. Copper on every blossom every four or five days, 86 acres, eight staff. The objection is arithmetic.</a:t>
            </a:r>
          </a:p>
        </p:txBody>
      </p:sp>
      <p:sp>
        <p:nvSpPr>
          <p:cNvPr id="12" name="Rounded Rectangle 11"/>
          <p:cNvSpPr/>
          <p:nvPr/>
        </p:nvSpPr>
        <p:spPr>
          <a:xfrm>
            <a:off x="8072932" y="2514600"/>
            <a:ext cx="3405530" cy="2103120"/>
          </a:xfrm>
          <a:prstGeom prst="roundRect">
            <a:avLst>
              <a:gd name="adj" fmla="val 6000"/>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8347252" y="2724912"/>
            <a:ext cx="2856890" cy="914400"/>
          </a:xfrm>
          <a:prstGeom prst="rect">
            <a:avLst/>
          </a:prstGeom>
          <a:noFill/>
        </p:spPr>
        <p:txBody>
          <a:bodyPr wrap="square" anchor="t" lIns="0" rIns="0" tIns="0" bIns="0">
            <a:spAutoFit/>
          </a:bodyPr>
          <a:lstStyle/>
          <a:p>
            <a:pPr algn="l">
              <a:lnSpc>
                <a:spcPct val="125000"/>
              </a:lnSpc>
            </a:pPr>
            <a:r>
              <a:rPr sz="1500" b="1" i="0">
                <a:solidFill>
                  <a:srgbClr val="F3D6C8"/>
                </a:solidFill>
                <a:latin typeface="Avenir Next"/>
              </a:rPr>
              <a:t>The finding that costs us most</a:t>
            </a:r>
          </a:p>
        </p:txBody>
      </p:sp>
      <p:sp>
        <p:nvSpPr>
          <p:cNvPr id="14" name="TextBox 13"/>
          <p:cNvSpPr txBox="1"/>
          <p:nvPr/>
        </p:nvSpPr>
        <p:spPr>
          <a:xfrm>
            <a:off x="8347252" y="3364992"/>
            <a:ext cx="2856890" cy="914400"/>
          </a:xfrm>
          <a:prstGeom prst="rect">
            <a:avLst/>
          </a:prstGeom>
          <a:noFill/>
        </p:spPr>
        <p:txBody>
          <a:bodyPr wrap="square" anchor="t" lIns="0" rIns="0" tIns="0" bIns="0">
            <a:spAutoFit/>
          </a:bodyPr>
          <a:lstStyle/>
          <a:p>
            <a:pPr algn="l">
              <a:lnSpc>
                <a:spcPct val="130000"/>
              </a:lnSpc>
            </a:pPr>
            <a:r>
              <a:rPr sz="1400" b="0" i="0">
                <a:solidFill>
                  <a:srgbClr val="FBF3EE"/>
                </a:solidFill>
                <a:latin typeface="Avenir Next"/>
              </a:rPr>
              <a:t>They have never had a sample come back positive for Pseudomonas. We isolated a soil phage and its environmental host — not a treatment for a disease this stakeholder has.</a:t>
            </a:r>
          </a:p>
        </p:txBody>
      </p:sp>
      <p:sp>
        <p:nvSpPr>
          <p:cNvPr id="15" name="TextBox 14"/>
          <p:cNvSpPr txBox="1"/>
          <p:nvPr/>
        </p:nvSpPr>
        <p:spPr>
          <a:xfrm>
            <a:off x="713232" y="4892040"/>
            <a:ext cx="10765231" cy="914400"/>
          </a:xfrm>
          <a:prstGeom prst="rect">
            <a:avLst/>
          </a:prstGeom>
          <a:noFill/>
        </p:spPr>
        <p:txBody>
          <a:bodyPr wrap="square" anchor="t" lIns="0" rIns="0" tIns="0" bIns="0">
            <a:spAutoFit/>
          </a:bodyPr>
          <a:lstStyle/>
          <a:p>
            <a:pPr algn="l">
              <a:lnSpc>
                <a:spcPct val="130000"/>
              </a:lnSpc>
            </a:pPr>
            <a:r>
              <a:rPr sz="1800" b="0" i="0">
                <a:solidFill>
                  <a:srgbClr val="1C2B2B"/>
                </a:solidFill>
                <a:latin typeface="Avenir Next"/>
              </a:rPr>
              <a:t>What they do need is something for bacteria inside the vascular system, where nothing they have reaches. Our strain doesn't solve that — but the question we worked on is the one you'd have to answer first.</a:t>
            </a:r>
          </a:p>
        </p:txBody>
      </p:sp>
      <p:sp>
        <p:nvSpPr>
          <p:cNvPr id="16" name="TextBox 15"/>
          <p:cNvSpPr txBox="1"/>
          <p:nvPr/>
        </p:nvSpPr>
        <p:spPr>
          <a:xfrm>
            <a:off x="713232" y="5715000"/>
            <a:ext cx="10765231" cy="914400"/>
          </a:xfrm>
          <a:prstGeom prst="rect">
            <a:avLst/>
          </a:prstGeom>
          <a:noFill/>
        </p:spPr>
        <p:txBody>
          <a:bodyPr wrap="square" anchor="t" lIns="0" rIns="0" tIns="0" bIns="0">
            <a:spAutoFit/>
          </a:bodyPr>
          <a:lstStyle/>
          <a:p>
            <a:pPr algn="l">
              <a:lnSpc>
                <a:spcPct val="125000"/>
              </a:lnSpc>
            </a:pPr>
            <a:r>
              <a:rPr sz="2200" b="0" i="0">
                <a:solidFill>
                  <a:srgbClr val="2D6A6A"/>
                </a:solidFill>
                <a:latin typeface="Georgia"/>
              </a:rPr>
              <a:t>The strain is local. The question isn't.</a:t>
            </a:r>
          </a:p>
        </p:txBody>
      </p:sp>
      <p:sp>
        <p:nvSpPr>
          <p:cNvPr id="17" name="TextBox 16"/>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Ashley Armstrong and James Manifold · recorded and used with permission · INTERVIEW CLIPS GO HERE</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54</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SAFETY AND SECURITY</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2800" b="0" i="0">
                <a:solidFill>
                  <a:srgbClr val="1C2B2B"/>
                </a:solidFill>
                <a:latin typeface="Georgia"/>
              </a:rPr>
              <a:t>One condition is still open — and the condition is host range,</a:t>
            </a:r>
          </a:p>
          <a:p>
            <a:pPr algn="l">
              <a:lnSpc>
                <a:spcPct val="108000"/>
              </a:lnSpc>
            </a:pPr>
            <a:r>
              <a:rPr sz="2800" b="0" i="0">
                <a:solidFill>
                  <a:srgbClr val="1C2B2B"/>
                </a:solidFill>
                <a:latin typeface="Georgia"/>
              </a:rPr>
              <a:t>the subject of this entire project</a:t>
            </a:r>
          </a:p>
        </p:txBody>
      </p:sp>
      <p:sp>
        <p:nvSpPr>
          <p:cNvPr id="6" name="Rounded Rectangle 5"/>
          <p:cNvSpPr/>
          <p:nvPr/>
        </p:nvSpPr>
        <p:spPr>
          <a:xfrm>
            <a:off x="713232" y="2651760"/>
            <a:ext cx="3405530" cy="2286000"/>
          </a:xfrm>
          <a:prstGeom prst="roundRect">
            <a:avLst>
              <a:gd name="adj" fmla="val 6000"/>
            </a:avLst>
          </a:prstGeom>
          <a:solidFill>
            <a:srgbClr val="F6E7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987552" y="2871216"/>
            <a:ext cx="2856890" cy="914400"/>
          </a:xfrm>
          <a:prstGeom prst="rect">
            <a:avLst/>
          </a:prstGeom>
          <a:noFill/>
        </p:spPr>
        <p:txBody>
          <a:bodyPr wrap="square" anchor="t" lIns="0" rIns="0" tIns="0" bIns="0">
            <a:spAutoFit/>
          </a:bodyPr>
          <a:lstStyle/>
          <a:p>
            <a:pPr algn="l">
              <a:lnSpc>
                <a:spcPct val="125000"/>
              </a:lnSpc>
            </a:pPr>
            <a:r>
              <a:rPr sz="1600" b="1" i="0">
                <a:solidFill>
                  <a:srgbClr val="B4542E"/>
                </a:solidFill>
                <a:latin typeface="Avenir Next"/>
              </a:rPr>
              <a:t>What the committee asked</a:t>
            </a:r>
          </a:p>
        </p:txBody>
      </p:sp>
      <p:sp>
        <p:nvSpPr>
          <p:cNvPr id="8" name="TextBox 7"/>
          <p:cNvSpPr txBox="1"/>
          <p:nvPr/>
        </p:nvSpPr>
        <p:spPr>
          <a:xfrm>
            <a:off x="987552" y="3310128"/>
            <a:ext cx="2856890" cy="914400"/>
          </a:xfrm>
          <a:prstGeom prst="rect">
            <a:avLst/>
          </a:prstGeom>
          <a:noFill/>
        </p:spPr>
        <p:txBody>
          <a:bodyPr wrap="square" anchor="t" lIns="0" rIns="0" tIns="0" bIns="0">
            <a:spAutoFit/>
          </a:bodyPr>
          <a:lstStyle/>
          <a:p>
            <a:pPr algn="l">
              <a:lnSpc>
                <a:spcPct val="130000"/>
              </a:lnSpc>
            </a:pPr>
            <a:r>
              <a:rPr sz="1400" b="0" i="0">
                <a:solidFill>
                  <a:srgbClr val="1C2B2B"/>
                </a:solidFill>
                <a:latin typeface="Avenir Next"/>
              </a:rPr>
              <a:t>To show our reasoning that the work won't alter host range, virulence, or antibiotic resistance. We don't have full approval. The revision is being written.</a:t>
            </a:r>
          </a:p>
        </p:txBody>
      </p:sp>
      <p:sp>
        <p:nvSpPr>
          <p:cNvPr id="9" name="Rounded Rectangle 8"/>
          <p:cNvSpPr/>
          <p:nvPr/>
        </p:nvSpPr>
        <p:spPr>
          <a:xfrm>
            <a:off x="4393082" y="2651760"/>
            <a:ext cx="3405530" cy="2286000"/>
          </a:xfrm>
          <a:prstGeom prst="roundRect">
            <a:avLst>
              <a:gd name="adj" fmla="val 6000"/>
            </a:avLst>
          </a:prstGeom>
          <a:solidFill>
            <a:srgbClr val="FFFFFF"/>
          </a:solidFill>
          <a:ln w="12700">
            <a:solidFill>
              <a:srgbClr val="DCD8D0"/>
            </a:solid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4667402" y="2871216"/>
            <a:ext cx="2856890" cy="914400"/>
          </a:xfrm>
          <a:prstGeom prst="rect">
            <a:avLst/>
          </a:prstGeom>
          <a:noFill/>
        </p:spPr>
        <p:txBody>
          <a:bodyPr wrap="square" anchor="t" lIns="0" rIns="0" tIns="0" bIns="0">
            <a:spAutoFit/>
          </a:bodyPr>
          <a:lstStyle/>
          <a:p>
            <a:pPr algn="l">
              <a:lnSpc>
                <a:spcPct val="125000"/>
              </a:lnSpc>
            </a:pPr>
            <a:r>
              <a:rPr sz="1600" b="1" i="0">
                <a:solidFill>
                  <a:srgbClr val="2D6A6A"/>
                </a:solidFill>
                <a:latin typeface="Avenir Next"/>
              </a:rPr>
              <a:t>What we can say</a:t>
            </a:r>
          </a:p>
        </p:txBody>
      </p:sp>
      <p:sp>
        <p:nvSpPr>
          <p:cNvPr id="11" name="TextBox 10"/>
          <p:cNvSpPr txBox="1"/>
          <p:nvPr/>
        </p:nvSpPr>
        <p:spPr>
          <a:xfrm>
            <a:off x="4667402" y="3310128"/>
            <a:ext cx="2856890" cy="914400"/>
          </a:xfrm>
          <a:prstGeom prst="rect">
            <a:avLst/>
          </a:prstGeom>
          <a:noFill/>
        </p:spPr>
        <p:txBody>
          <a:bodyPr wrap="square" anchor="t" lIns="0" rIns="0" tIns="0" bIns="0">
            <a:spAutoFit/>
          </a:bodyPr>
          <a:lstStyle/>
          <a:p>
            <a:pPr algn="l">
              <a:lnSpc>
                <a:spcPct val="130000"/>
              </a:lnSpc>
            </a:pPr>
            <a:r>
              <a:rPr sz="1400" b="0" i="0">
                <a:solidFill>
                  <a:srgbClr val="55605F"/>
                </a:solidFill>
                <a:latin typeface="Avenir Next"/>
              </a:rPr>
              <a:t>Φ8 carries no virulence factors and no resistance genes across all eighty coding sequences. Our constructs are protein fragments in laboratory E. coli. Nothing here is a modified phage.</a:t>
            </a:r>
          </a:p>
        </p:txBody>
      </p:sp>
      <p:sp>
        <p:nvSpPr>
          <p:cNvPr id="12" name="Rounded Rectangle 11"/>
          <p:cNvSpPr/>
          <p:nvPr/>
        </p:nvSpPr>
        <p:spPr>
          <a:xfrm>
            <a:off x="8072932" y="2651760"/>
            <a:ext cx="3405530" cy="2286000"/>
          </a:xfrm>
          <a:prstGeom prst="roundRect">
            <a:avLst>
              <a:gd name="adj" fmla="val 6000"/>
            </a:avLst>
          </a:prstGeom>
          <a:solidFill>
            <a:srgbClr val="1C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8347252" y="2871216"/>
            <a:ext cx="2856890" cy="914400"/>
          </a:xfrm>
          <a:prstGeom prst="rect">
            <a:avLst/>
          </a:prstGeom>
          <a:noFill/>
        </p:spPr>
        <p:txBody>
          <a:bodyPr wrap="square" anchor="t" lIns="0" rIns="0" tIns="0" bIns="0">
            <a:spAutoFit/>
          </a:bodyPr>
          <a:lstStyle/>
          <a:p>
            <a:pPr algn="l">
              <a:lnSpc>
                <a:spcPct val="125000"/>
              </a:lnSpc>
            </a:pPr>
            <a:r>
              <a:rPr sz="1600" b="1" i="0">
                <a:solidFill>
                  <a:srgbClr val="8FB3AE"/>
                </a:solidFill>
                <a:latin typeface="Avenir Next"/>
              </a:rPr>
              <a:t>Why we treat it as dual use</a:t>
            </a:r>
          </a:p>
        </p:txBody>
      </p:sp>
      <p:sp>
        <p:nvSpPr>
          <p:cNvPr id="14" name="TextBox 13"/>
          <p:cNvSpPr txBox="1"/>
          <p:nvPr/>
        </p:nvSpPr>
        <p:spPr>
          <a:xfrm>
            <a:off x="8347252" y="3310128"/>
            <a:ext cx="2856890" cy="914400"/>
          </a:xfrm>
          <a:prstGeom prst="rect">
            <a:avLst/>
          </a:prstGeom>
          <a:noFill/>
        </p:spPr>
        <p:txBody>
          <a:bodyPr wrap="square" anchor="t" lIns="0" rIns="0" tIns="0" bIns="0">
            <a:spAutoFit/>
          </a:bodyPr>
          <a:lstStyle/>
          <a:p>
            <a:pPr algn="l">
              <a:lnSpc>
                <a:spcPct val="130000"/>
              </a:lnSpc>
            </a:pPr>
            <a:r>
              <a:rPr sz="1400" b="0" i="0">
                <a:solidFill>
                  <a:srgbClr val="F2EFE9"/>
                </a:solidFill>
                <a:latin typeface="Avenir Next"/>
              </a:rPr>
              <a:t>Understanding what sets the ceiling on host range is the same as knowing what would have to change to raise it — so we treat this as dual-use rather than arguing our way to a clean no.</a:t>
            </a:r>
          </a:p>
        </p:txBody>
      </p:sp>
      <p:sp>
        <p:nvSpPr>
          <p:cNvPr id="15" name="TextBox 14"/>
          <p:cNvSpPr txBox="1"/>
          <p:nvPr/>
        </p:nvSpPr>
        <p:spPr>
          <a:xfrm>
            <a:off x="713232" y="6291072"/>
            <a:ext cx="10033711" cy="420624"/>
          </a:xfrm>
          <a:prstGeom prst="rect">
            <a:avLst/>
          </a:prstGeom>
          <a:noFill/>
        </p:spPr>
        <p:txBody>
          <a:bodyPr wrap="square" anchor="t" lIns="0" rIns="0" tIns="0" bIns="0">
            <a:spAutoFit/>
          </a:bodyPr>
          <a:lstStyle/>
          <a:p>
            <a:pPr algn="l">
              <a:lnSpc>
                <a:spcPct val="115000"/>
              </a:lnSpc>
            </a:pPr>
            <a:r>
              <a:rPr sz="1200" b="0" i="0">
                <a:solidFill>
                  <a:srgbClr val="8A9391"/>
                </a:solidFill>
                <a:latin typeface="Avenir Next"/>
              </a:rPr>
              <a:t>Institutional Biosafety Committee, Keck Graduate Institute · conditional approval, 15 October 2026</a:t>
            </a:r>
          </a:p>
        </p:txBody>
      </p:sp>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A9391"/>
                </a:solidFill>
                <a:latin typeface="Avenir Next"/>
              </a:rPr>
              <a:t>55</a:t>
            </a:r>
          </a:p>
        </p:txBody>
      </p:sp>
      <p:sp>
        <p:nvSpPr>
          <p:cNvPr id="3" name="!!bar"/>
          <p:cNvSpPr/>
          <p:nvPr/>
        </p:nvSpPr>
        <p:spPr>
          <a:xfrm>
            <a:off x="713232" y="475488"/>
            <a:ext cx="146304" cy="310896"/>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4" name="!!eyebrow"/>
          <p:cNvSpPr txBox="1"/>
          <p:nvPr/>
        </p:nvSpPr>
        <p:spPr>
          <a:xfrm>
            <a:off x="1024128" y="493776"/>
            <a:ext cx="10454335" cy="914400"/>
          </a:xfrm>
          <a:prstGeom prst="rect">
            <a:avLst/>
          </a:prstGeom>
          <a:noFill/>
        </p:spPr>
        <p:txBody>
          <a:bodyPr wrap="square" anchor="t" lIns="0" rIns="0" tIns="0" bIns="0">
            <a:spAutoFit/>
          </a:bodyPr>
          <a:lstStyle/>
          <a:p>
            <a:pPr algn="l">
              <a:lnSpc>
                <a:spcPct val="125000"/>
              </a:lnSpc>
            </a:pPr>
            <a:r>
              <a:rPr sz="1300" b="1" i="0">
                <a:solidFill>
                  <a:srgbClr val="2D6A6A"/>
                </a:solidFill>
                <a:latin typeface="Avenir Next"/>
              </a:rPr>
              <a:t>WHERE WE ARE</a:t>
            </a:r>
          </a:p>
        </p:txBody>
      </p:sp>
      <p:sp>
        <p:nvSpPr>
          <p:cNvPr id="5" name="!!heading"/>
          <p:cNvSpPr txBox="1"/>
          <p:nvPr/>
        </p:nvSpPr>
        <p:spPr>
          <a:xfrm>
            <a:off x="713232" y="932688"/>
            <a:ext cx="10765231" cy="914400"/>
          </a:xfrm>
          <a:prstGeom prst="rect">
            <a:avLst/>
          </a:prstGeom>
          <a:noFill/>
        </p:spPr>
        <p:txBody>
          <a:bodyPr wrap="square" anchor="t" lIns="0" rIns="0" tIns="0" bIns="0">
            <a:spAutoFit/>
          </a:bodyPr>
          <a:lstStyle/>
          <a:p>
            <a:pPr algn="l">
              <a:lnSpc>
                <a:spcPct val="108000"/>
              </a:lnSpc>
            </a:pPr>
            <a:r>
              <a:rPr sz="3100" b="0" i="0">
                <a:solidFill>
                  <a:srgbClr val="1C2B2B"/>
                </a:solidFill>
                <a:latin typeface="Georgia"/>
              </a:rPr>
              <a:t>Established · partly tested · open</a:t>
            </a:r>
          </a:p>
        </p:txBody>
      </p:sp>
      <p:sp>
        <p:nvSpPr>
          <p:cNvPr id="6" name="Rectangle 5"/>
          <p:cNvSpPr/>
          <p:nvPr/>
        </p:nvSpPr>
        <p:spPr>
          <a:xfrm>
            <a:off x="713232" y="2194560"/>
            <a:ext cx="3405530" cy="45720"/>
          </a:xfrm>
          <a:prstGeom prst="rect">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7" name="TextBox 6"/>
          <p:cNvSpPr txBox="1"/>
          <p:nvPr/>
        </p:nvSpPr>
        <p:spPr>
          <a:xfrm>
            <a:off x="713232" y="2377440"/>
            <a:ext cx="3405530" cy="914400"/>
          </a:xfrm>
          <a:prstGeom prst="rect">
            <a:avLst/>
          </a:prstGeom>
          <a:noFill/>
        </p:spPr>
        <p:txBody>
          <a:bodyPr wrap="square" anchor="t" lIns="0" rIns="0" tIns="0" bIns="0">
            <a:spAutoFit/>
          </a:bodyPr>
          <a:lstStyle/>
          <a:p>
            <a:pPr algn="l">
              <a:lnSpc>
                <a:spcPct val="125000"/>
              </a:lnSpc>
            </a:pPr>
            <a:r>
              <a:rPr sz="2000" b="1" i="0">
                <a:solidFill>
                  <a:srgbClr val="2D6A6A"/>
                </a:solidFill>
                <a:latin typeface="Avenir Next"/>
              </a:rPr>
              <a:t>Established</a:t>
            </a:r>
          </a:p>
        </p:txBody>
      </p:sp>
      <p:sp>
        <p:nvSpPr>
          <p:cNvPr id="8" name="TextBox 7"/>
          <p:cNvSpPr txBox="1"/>
          <p:nvPr/>
        </p:nvSpPr>
        <p:spPr>
          <a:xfrm>
            <a:off x="713232" y="2880360"/>
            <a:ext cx="3405530" cy="914400"/>
          </a:xfrm>
          <a:prstGeom prst="rect">
            <a:avLst/>
          </a:prstGeom>
          <a:noFill/>
        </p:spPr>
        <p:txBody>
          <a:bodyPr wrap="square" anchor="t" lIns="0" rIns="0" tIns="0" bIns="0">
            <a:spAutoFit/>
          </a:bodyPr>
          <a:lstStyle/>
          <a:p>
            <a:pPr algn="l">
              <a:lnSpc>
                <a:spcPct val="145000"/>
              </a:lnSpc>
            </a:pPr>
            <a:r>
              <a:rPr sz="1400" b="0" i="0">
                <a:solidFill>
                  <a:srgbClr val="1C2B2B"/>
                </a:solidFill>
                <a:latin typeface="Avenir Next"/>
              </a:rPr>
              <a:t>Five bacterial genomes and a novel circular phage genome</a:t>
            </a:r>
          </a:p>
          <a:p>
            <a:pPr algn="l">
              <a:lnSpc>
                <a:spcPct val="145000"/>
              </a:lnSpc>
            </a:pPr>
            <a:r>
              <a:rPr sz="1400" b="0" i="0">
                <a:solidFill>
                  <a:srgbClr val="1C2B2B"/>
                </a:solidFill>
                <a:latin typeface="Avenir Next"/>
              </a:rPr>
              <a:t>Three unrelated sugar cassettes in the same locus — with no serotype scheme in existence that could have told us</a:t>
            </a:r>
          </a:p>
          <a:p>
            <a:pPr algn="l">
              <a:lnSpc>
                <a:spcPct val="145000"/>
              </a:lnSpc>
            </a:pPr>
            <a:r>
              <a:rPr sz="1400" b="0" i="0">
                <a:solidFill>
                  <a:srgbClr val="1C2B2B"/>
                </a:solidFill>
                <a:latin typeface="Avenir Next"/>
              </a:rPr>
              <a:t>A tail spike that is a sugar-cutting enzyme, by two independent methods</a:t>
            </a:r>
          </a:p>
          <a:p>
            <a:pPr algn="l">
              <a:lnSpc>
                <a:spcPct val="145000"/>
              </a:lnSpc>
            </a:pPr>
            <a:r>
              <a:rPr sz="1400" b="0" i="0">
                <a:solidFill>
                  <a:srgbClr val="1C2B2B"/>
                </a:solidFill>
                <a:latin typeface="Avenir Next"/>
              </a:rPr>
              <a:t>A controlled negative result about interface prediction</a:t>
            </a:r>
          </a:p>
          <a:p>
            <a:pPr algn="l">
              <a:lnSpc>
                <a:spcPct val="145000"/>
              </a:lnSpc>
            </a:pPr>
            <a:r>
              <a:rPr sz="1400" b="0" i="0">
                <a:solidFill>
                  <a:srgbClr val="1C2B2B"/>
                </a:solidFill>
                <a:latin typeface="Avenir Next"/>
              </a:rPr>
              <a:t>One resistance mutation verified in the reads</a:t>
            </a:r>
          </a:p>
        </p:txBody>
      </p:sp>
      <p:sp>
        <p:nvSpPr>
          <p:cNvPr id="9" name="Rectangle 8"/>
          <p:cNvSpPr/>
          <p:nvPr/>
        </p:nvSpPr>
        <p:spPr>
          <a:xfrm>
            <a:off x="4393082" y="2194560"/>
            <a:ext cx="340553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0" name="TextBox 9"/>
          <p:cNvSpPr txBox="1"/>
          <p:nvPr/>
        </p:nvSpPr>
        <p:spPr>
          <a:xfrm>
            <a:off x="4393082" y="2377440"/>
            <a:ext cx="3405530" cy="914400"/>
          </a:xfrm>
          <a:prstGeom prst="rect">
            <a:avLst/>
          </a:prstGeom>
          <a:noFill/>
        </p:spPr>
        <p:txBody>
          <a:bodyPr wrap="square" anchor="t" lIns="0" rIns="0" tIns="0" bIns="0">
            <a:spAutoFit/>
          </a:bodyPr>
          <a:lstStyle/>
          <a:p>
            <a:pPr algn="l">
              <a:lnSpc>
                <a:spcPct val="125000"/>
              </a:lnSpc>
            </a:pPr>
            <a:r>
              <a:rPr sz="2000" b="1" i="0">
                <a:solidFill>
                  <a:srgbClr val="C9A227"/>
                </a:solidFill>
                <a:latin typeface="Avenir Next"/>
              </a:rPr>
              <a:t>Partly tested</a:t>
            </a:r>
          </a:p>
        </p:txBody>
      </p:sp>
      <p:sp>
        <p:nvSpPr>
          <p:cNvPr id="11" name="TextBox 10"/>
          <p:cNvSpPr txBox="1"/>
          <p:nvPr/>
        </p:nvSpPr>
        <p:spPr>
          <a:xfrm>
            <a:off x="4393082" y="2880360"/>
            <a:ext cx="3405530" cy="914400"/>
          </a:xfrm>
          <a:prstGeom prst="rect">
            <a:avLst/>
          </a:prstGeom>
          <a:noFill/>
        </p:spPr>
        <p:txBody>
          <a:bodyPr wrap="square" anchor="t" lIns="0" rIns="0" tIns="0" bIns="0">
            <a:spAutoFit/>
          </a:bodyPr>
          <a:lstStyle/>
          <a:p>
            <a:pPr algn="l">
              <a:lnSpc>
                <a:spcPct val="145000"/>
              </a:lnSpc>
            </a:pPr>
            <a:r>
              <a:rPr sz="1400" b="0" i="0">
                <a:solidFill>
                  <a:srgbClr val="1C2B2B"/>
                </a:solidFill>
                <a:latin typeface="Avenir Next"/>
              </a:rPr>
              <a:t>That Φ8 won't infect the other two strains — the July assay pointed the right way, and carried no control</a:t>
            </a:r>
          </a:p>
          <a:p>
            <a:pPr algn="l">
              <a:lnSpc>
                <a:spcPct val="145000"/>
              </a:lnSpc>
            </a:pPr>
            <a:r>
              <a:rPr sz="1400" b="0" i="0">
                <a:solidFill>
                  <a:srgbClr val="1C2B2B"/>
                </a:solidFill>
                <a:latin typeface="Avenir Next"/>
              </a:rPr>
              <a:t>One ancestor purified at its predicted mass</a:t>
            </a:r>
          </a:p>
          <a:p>
            <a:pPr algn="l">
              <a:lnSpc>
                <a:spcPct val="145000"/>
              </a:lnSpc>
            </a:pPr>
            <a:r>
              <a:rPr sz="1400" b="0" i="0">
                <a:solidFill>
                  <a:srgbClr val="1C2B2B"/>
                </a:solidFill>
                <a:latin typeface="Avenir Next"/>
              </a:rPr>
              <a:t>Colony counts under it fall to 12 % of control — which our PI reads as activity, and we won't, until the carry-over control is run</a:t>
            </a:r>
          </a:p>
        </p:txBody>
      </p:sp>
      <p:sp>
        <p:nvSpPr>
          <p:cNvPr id="12" name="Rectangle 11"/>
          <p:cNvSpPr/>
          <p:nvPr/>
        </p:nvSpPr>
        <p:spPr>
          <a:xfrm>
            <a:off x="8072932" y="2194560"/>
            <a:ext cx="3405530" cy="45720"/>
          </a:xfrm>
          <a:prstGeom prst="rect">
            <a:avLst/>
          </a:prstGeom>
          <a:solidFill>
            <a:srgbClr val="B4542E"/>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13" name="TextBox 12"/>
          <p:cNvSpPr txBox="1"/>
          <p:nvPr/>
        </p:nvSpPr>
        <p:spPr>
          <a:xfrm>
            <a:off x="8072932" y="2377440"/>
            <a:ext cx="3405530" cy="914400"/>
          </a:xfrm>
          <a:prstGeom prst="rect">
            <a:avLst/>
          </a:prstGeom>
          <a:noFill/>
        </p:spPr>
        <p:txBody>
          <a:bodyPr wrap="square" anchor="t" lIns="0" rIns="0" tIns="0" bIns="0">
            <a:spAutoFit/>
          </a:bodyPr>
          <a:lstStyle/>
          <a:p>
            <a:pPr algn="l">
              <a:lnSpc>
                <a:spcPct val="125000"/>
              </a:lnSpc>
            </a:pPr>
            <a:r>
              <a:rPr sz="2000" b="1" i="0">
                <a:solidFill>
                  <a:srgbClr val="B4542E"/>
                </a:solidFill>
                <a:latin typeface="Avenir Next"/>
              </a:rPr>
              <a:t>Open</a:t>
            </a:r>
          </a:p>
        </p:txBody>
      </p:sp>
      <p:sp>
        <p:nvSpPr>
          <p:cNvPr id="14" name="TextBox 13"/>
          <p:cNvSpPr txBox="1"/>
          <p:nvPr/>
        </p:nvSpPr>
        <p:spPr>
          <a:xfrm>
            <a:off x="8072932" y="2880360"/>
            <a:ext cx="3405530" cy="914400"/>
          </a:xfrm>
          <a:prstGeom prst="rect">
            <a:avLst/>
          </a:prstGeom>
          <a:noFill/>
        </p:spPr>
        <p:txBody>
          <a:bodyPr wrap="square" anchor="t" lIns="0" rIns="0" tIns="0" bIns="0">
            <a:spAutoFit/>
          </a:bodyPr>
          <a:lstStyle/>
          <a:p>
            <a:pPr algn="l">
              <a:lnSpc>
                <a:spcPct val="145000"/>
              </a:lnSpc>
            </a:pPr>
            <a:r>
              <a:rPr sz="1400" b="0" i="0">
                <a:solidFill>
                  <a:srgbClr val="1C2B2B"/>
                </a:solidFill>
                <a:latin typeface="Avenir Next"/>
              </a:rPr>
              <a:t>A clean expression round, with the lane we keep not running</a:t>
            </a:r>
          </a:p>
          <a:p>
            <a:pPr algn="l">
              <a:lnSpc>
                <a:spcPct val="145000"/>
              </a:lnSpc>
            </a:pPr>
            <a:r>
              <a:rPr sz="1400" b="0" i="0">
                <a:solidFill>
                  <a:srgbClr val="1C2B2B"/>
                </a:solidFill>
                <a:latin typeface="Avenir Next"/>
              </a:rPr>
              <a:t>Whether the tail spike fragment is even full length</a:t>
            </a:r>
          </a:p>
          <a:p>
            <a:pPr algn="l">
              <a:lnSpc>
                <a:spcPct val="145000"/>
              </a:lnSpc>
            </a:pPr>
            <a:r>
              <a:rPr sz="1400" b="0" i="0">
                <a:solidFill>
                  <a:srgbClr val="1C2B2B"/>
                </a:solidFill>
                <a:latin typeface="Avenir Next"/>
              </a:rPr>
              <a:t>Which sugar layer the phage reads</a:t>
            </a:r>
          </a:p>
          <a:p>
            <a:pPr algn="l">
              <a:lnSpc>
                <a:spcPct val="145000"/>
              </a:lnSpc>
            </a:pPr>
            <a:r>
              <a:rPr sz="1400" b="0" i="0">
                <a:solidFill>
                  <a:srgbClr val="1C2B2B"/>
                </a:solidFill>
                <a:latin typeface="Avenir Next"/>
              </a:rPr>
              <a:t>Whether Φ8 is temperate</a:t>
            </a:r>
          </a:p>
          <a:p>
            <a:pPr algn="l">
              <a:lnSpc>
                <a:spcPct val="145000"/>
              </a:lnSpc>
            </a:pPr>
            <a:r>
              <a:rPr sz="1400" b="0" i="0">
                <a:solidFill>
                  <a:srgbClr val="1C2B2B"/>
                </a:solidFill>
                <a:latin typeface="Avenir Next"/>
              </a:rPr>
              <a:t>Depositing the genome, which we haven't done</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C2B2B"/>
        </a:solidFill>
        <a:effectLst/>
      </p:bgPr>
    </p:bg>
    <p:spTree>
      <p:nvGrpSpPr>
        <p:cNvPr id="1" name=""/>
        <p:cNvGrpSpPr/>
        <p:nvPr/>
      </p:nvGrpSpPr>
      <p:grpSpPr/>
      <p:sp>
        <p:nvSpPr>
          <p:cNvPr id="2" name="TextBox 1"/>
          <p:cNvSpPr txBox="1"/>
          <p:nvPr/>
        </p:nvSpPr>
        <p:spPr>
          <a:xfrm>
            <a:off x="10929823" y="6382512"/>
            <a:ext cx="548640" cy="237744"/>
          </a:xfrm>
          <a:prstGeom prst="rect">
            <a:avLst/>
          </a:prstGeom>
          <a:noFill/>
        </p:spPr>
        <p:txBody>
          <a:bodyPr wrap="square" anchor="t" lIns="0" rIns="0" tIns="0" bIns="0">
            <a:spAutoFit/>
          </a:bodyPr>
          <a:lstStyle/>
          <a:p>
            <a:pPr algn="r">
              <a:lnSpc>
                <a:spcPct val="125000"/>
              </a:lnSpc>
            </a:pPr>
            <a:r>
              <a:rPr sz="1100" b="0" i="0">
                <a:solidFill>
                  <a:srgbClr val="8FB3AE"/>
                </a:solidFill>
                <a:latin typeface="Avenir Next"/>
              </a:rPr>
              <a:t>56</a:t>
            </a:r>
          </a:p>
        </p:txBody>
      </p:sp>
      <p:sp>
        <p:nvSpPr>
          <p:cNvPr id="3" name="TextBox 2"/>
          <p:cNvSpPr txBox="1"/>
          <p:nvPr/>
        </p:nvSpPr>
        <p:spPr>
          <a:xfrm>
            <a:off x="713232" y="1463040"/>
            <a:ext cx="10765231" cy="914400"/>
          </a:xfrm>
          <a:prstGeom prst="rect">
            <a:avLst/>
          </a:prstGeom>
          <a:noFill/>
        </p:spPr>
        <p:txBody>
          <a:bodyPr wrap="square" anchor="t" lIns="0" rIns="0" tIns="0" bIns="0">
            <a:spAutoFit/>
          </a:bodyPr>
          <a:lstStyle/>
          <a:p>
            <a:pPr algn="l">
              <a:lnSpc>
                <a:spcPct val="125000"/>
              </a:lnSpc>
            </a:pPr>
            <a:r>
              <a:rPr sz="1400" b="1" i="0">
                <a:solidFill>
                  <a:srgbClr val="8FB3AE"/>
                </a:solidFill>
                <a:latin typeface="Avenir Next"/>
              </a:rPr>
              <a:t>FOUR CYCLES, THREE OF THEM WRONG</a:t>
            </a:r>
          </a:p>
        </p:txBody>
      </p:sp>
      <p:sp>
        <p:nvSpPr>
          <p:cNvPr id="4" name="TextBox 3"/>
          <p:cNvSpPr txBox="1"/>
          <p:nvPr/>
        </p:nvSpPr>
        <p:spPr>
          <a:xfrm>
            <a:off x="713232" y="1965960"/>
            <a:ext cx="10765231" cy="914400"/>
          </a:xfrm>
          <a:prstGeom prst="rect">
            <a:avLst/>
          </a:prstGeom>
          <a:noFill/>
        </p:spPr>
        <p:txBody>
          <a:bodyPr wrap="square" anchor="t" lIns="0" rIns="0" tIns="0" bIns="0">
            <a:spAutoFit/>
          </a:bodyPr>
          <a:lstStyle/>
          <a:p>
            <a:pPr algn="l">
              <a:lnSpc>
                <a:spcPct val="118000"/>
              </a:lnSpc>
            </a:pPr>
            <a:r>
              <a:rPr sz="4400" b="0" i="0">
                <a:solidFill>
                  <a:srgbClr val="F7F4EE"/>
                </a:solidFill>
                <a:latin typeface="Georgia"/>
              </a:rPr>
              <a:t>Each one was wrong in a way that</a:t>
            </a:r>
          </a:p>
          <a:p>
            <a:pPr algn="l">
              <a:lnSpc>
                <a:spcPct val="118000"/>
              </a:lnSpc>
            </a:pPr>
            <a:r>
              <a:rPr sz="4400" b="0" i="0">
                <a:solidFill>
                  <a:srgbClr val="F7F4EE"/>
                </a:solidFill>
                <a:latin typeface="Georgia"/>
              </a:rPr>
              <a:t>told us where to go next.</a:t>
            </a:r>
          </a:p>
        </p:txBody>
      </p:sp>
      <p:sp>
        <p:nvSpPr>
          <p:cNvPr id="5" name="Rounded Rectangle 4"/>
          <p:cNvSpPr/>
          <p:nvPr/>
        </p:nvSpPr>
        <p:spPr>
          <a:xfrm>
            <a:off x="713232" y="3840480"/>
            <a:ext cx="10765231" cy="1691640"/>
          </a:xfrm>
          <a:prstGeom prst="roundRect">
            <a:avLst>
              <a:gd name="adj" fmla="val 6000"/>
            </a:avLst>
          </a:prstGeom>
          <a:solidFill>
            <a:srgbClr val="2D6A6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256032" tIns="182880" bIns="182880" wrap="square"/>
          <a:lstStyle/>
          <a:p>
            <a:pPr algn="ctr"/>
          </a:p>
        </p:txBody>
      </p:sp>
      <p:sp>
        <p:nvSpPr>
          <p:cNvPr id="6" name="TextBox 5"/>
          <p:cNvSpPr txBox="1"/>
          <p:nvPr/>
        </p:nvSpPr>
        <p:spPr>
          <a:xfrm>
            <a:off x="1124712" y="4069080"/>
            <a:ext cx="9942271" cy="914400"/>
          </a:xfrm>
          <a:prstGeom prst="rect">
            <a:avLst/>
          </a:prstGeom>
          <a:noFill/>
        </p:spPr>
        <p:txBody>
          <a:bodyPr wrap="square" anchor="t" lIns="0" rIns="0" tIns="0" bIns="0">
            <a:spAutoFit/>
          </a:bodyPr>
          <a:lstStyle/>
          <a:p>
            <a:pPr algn="l">
              <a:lnSpc>
                <a:spcPct val="120000"/>
              </a:lnSpc>
            </a:pPr>
            <a:r>
              <a:rPr sz="2600" b="0" i="0">
                <a:solidFill>
                  <a:srgbClr val="F7F4EE"/>
                </a:solidFill>
                <a:latin typeface="Georgia"/>
              </a:rPr>
              <a:t>If we could pass on one thing: put the cheap control</a:t>
            </a:r>
          </a:p>
          <a:p>
            <a:pPr algn="l">
              <a:lnSpc>
                <a:spcPct val="120000"/>
              </a:lnSpc>
            </a:pPr>
            <a:r>
              <a:rPr sz="2600" b="0" i="0">
                <a:solidFill>
                  <a:srgbClr val="F7F4EE"/>
                </a:solidFill>
                <a:latin typeface="Georgia"/>
              </a:rPr>
              <a:t>in front of the expensive experiment.</a:t>
            </a:r>
          </a:p>
        </p:txBody>
      </p:sp>
      <p:sp>
        <p:nvSpPr>
          <p:cNvPr id="7" name="TextBox 6"/>
          <p:cNvSpPr txBox="1"/>
          <p:nvPr/>
        </p:nvSpPr>
        <p:spPr>
          <a:xfrm>
            <a:off x="1124712" y="5074920"/>
            <a:ext cx="9942271" cy="914400"/>
          </a:xfrm>
          <a:prstGeom prst="rect">
            <a:avLst/>
          </a:prstGeom>
          <a:noFill/>
        </p:spPr>
        <p:txBody>
          <a:bodyPr wrap="square" anchor="t" lIns="0" rIns="0" tIns="0" bIns="0">
            <a:spAutoFit/>
          </a:bodyPr>
          <a:lstStyle/>
          <a:p>
            <a:pPr algn="l">
              <a:lnSpc>
                <a:spcPct val="125000"/>
              </a:lnSpc>
            </a:pPr>
            <a:r>
              <a:rPr sz="1600" b="0" i="0">
                <a:solidFill>
                  <a:srgbClr val="C8D8D4"/>
                </a:solidFill>
                <a:latin typeface="Avenir Next"/>
              </a:rPr>
              <a:t>Nine folds told us what seven thousand couldn't, and one afternoon's dot blot told us what a week on a column hadn't.</a:t>
            </a:r>
          </a:p>
        </p:txBody>
      </p:sp>
      <p:sp>
        <p:nvSpPr>
          <p:cNvPr id="8" name="TextBox 7"/>
          <p:cNvSpPr txBox="1"/>
          <p:nvPr/>
        </p:nvSpPr>
        <p:spPr>
          <a:xfrm>
            <a:off x="713232" y="6291072"/>
            <a:ext cx="10765231" cy="274320"/>
          </a:xfrm>
          <a:prstGeom prst="rect">
            <a:avLst/>
          </a:prstGeom>
          <a:noFill/>
        </p:spPr>
        <p:txBody>
          <a:bodyPr wrap="square" anchor="t" lIns="0" rIns="0" tIns="0" bIns="0">
            <a:spAutoFit/>
          </a:bodyPr>
          <a:lstStyle/>
          <a:p>
            <a:pPr algn="l">
              <a:lnSpc>
                <a:spcPct val="125000"/>
              </a:lnSpc>
            </a:pPr>
            <a:r>
              <a:rPr sz="1200" b="0" i="0">
                <a:solidFill>
                  <a:srgbClr val="8FB3AE"/>
                </a:solidFill>
                <a:latin typeface="Avenir Next"/>
              </a:rPr>
              <a:t>iGEM Claremont-CA 2026 · Phagenomics · 2026.igem.wiki/claremont-ca</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